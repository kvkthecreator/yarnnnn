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0.xml" ContentType="application/vnd.openxmlformats-officedocument.presentationml.slide+xml"/>
</Types>
</file>

<file path=_rels/.rels><?xml version="1.0" encoding="UTF-8"?><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74" r:id="rId3"/>
    <p:sldId id="275" r:id="rId4"/>
    <p:sldId id="259" r:id="rId5"/>
    <p:sldId id="276" r:id="rId6"/>
    <p:sldId id="268" r:id="rId7"/>
    <p:sldId id="263" r:id="rId8"/>
    <p:sldId id="260" r:id="rId9"/>
    <p:sldId id="262" r:id="rId11"/>
    <p:sldId id="261" r:id="rId10"/>
    <p:sldId id="273" r:id="rId12"/>
    <p:sldId id="277" r:id="rId13"/>
    <p:sldId id="266" r:id="rId14"/>
    <p:sldId id="269" r:id="rId15"/>
    <p:sldId id="270" r:id="rId16"/>
    <p:sldId id="272" r:id="rId17"/>
    <p:sldId id="278" r:id="rId18"/>
    <p:sldId id="279" r:id="rId19"/>
    <p:sldId id="280" r:id="rId25"/>
    <p:sldId id="281" r:id="rId2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4075"/>
    <p:restoredTop sz="94610"/>
  </p:normalViewPr>
  <p:slideViewPr>
    <p:cSldViewPr snapToGrid="0" snapToObjects="1">
      <p:cViewPr varScale="1">
        <p:scale>
          <a:sx n="144" d="100"/>
          <a:sy n="144" d="100"/>
        </p:scale>
        <p:origin x="200" y="576"/>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 Id="rId25" Type="http://schemas.openxmlformats.org/officeDocument/2006/relationships/slide" Target="slides/slide19.xml"/><Relationship Id="rId26" Type="http://schemas.openxmlformats.org/officeDocument/2006/relationships/slide" Target="slides/slide20.xml"/></Relationships>
</file>

<file path=ppt/diagrams/colors1.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475EFB5-6545-5444-B3CA-6FCE5209FEC5}" type="doc">
      <dgm:prSet loTypeId="urn:microsoft.com/office/officeart/2005/8/layout/cycle2" loCatId="" qsTypeId="urn:microsoft.com/office/officeart/2005/8/quickstyle/simple1" qsCatId="simple" csTypeId="urn:microsoft.com/office/officeart/2005/8/colors/accent0_1" csCatId="mainScheme" phldr="1"/>
      <dgm:spPr/>
      <dgm:t xml:space="preserve">
        <a:bodyPr/>
        <a:lstStyle/>
        <a:p>
          <a:endParaRPr lang="en-US"/>
        </a:p>
      </dgm:t>
    </dgm:pt>
    <dgm:pt modelId="{94D0CE6A-B567-424E-ADD1-914866CB5499}">
      <dgm:prSet phldrT="[Text]"/>
      <dgm:spPr/>
      <dgm:t xml:space="preserve">
        <a:bodyPr/>
        <a:lstStyle/>
        <a:p>
          <a:r>
            <a:rPr lang="en-US" dirty="0"/>
            <a:t>Connect</a:t>
          </a:r>
        </a:p>
      </dgm:t>
    </dgm:pt>
    <dgm:pt modelId="{13793F0F-94FA-F443-BA21-6B58B9BFA631}" type="parTrans" cxnId="{9B9FED14-CA6A-3C4B-9E35-B5C478BC5B5A}">
      <dgm:prSet/>
      <dgm:spPr/>
      <dgm:t xml:space="preserve">
        <a:bodyPr/>
        <a:lstStyle/>
        <a:p>
          <a:endParaRPr lang="en-US"/>
        </a:p>
      </dgm:t>
    </dgm:pt>
    <dgm:pt modelId="{D76EC4C4-D4DC-EB44-B0A9-DBDBC65462FC}" type="sibTrans" cxnId="{9B9FED14-CA6A-3C4B-9E35-B5C478BC5B5A}">
      <dgm:prSet/>
      <dgm:spPr/>
      <dgm:t xml:space="preserve">
        <a:bodyPr/>
        <a:lstStyle/>
        <a:p>
          <a:endParaRPr lang="en-US"/>
        </a:p>
      </dgm:t>
    </dgm:pt>
    <dgm:pt modelId="{96B892F0-DB33-A241-AE5E-C18BC679580A}">
      <dgm:prSet phldrT="[Text]"/>
      <dgm:spPr/>
      <dgm:t xml:space="preserve">
        <a:bodyPr/>
        <a:lstStyle/>
        <a:p>
          <a:r>
            <a:rPr lang="en-US" dirty="0"/>
            <a:t>Accumulate</a:t>
          </a:r>
        </a:p>
      </dgm:t>
    </dgm:pt>
    <dgm:pt modelId="{069FFB75-0FE1-7143-A922-FE565E1EC6EB}" type="parTrans" cxnId="{23C26AD3-2DED-1544-9BE0-EF11D0437E70}">
      <dgm:prSet/>
      <dgm:spPr/>
      <dgm:t xml:space="preserve">
        <a:bodyPr/>
        <a:lstStyle/>
        <a:p>
          <a:endParaRPr lang="en-US"/>
        </a:p>
      </dgm:t>
    </dgm:pt>
    <dgm:pt modelId="{8D10FAA7-DADF-ED42-927B-A8C34D42C0E9}" type="sibTrans" cxnId="{23C26AD3-2DED-1544-9BE0-EF11D0437E70}">
      <dgm:prSet/>
      <dgm:spPr/>
      <dgm:t xml:space="preserve">
        <a:bodyPr/>
        <a:lstStyle/>
        <a:p>
          <a:endParaRPr lang="en-US"/>
        </a:p>
      </dgm:t>
    </dgm:pt>
    <dgm:pt modelId="{A7B3F113-682D-7E46-BBD5-013F0B177322}">
      <dgm:prSet phldrT="[Text]"/>
      <dgm:spPr/>
      <dgm:t xml:space="preserve">
        <a:bodyPr/>
        <a:lstStyle/>
        <a:p>
          <a:r>
            <a:rPr lang="en-US" dirty="0"/>
            <a:t>Automate</a:t>
          </a:r>
        </a:p>
      </dgm:t>
    </dgm:pt>
    <dgm:pt modelId="{A7AF438A-2AF8-8D43-A712-F82685C02488}" type="parTrans" cxnId="{FA1E47CF-8216-FC4D-B89C-A47D10451EF0}">
      <dgm:prSet/>
      <dgm:spPr/>
      <dgm:t xml:space="preserve">
        <a:bodyPr/>
        <a:lstStyle/>
        <a:p>
          <a:endParaRPr lang="en-US"/>
        </a:p>
      </dgm:t>
    </dgm:pt>
    <dgm:pt modelId="{A1B0231E-AAB7-2948-A805-41F69AA79600}" type="sibTrans" cxnId="{FA1E47CF-8216-FC4D-B89C-A47D10451EF0}">
      <dgm:prSet/>
      <dgm:spPr/>
      <dgm:t xml:space="preserve">
        <a:bodyPr/>
        <a:lstStyle/>
        <a:p>
          <a:endParaRPr lang="en-US"/>
        </a:p>
      </dgm:t>
    </dgm:pt>
    <dgm:pt modelId="{005126F7-5330-5C43-AD97-2D8EC3A3A550}">
      <dgm:prSet phldrT="[Text]"/>
      <dgm:spPr/>
      <dgm:t xml:space="preserve">
        <a:bodyPr/>
        <a:lstStyle/>
        <a:p>
          <a:r>
            <a:rPr lang="en-US" dirty="0"/>
            <a:t>Supervise</a:t>
          </a:r>
        </a:p>
      </dgm:t>
    </dgm:pt>
    <dgm:pt modelId="{0D8280E4-C59B-F241-AC3E-904DA2B48F33}" type="parTrans" cxnId="{9281CDA1-274A-384A-A131-1F091B50BAF6}">
      <dgm:prSet/>
      <dgm:spPr/>
      <dgm:t xml:space="preserve">
        <a:bodyPr/>
        <a:lstStyle/>
        <a:p>
          <a:endParaRPr lang="en-US"/>
        </a:p>
      </dgm:t>
    </dgm:pt>
    <dgm:pt modelId="{83AFFC27-0BB1-A047-BC04-733FBB9A13BA}" type="sibTrans" cxnId="{9281CDA1-274A-384A-A131-1F091B50BAF6}">
      <dgm:prSet/>
      <dgm:spPr/>
      <dgm:t xml:space="preserve">
        <a:bodyPr/>
        <a:lstStyle/>
        <a:p>
          <a:endParaRPr lang="en-US"/>
        </a:p>
      </dgm:t>
    </dgm:pt>
    <dgm:pt modelId="{5FB57BF2-12D3-D340-87C3-4164EE02C508}" type="pres">
      <dgm:prSet presAssocID="{3475EFB5-6545-5444-B3CA-6FCE5209FEC5}" presName="cycle" presStyleCnt="0">
        <dgm:presLayoutVars>
          <dgm:dir/>
          <dgm:resizeHandles val="exact"/>
        </dgm:presLayoutVars>
      </dgm:prSet>
      <dgm:spPr/>
    </dgm:pt>
    <dgm:pt modelId="{E989D1E9-A113-1E49-805B-2AE9B86A3086}" type="pres">
      <dgm:prSet presAssocID="{94D0CE6A-B567-424E-ADD1-914866CB5499}" presName="node" presStyleLbl="node1" presStyleIdx="0" presStyleCnt="4">
        <dgm:presLayoutVars>
          <dgm:bulletEnabled val="1"/>
        </dgm:presLayoutVars>
      </dgm:prSet>
      <dgm:spPr/>
    </dgm:pt>
    <dgm:pt modelId="{4BD94FCC-32F1-F44B-938D-BF718766CFD3}" type="pres">
      <dgm:prSet presAssocID="{D76EC4C4-D4DC-EB44-B0A9-DBDBC65462FC}" presName="sibTrans" presStyleLbl="sibTrans2D1" presStyleIdx="0" presStyleCnt="4"/>
      <dgm:spPr/>
    </dgm:pt>
    <dgm:pt modelId="{8D29A70D-5763-2C4B-BF55-91335155A6D1}" type="pres">
      <dgm:prSet presAssocID="{D76EC4C4-D4DC-EB44-B0A9-DBDBC65462FC}" presName="connectorText" presStyleLbl="sibTrans2D1" presStyleIdx="0" presStyleCnt="4"/>
      <dgm:spPr/>
    </dgm:pt>
    <dgm:pt modelId="{D37B5B34-DFEE-2744-AAFB-C23F33C31915}" type="pres">
      <dgm:prSet presAssocID="{96B892F0-DB33-A241-AE5E-C18BC679580A}" presName="node" presStyleLbl="node1" presStyleIdx="1" presStyleCnt="4">
        <dgm:presLayoutVars>
          <dgm:bulletEnabled val="1"/>
        </dgm:presLayoutVars>
      </dgm:prSet>
      <dgm:spPr/>
    </dgm:pt>
    <dgm:pt modelId="{577E7328-CC59-3940-AE32-906EA0952199}" type="pres">
      <dgm:prSet presAssocID="{8D10FAA7-DADF-ED42-927B-A8C34D42C0E9}" presName="sibTrans" presStyleLbl="sibTrans2D1" presStyleIdx="1" presStyleCnt="4"/>
      <dgm:spPr/>
    </dgm:pt>
    <dgm:pt modelId="{E311AC36-C552-A541-9A52-F5F9625DF5F5}" type="pres">
      <dgm:prSet presAssocID="{8D10FAA7-DADF-ED42-927B-A8C34D42C0E9}" presName="connectorText" presStyleLbl="sibTrans2D1" presStyleIdx="1" presStyleCnt="4"/>
      <dgm:spPr/>
    </dgm:pt>
    <dgm:pt modelId="{1B14CD14-4225-874C-82A1-719AF5DC0F23}" type="pres">
      <dgm:prSet presAssocID="{A7B3F113-682D-7E46-BBD5-013F0B177322}" presName="node" presStyleLbl="node1" presStyleIdx="2" presStyleCnt="4">
        <dgm:presLayoutVars>
          <dgm:bulletEnabled val="1"/>
        </dgm:presLayoutVars>
      </dgm:prSet>
      <dgm:spPr/>
    </dgm:pt>
    <dgm:pt modelId="{A8DFEA55-995D-8446-8B1F-EE15CCDE9966}" type="pres">
      <dgm:prSet presAssocID="{A1B0231E-AAB7-2948-A805-41F69AA79600}" presName="sibTrans" presStyleLbl="sibTrans2D1" presStyleIdx="2" presStyleCnt="4"/>
      <dgm:spPr/>
    </dgm:pt>
    <dgm:pt modelId="{0CDEEAAD-0552-BF43-9384-7B5B7930ED2A}" type="pres">
      <dgm:prSet presAssocID="{A1B0231E-AAB7-2948-A805-41F69AA79600}" presName="connectorText" presStyleLbl="sibTrans2D1" presStyleIdx="2" presStyleCnt="4"/>
      <dgm:spPr/>
    </dgm:pt>
    <dgm:pt modelId="{DD3D9FC4-0567-A144-9E9B-A9E3A9FFA37E}" type="pres">
      <dgm:prSet presAssocID="{005126F7-5330-5C43-AD97-2D8EC3A3A550}" presName="node" presStyleLbl="node1" presStyleIdx="3" presStyleCnt="4">
        <dgm:presLayoutVars>
          <dgm:bulletEnabled val="1"/>
        </dgm:presLayoutVars>
      </dgm:prSet>
      <dgm:spPr/>
    </dgm:pt>
    <dgm:pt modelId="{62476013-F808-AA42-93B8-286D828C3727}" type="pres">
      <dgm:prSet presAssocID="{83AFFC27-0BB1-A047-BC04-733FBB9A13BA}" presName="sibTrans" presStyleLbl="sibTrans2D1" presStyleIdx="3" presStyleCnt="4"/>
      <dgm:spPr/>
    </dgm:pt>
    <dgm:pt modelId="{929B6584-4511-1743-A2EE-20975798DB64}" type="pres">
      <dgm:prSet presAssocID="{83AFFC27-0BB1-A047-BC04-733FBB9A13BA}" presName="connectorText" presStyleLbl="sibTrans2D1" presStyleIdx="3" presStyleCnt="4"/>
      <dgm:spPr/>
    </dgm:pt>
  </dgm:ptLst>
  <dgm:cxnLst>
    <dgm:cxn modelId="{07EBFB13-0D7C-A249-A07C-BEF3836959C8}" type="presOf" srcId="{96B892F0-DB33-A241-AE5E-C18BC679580A}" destId="{D37B5B34-DFEE-2744-AAFB-C23F33C31915}" srcOrd="0" destOrd="0" presId="urn:microsoft.com/office/officeart/2005/8/layout/cycle2"/>
    <dgm:cxn modelId="{9B9FED14-CA6A-3C4B-9E35-B5C478BC5B5A}" srcId="{3475EFB5-6545-5444-B3CA-6FCE5209FEC5}" destId="{94D0CE6A-B567-424E-ADD1-914866CB5499}" srcOrd="0" destOrd="0" parTransId="{13793F0F-94FA-F443-BA21-6B58B9BFA631}" sibTransId="{D76EC4C4-D4DC-EB44-B0A9-DBDBC65462FC}"/>
    <dgm:cxn modelId="{DA850520-A58B-D646-BF7D-9A597F39E6A3}" type="presOf" srcId="{005126F7-5330-5C43-AD97-2D8EC3A3A550}" destId="{DD3D9FC4-0567-A144-9E9B-A9E3A9FFA37E}" srcOrd="0" destOrd="0" presId="urn:microsoft.com/office/officeart/2005/8/layout/cycle2"/>
    <dgm:cxn modelId="{57F3433C-4601-0947-B3C8-4A3EB6745827}" type="presOf" srcId="{A1B0231E-AAB7-2948-A805-41F69AA79600}" destId="{A8DFEA55-995D-8446-8B1F-EE15CCDE9966}" srcOrd="0" destOrd="0" presId="urn:microsoft.com/office/officeart/2005/8/layout/cycle2"/>
    <dgm:cxn modelId="{460E4A58-1D4B-FE44-9755-9D7C5B373617}" type="presOf" srcId="{A7B3F113-682D-7E46-BBD5-013F0B177322}" destId="{1B14CD14-4225-874C-82A1-719AF5DC0F23}" srcOrd="0" destOrd="0" presId="urn:microsoft.com/office/officeart/2005/8/layout/cycle2"/>
    <dgm:cxn modelId="{4BC4065B-A5E8-9943-9649-ACC4C835FCD5}" type="presOf" srcId="{8D10FAA7-DADF-ED42-927B-A8C34D42C0E9}" destId="{577E7328-CC59-3940-AE32-906EA0952199}" srcOrd="0" destOrd="0" presId="urn:microsoft.com/office/officeart/2005/8/layout/cycle2"/>
    <dgm:cxn modelId="{60656065-8901-0B44-906B-34F309502D0D}" type="presOf" srcId="{D76EC4C4-D4DC-EB44-B0A9-DBDBC65462FC}" destId="{4BD94FCC-32F1-F44B-938D-BF718766CFD3}" srcOrd="0" destOrd="0" presId="urn:microsoft.com/office/officeart/2005/8/layout/cycle2"/>
    <dgm:cxn modelId="{86D1F26B-FE69-1342-95C4-0F6F99B9B6A3}" type="presOf" srcId="{8D10FAA7-DADF-ED42-927B-A8C34D42C0E9}" destId="{E311AC36-C552-A541-9A52-F5F9625DF5F5}" srcOrd="1" destOrd="0" presId="urn:microsoft.com/office/officeart/2005/8/layout/cycle2"/>
    <dgm:cxn modelId="{17009081-D74B-DB4D-807E-7E496ECE5CD8}" type="presOf" srcId="{94D0CE6A-B567-424E-ADD1-914866CB5499}" destId="{E989D1E9-A113-1E49-805B-2AE9B86A3086}" srcOrd="0" destOrd="0" presId="urn:microsoft.com/office/officeart/2005/8/layout/cycle2"/>
    <dgm:cxn modelId="{9281CDA1-274A-384A-A131-1F091B50BAF6}" srcId="{3475EFB5-6545-5444-B3CA-6FCE5209FEC5}" destId="{005126F7-5330-5C43-AD97-2D8EC3A3A550}" srcOrd="3" destOrd="0" parTransId="{0D8280E4-C59B-F241-AC3E-904DA2B48F33}" sibTransId="{83AFFC27-0BB1-A047-BC04-733FBB9A13BA}"/>
    <dgm:cxn modelId="{0A35CBBD-1D2E-1644-BA84-C3209BD4FEB9}" type="presOf" srcId="{3475EFB5-6545-5444-B3CA-6FCE5209FEC5}" destId="{5FB57BF2-12D3-D340-87C3-4164EE02C508}" srcOrd="0" destOrd="0" presId="urn:microsoft.com/office/officeart/2005/8/layout/cycle2"/>
    <dgm:cxn modelId="{75704BBE-E408-1E4F-A4C7-5D6B2D7B1C7A}" type="presOf" srcId="{83AFFC27-0BB1-A047-BC04-733FBB9A13BA}" destId="{929B6584-4511-1743-A2EE-20975798DB64}" srcOrd="1" destOrd="0" presId="urn:microsoft.com/office/officeart/2005/8/layout/cycle2"/>
    <dgm:cxn modelId="{37D789CB-607F-DF4F-939A-3B789EC71BF3}" type="presOf" srcId="{A1B0231E-AAB7-2948-A805-41F69AA79600}" destId="{0CDEEAAD-0552-BF43-9384-7B5B7930ED2A}" srcOrd="1" destOrd="0" presId="urn:microsoft.com/office/officeart/2005/8/layout/cycle2"/>
    <dgm:cxn modelId="{FA1E47CF-8216-FC4D-B89C-A47D10451EF0}" srcId="{3475EFB5-6545-5444-B3CA-6FCE5209FEC5}" destId="{A7B3F113-682D-7E46-BBD5-013F0B177322}" srcOrd="2" destOrd="0" parTransId="{A7AF438A-2AF8-8D43-A712-F82685C02488}" sibTransId="{A1B0231E-AAB7-2948-A805-41F69AA79600}"/>
    <dgm:cxn modelId="{39FE60D2-23BD-764E-BB8E-835E4676F4FF}" type="presOf" srcId="{D76EC4C4-D4DC-EB44-B0A9-DBDBC65462FC}" destId="{8D29A70D-5763-2C4B-BF55-91335155A6D1}" srcOrd="1" destOrd="0" presId="urn:microsoft.com/office/officeart/2005/8/layout/cycle2"/>
    <dgm:cxn modelId="{23C26AD3-2DED-1544-9BE0-EF11D0437E70}" srcId="{3475EFB5-6545-5444-B3CA-6FCE5209FEC5}" destId="{96B892F0-DB33-A241-AE5E-C18BC679580A}" srcOrd="1" destOrd="0" parTransId="{069FFB75-0FE1-7143-A922-FE565E1EC6EB}" sibTransId="{8D10FAA7-DADF-ED42-927B-A8C34D42C0E9}"/>
    <dgm:cxn modelId="{B1E000DB-2423-8A4C-AB3D-F798749F1116}" type="presOf" srcId="{83AFFC27-0BB1-A047-BC04-733FBB9A13BA}" destId="{62476013-F808-AA42-93B8-286D828C3727}" srcOrd="0" destOrd="0" presId="urn:microsoft.com/office/officeart/2005/8/layout/cycle2"/>
    <dgm:cxn modelId="{C956A7DC-C8A7-7C42-BCA0-28BDD227FF07}" type="presParOf" srcId="{5FB57BF2-12D3-D340-87C3-4164EE02C508}" destId="{E989D1E9-A113-1E49-805B-2AE9B86A3086}" srcOrd="0" destOrd="0" presId="urn:microsoft.com/office/officeart/2005/8/layout/cycle2"/>
    <dgm:cxn modelId="{15C593A6-0A43-F241-83A9-ECC50D5C7E6C}" type="presParOf" srcId="{5FB57BF2-12D3-D340-87C3-4164EE02C508}" destId="{4BD94FCC-32F1-F44B-938D-BF718766CFD3}" srcOrd="1" destOrd="0" presId="urn:microsoft.com/office/officeart/2005/8/layout/cycle2"/>
    <dgm:cxn modelId="{F3D28F7C-649D-2341-81C6-818767BDA9C5}" type="presParOf" srcId="{4BD94FCC-32F1-F44B-938D-BF718766CFD3}" destId="{8D29A70D-5763-2C4B-BF55-91335155A6D1}" srcOrd="0" destOrd="0" presId="urn:microsoft.com/office/officeart/2005/8/layout/cycle2"/>
    <dgm:cxn modelId="{E2B197D0-D59C-8A40-AA72-9D1D06A1C26D}" type="presParOf" srcId="{5FB57BF2-12D3-D340-87C3-4164EE02C508}" destId="{D37B5B34-DFEE-2744-AAFB-C23F33C31915}" srcOrd="2" destOrd="0" presId="urn:microsoft.com/office/officeart/2005/8/layout/cycle2"/>
    <dgm:cxn modelId="{932E81C7-2253-B749-BF0B-A97F66AE368B}" type="presParOf" srcId="{5FB57BF2-12D3-D340-87C3-4164EE02C508}" destId="{577E7328-CC59-3940-AE32-906EA0952199}" srcOrd="3" destOrd="0" presId="urn:microsoft.com/office/officeart/2005/8/layout/cycle2"/>
    <dgm:cxn modelId="{BEE8636D-5663-9045-9616-8986AE66F60C}" type="presParOf" srcId="{577E7328-CC59-3940-AE32-906EA0952199}" destId="{E311AC36-C552-A541-9A52-F5F9625DF5F5}" srcOrd="0" destOrd="0" presId="urn:microsoft.com/office/officeart/2005/8/layout/cycle2"/>
    <dgm:cxn modelId="{AE462C0D-58CD-1444-A093-53F90BE12EA9}" type="presParOf" srcId="{5FB57BF2-12D3-D340-87C3-4164EE02C508}" destId="{1B14CD14-4225-874C-82A1-719AF5DC0F23}" srcOrd="4" destOrd="0" presId="urn:microsoft.com/office/officeart/2005/8/layout/cycle2"/>
    <dgm:cxn modelId="{03F1F590-7870-AD4B-BE40-C0078BEB7DBF}" type="presParOf" srcId="{5FB57BF2-12D3-D340-87C3-4164EE02C508}" destId="{A8DFEA55-995D-8446-8B1F-EE15CCDE9966}" srcOrd="5" destOrd="0" presId="urn:microsoft.com/office/officeart/2005/8/layout/cycle2"/>
    <dgm:cxn modelId="{9D4C7250-1A72-F744-930C-88045812F553}" type="presParOf" srcId="{A8DFEA55-995D-8446-8B1F-EE15CCDE9966}" destId="{0CDEEAAD-0552-BF43-9384-7B5B7930ED2A}" srcOrd="0" destOrd="0" presId="urn:microsoft.com/office/officeart/2005/8/layout/cycle2"/>
    <dgm:cxn modelId="{11335C0D-903C-B14C-8530-6ACBC714FDE9}" type="presParOf" srcId="{5FB57BF2-12D3-D340-87C3-4164EE02C508}" destId="{DD3D9FC4-0567-A144-9E9B-A9E3A9FFA37E}" srcOrd="6" destOrd="0" presId="urn:microsoft.com/office/officeart/2005/8/layout/cycle2"/>
    <dgm:cxn modelId="{98A0B0C1-0FC8-0346-9E3B-54F53BF84576}" type="presParOf" srcId="{5FB57BF2-12D3-D340-87C3-4164EE02C508}" destId="{62476013-F808-AA42-93B8-286D828C3727}" srcOrd="7" destOrd="0" presId="urn:microsoft.com/office/officeart/2005/8/layout/cycle2"/>
    <dgm:cxn modelId="{99872568-01EC-C542-935E-D53F6D37BC31}" type="presParOf" srcId="{62476013-F808-AA42-93B8-286D828C3727}" destId="{929B6584-4511-1743-A2EE-20975798DB64}" srcOrd="0" destOrd="0" presId="urn:microsoft.com/office/officeart/2005/8/layout/cycle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89D1E9-A113-1E49-805B-2AE9B86A3086}">
      <dsp:nvSpPr>
        <dsp:cNvPr id="0" name=""/>
        <dsp:cNvSpPr/>
      </dsp:nvSpPr>
      <dsp:spPr>
        <a:xfrm>
          <a:off x="1207785" y="385"/>
          <a:ext cx="920295" cy="920295"/>
        </a:xfrm>
        <a:prstGeom prst="ellipse">
          <a:avLst/>
        </a:prstGeom>
        <a:solidFill>
          <a:schemeClr val="lt1">
            <a:hueOff val="0"/>
            <a:satOff val="0"/>
            <a:lumOff val="0"/>
            <a:alphaOff val="0"/>
          </a:schemeClr>
        </a:solidFill>
        <a:ln w="1270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US" sz="1000" kern="1200" dirty="0"/>
            <a:t>Connect</a:t>
          </a:r>
        </a:p>
      </dsp:txBody>
      <dsp:txXfrm>
        <a:off x="1342559" y="135159"/>
        <a:ext cx="650747" cy="650747"/>
      </dsp:txXfrm>
    </dsp:sp>
    <dsp:sp modelId="{4BD94FCC-32F1-F44B-938D-BF718766CFD3}">
      <dsp:nvSpPr>
        <dsp:cNvPr id="0" name=""/>
        <dsp:cNvSpPr/>
      </dsp:nvSpPr>
      <dsp:spPr>
        <a:xfrm rot="2700000">
          <a:off x="2029230" y="788662"/>
          <a:ext cx="244265" cy="310599"/>
        </a:xfrm>
        <a:prstGeom prst="rightArrow">
          <a:avLst>
            <a:gd name="adj1" fmla="val 60000"/>
            <a:gd name="adj2" fmla="val 50000"/>
          </a:avLst>
        </a:prstGeom>
        <a:solidFill>
          <a:schemeClr val="dk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a:off x="2039961" y="824874"/>
        <a:ext cx="170986" cy="186359"/>
      </dsp:txXfrm>
    </dsp:sp>
    <dsp:sp modelId="{D37B5B34-DFEE-2744-AAFB-C23F33C31915}">
      <dsp:nvSpPr>
        <dsp:cNvPr id="0" name=""/>
        <dsp:cNvSpPr/>
      </dsp:nvSpPr>
      <dsp:spPr>
        <a:xfrm>
          <a:off x="2184422" y="977021"/>
          <a:ext cx="920295" cy="920295"/>
        </a:xfrm>
        <a:prstGeom prst="ellipse">
          <a:avLst/>
        </a:prstGeom>
        <a:solidFill>
          <a:schemeClr val="lt1">
            <a:hueOff val="0"/>
            <a:satOff val="0"/>
            <a:lumOff val="0"/>
            <a:alphaOff val="0"/>
          </a:schemeClr>
        </a:solidFill>
        <a:ln w="1270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US" sz="1000" kern="1200" dirty="0"/>
            <a:t>Accumulate</a:t>
          </a:r>
        </a:p>
      </dsp:txBody>
      <dsp:txXfrm>
        <a:off x="2319196" y="1111795"/>
        <a:ext cx="650747" cy="650747"/>
      </dsp:txXfrm>
    </dsp:sp>
    <dsp:sp modelId="{577E7328-CC59-3940-AE32-906EA0952199}">
      <dsp:nvSpPr>
        <dsp:cNvPr id="0" name=""/>
        <dsp:cNvSpPr/>
      </dsp:nvSpPr>
      <dsp:spPr>
        <a:xfrm rot="8100000">
          <a:off x="2039007" y="1765299"/>
          <a:ext cx="244265" cy="310599"/>
        </a:xfrm>
        <a:prstGeom prst="rightArrow">
          <a:avLst>
            <a:gd name="adj1" fmla="val 60000"/>
            <a:gd name="adj2" fmla="val 50000"/>
          </a:avLst>
        </a:prstGeom>
        <a:solidFill>
          <a:schemeClr val="dk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rot="10800000">
        <a:off x="2101555" y="1801511"/>
        <a:ext cx="170986" cy="186359"/>
      </dsp:txXfrm>
    </dsp:sp>
    <dsp:sp modelId="{1B14CD14-4225-874C-82A1-719AF5DC0F23}">
      <dsp:nvSpPr>
        <dsp:cNvPr id="0" name=""/>
        <dsp:cNvSpPr/>
      </dsp:nvSpPr>
      <dsp:spPr>
        <a:xfrm>
          <a:off x="1207785" y="1953658"/>
          <a:ext cx="920295" cy="920295"/>
        </a:xfrm>
        <a:prstGeom prst="ellipse">
          <a:avLst/>
        </a:prstGeom>
        <a:solidFill>
          <a:schemeClr val="lt1">
            <a:hueOff val="0"/>
            <a:satOff val="0"/>
            <a:lumOff val="0"/>
            <a:alphaOff val="0"/>
          </a:schemeClr>
        </a:solidFill>
        <a:ln w="1270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US" sz="1000" kern="1200" dirty="0"/>
            <a:t>Automate</a:t>
          </a:r>
        </a:p>
      </dsp:txBody>
      <dsp:txXfrm>
        <a:off x="1342559" y="2088432"/>
        <a:ext cx="650747" cy="650747"/>
      </dsp:txXfrm>
    </dsp:sp>
    <dsp:sp modelId="{A8DFEA55-995D-8446-8B1F-EE15CCDE9966}">
      <dsp:nvSpPr>
        <dsp:cNvPr id="0" name=""/>
        <dsp:cNvSpPr/>
      </dsp:nvSpPr>
      <dsp:spPr>
        <a:xfrm rot="13500000">
          <a:off x="1062370" y="1775076"/>
          <a:ext cx="244265" cy="310599"/>
        </a:xfrm>
        <a:prstGeom prst="rightArrow">
          <a:avLst>
            <a:gd name="adj1" fmla="val 60000"/>
            <a:gd name="adj2" fmla="val 50000"/>
          </a:avLst>
        </a:prstGeom>
        <a:solidFill>
          <a:schemeClr val="dk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rot="10800000">
        <a:off x="1124918" y="1863104"/>
        <a:ext cx="170986" cy="186359"/>
      </dsp:txXfrm>
    </dsp:sp>
    <dsp:sp modelId="{DD3D9FC4-0567-A144-9E9B-A9E3A9FFA37E}">
      <dsp:nvSpPr>
        <dsp:cNvPr id="0" name=""/>
        <dsp:cNvSpPr/>
      </dsp:nvSpPr>
      <dsp:spPr>
        <a:xfrm>
          <a:off x="231149" y="977021"/>
          <a:ext cx="920295" cy="920295"/>
        </a:xfrm>
        <a:prstGeom prst="ellipse">
          <a:avLst/>
        </a:prstGeom>
        <a:solidFill>
          <a:schemeClr val="lt1">
            <a:hueOff val="0"/>
            <a:satOff val="0"/>
            <a:lumOff val="0"/>
            <a:alphaOff val="0"/>
          </a:schemeClr>
        </a:solidFill>
        <a:ln w="1270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US" sz="1000" kern="1200" dirty="0"/>
            <a:t>Supervise</a:t>
          </a:r>
        </a:p>
      </dsp:txBody>
      <dsp:txXfrm>
        <a:off x="365923" y="1111795"/>
        <a:ext cx="650747" cy="650747"/>
      </dsp:txXfrm>
    </dsp:sp>
    <dsp:sp modelId="{62476013-F808-AA42-93B8-286D828C3727}">
      <dsp:nvSpPr>
        <dsp:cNvPr id="0" name=""/>
        <dsp:cNvSpPr/>
      </dsp:nvSpPr>
      <dsp:spPr>
        <a:xfrm rot="18900000">
          <a:off x="1052594" y="798439"/>
          <a:ext cx="244265" cy="310599"/>
        </a:xfrm>
        <a:prstGeom prst="rightArrow">
          <a:avLst>
            <a:gd name="adj1" fmla="val 60000"/>
            <a:gd name="adj2" fmla="val 50000"/>
          </a:avLst>
        </a:prstGeom>
        <a:solidFill>
          <a:schemeClr val="dk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a:off x="1063325" y="886467"/>
        <a:ext cx="170986" cy="186359"/>
      </dsp:txXfrm>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286069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K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K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K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K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K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K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K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K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K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K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K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K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K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34390852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K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K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0.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8.xml.rels><?xml version="1.0" encoding="UTF-8"?><Relationships xmlns="http://schemas.openxmlformats.org/package/2006/relationships"><Relationship Id="rId3" Type="http://schemas.openxmlformats.org/officeDocument/2006/relationships/hyperlink" Target="https://www.linkedin.com/in/kimseulki0727/"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685800" y="894334"/>
            <a:ext cx="7772400" cy="1005840"/>
          </a:xfrm>
          <a:prstGeom prst="rect">
            <a:avLst/>
          </a:prstGeom>
          <a:noFill/>
          <a:ln/>
        </p:spPr>
        <p:txBody>
          <a:bodyPr wrap="square" lIns="0" tIns="0" rIns="0" bIns="0" rtlCol="0" anchor="ctr"/>
          <a:lstStyle/>
          <a:p>
            <a:pPr marL="0" indent="0">
              <a:buNone/>
            </a:pPr>
            <a:r>
              <a:rPr lang="en-US" sz="4800" b="1" dirty="0">
                <a:solidFill>
                  <a:srgbClr val="111111"/>
                </a:solidFill>
                <a:latin typeface="Arial" pitchFamily="34" charset="0"/>
                <a:ea typeface="Arial" pitchFamily="34" charset="-122"/>
                <a:cs typeface="Arial" pitchFamily="34" charset="-120"/>
              </a:rPr>
              <a:t>yarnnn</a:t>
            </a:r>
            <a:endParaRPr lang="en-US" sz="4800" dirty="0"/>
          </a:p>
        </p:txBody>
      </p:sp>
      <p:sp>
        <p:nvSpPr>
          <p:cNvPr id="4" name="Text 1"/>
          <p:cNvSpPr/>
          <p:nvPr/>
        </p:nvSpPr>
        <p:spPr>
          <a:xfrm>
            <a:off x="685800" y="2209673"/>
            <a:ext cx="7772400" cy="411480"/>
          </a:xfrm>
          <a:prstGeom prst="rect">
            <a:avLst/>
          </a:prstGeom>
          <a:noFill/>
          <a:ln/>
        </p:spPr>
        <p:txBody>
          <a:bodyPr wrap="square" lIns="0" tIns="0" rIns="0" bIns="0" rtlCol="0" anchor="ctr"/>
          <a:lstStyle/>
          <a:p>
            <a:pPr marL="0" indent="0">
              <a:buNone/>
            </a:pPr>
            <a:r>
              <a:rPr lang="en-US" sz="1800" dirty="0">
                <a:solidFill>
                  <a:srgbClr val="E8985E"/>
                </a:solidFill>
                <a:latin typeface="Arial" pitchFamily="34" charset="0"/>
                <a:ea typeface="Arial" pitchFamily="34" charset="-122"/>
                <a:cs typeface="Arial" pitchFamily="34" charset="-120"/>
              </a:rPr>
              <a:t>Autonomous agents that know your work.</a:t>
            </a:r>
            <a:endParaRPr lang="en-US" sz="1800" dirty="0"/>
          </a:p>
        </p:txBody>
      </p:sp>
      <p:sp>
        <p:nvSpPr>
          <p:cNvPr id="5" name="Text 2"/>
          <p:cNvSpPr/>
          <p:nvPr/>
        </p:nvSpPr>
        <p:spPr>
          <a:xfrm>
            <a:off x="685800" y="2666873"/>
            <a:ext cx="7772400" cy="320040"/>
          </a:xfrm>
          <a:prstGeom prst="rect">
            <a:avLst/>
          </a:prstGeom>
          <a:noFill/>
          <a:ln/>
        </p:spPr>
        <p:txBody>
          <a:bodyPr wrap="square" lIns="0" tIns="0" rIns="0" bIns="0" rtlCol="0" anchor="ctr"/>
          <a:lstStyle/>
          <a:p>
            <a:pPr marL="0" indent="0">
              <a:buNone/>
            </a:pPr>
            <a:r>
              <a:rPr lang="en-US" sz="1400" dirty="0">
                <a:solidFill>
                  <a:srgbClr val="999999"/>
                </a:solidFill>
                <a:latin typeface="Arial" pitchFamily="34" charset="0"/>
                <a:ea typeface="Arial" pitchFamily="34" charset="-122"/>
                <a:cs typeface="Arial" pitchFamily="34" charset="-120"/>
              </a:rPr>
              <a:t>They connect to your platforms. They accumulate knowledge. They work while you don't.</a:t>
            </a:r>
            <a:endParaRPr lang="en-US" sz="1400" dirty="0"/>
          </a:p>
        </p:txBody>
      </p:sp>
      <p:sp>
        <p:nvSpPr>
          <p:cNvPr id="6" name="Shape 3"/>
          <p:cNvSpPr/>
          <p:nvPr/>
        </p:nvSpPr>
        <p:spPr>
          <a:xfrm>
            <a:off x="685800" y="1909318"/>
            <a:ext cx="7200000" cy="32004"/>
          </a:xfrm>
          <a:prstGeom prst="rect">
            <a:avLst/>
          </a:prstGeom>
          <a:solidFill>
            <a:schemeClr val="tx1"/>
          </a:solidFill>
          <a:ln/>
        </p:spPr>
        <p:txBody>
          <a:bodyPr/>
          <a:lstStyle/>
          <a:p>
            <a:endParaRPr lang="en-KR"/>
          </a:p>
        </p:txBody>
      </p:sp>
      <p:sp>
        <p:nvSpPr>
          <p:cNvPr id="7" name="Text 4"/>
          <p:cNvSpPr/>
          <p:nvPr/>
        </p:nvSpPr>
        <p:spPr>
          <a:xfrm>
            <a:off x="685800" y="4023360"/>
            <a:ext cx="3657600" cy="274320"/>
          </a:xfrm>
          <a:prstGeom prst="rect">
            <a:avLst/>
          </a:prstGeom>
          <a:noFill/>
          <a:ln/>
        </p:spPr>
        <p:txBody>
          <a:bodyPr wrap="square" lIns="0" tIns="0" rIns="0" bIns="0" rtlCol="0" anchor="ctr"/>
          <a:lstStyle/>
          <a:p>
            <a:pPr marL="0" indent="0">
              <a:buNone/>
            </a:pPr>
            <a:r>
              <a:rPr lang="en-US" sz="1300" dirty="0">
                <a:solidFill>
                  <a:srgbClr val="999999"/>
                </a:solidFill>
                <a:latin typeface="Arial" pitchFamily="34" charset="0"/>
                <a:ea typeface="Arial" pitchFamily="34" charset="-122"/>
                <a:cs typeface="Arial" pitchFamily="34" charset="-120"/>
              </a:rPr>
              <a:t>(Pre) Seed Round 2026</a:t>
            </a:r>
            <a:endParaRPr lang="en-US" sz="1300" dirty="0"/>
          </a:p>
        </p:txBody>
      </p:sp>
      <p:sp>
        <p:nvSpPr>
          <p:cNvPr id="8" name="Text 5"/>
          <p:cNvSpPr/>
          <p:nvPr/>
        </p:nvSpPr>
        <p:spPr>
          <a:xfrm>
            <a:off x="685800" y="4343400"/>
            <a:ext cx="4572000" cy="274320"/>
          </a:xfrm>
          <a:prstGeom prst="rect">
            <a:avLst/>
          </a:prstGeom>
          <a:noFill/>
          <a:ln/>
        </p:spPr>
        <p:txBody>
          <a:bodyPr wrap="square" lIns="0" tIns="0" rIns="0" bIns="0" rtlCol="0" anchor="ctr"/>
          <a:lstStyle/>
          <a:p>
            <a:pPr marL="0" indent="0">
              <a:buNone/>
            </a:pPr>
            <a:r>
              <a:rPr lang="en-US" sz="1100" dirty="0">
                <a:solidFill>
                  <a:srgbClr val="999999"/>
                </a:solidFill>
                <a:latin typeface="Arial" pitchFamily="34" charset="0"/>
                <a:ea typeface="Arial" pitchFamily="34" charset="-122"/>
                <a:cs typeface="Arial" pitchFamily="34" charset="-120"/>
              </a:rPr>
              <a:t>Kevin Kim  ·  kvkthecreator@gmail.com</a:t>
            </a:r>
            <a:endParaRPr lang="en-US" sz="1100" dirty="0"/>
          </a:p>
        </p:txBody>
      </p:sp>
      <p:pic>
        <p:nvPicPr>
          <p:cNvPr id="9" name="Picture 8" descr="A ball of yarn with a black background  AI-generated content may be incorrect.">
            <a:extLst>
              <a:ext uri="{FF2B5EF4-FFF2-40B4-BE49-F238E27FC236}">
                <a16:creationId xmlns:a16="http://schemas.microsoft.com/office/drawing/2014/main" id="{D668CF69-8FDA-44E7-4CDA-75335C983B27}"/>
              </a:ext>
            </a:extLst>
          </p:cNvPr>
          <p:cNvPicPr>
            <a:picLocks noChangeAspect="1"/>
          </p:cNvPicPr>
          <p:nvPr/>
        </p:nvPicPr>
        <p:blipFill>
          <a:blip r:embed="rId3"/>
          <a:stretch>
            <a:fillRect/>
          </a:stretch>
        </p:blipFill>
        <p:spPr>
          <a:xfrm>
            <a:off x="2738833" y="845820"/>
            <a:ext cx="1168654" cy="116865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85800" y="656897"/>
            <a:ext cx="7772400" cy="548640"/>
          </a:xfrm>
          <a:prstGeom prst="rect">
            <a:avLst/>
          </a:prstGeom>
          <a:noFill/>
          <a:ln/>
        </p:spPr>
        <p:txBody>
          <a:bodyPr wrap="square" lIns="0" tIns="0" rIns="0" bIns="0" rtlCol="0" anchor="ctr"/>
          <a:lstStyle/>
          <a:p>
            <a:pPr marL="0" indent="0">
              <a:buNone/>
            </a:pPr>
            <a:r>
              <a:rPr lang="en-US" sz="2400" b="1" dirty="0">
                <a:solidFill>
                  <a:srgbClr val="111111"/>
                </a:solidFill>
                <a:latin typeface="Arial" pitchFamily="34" charset="0"/>
                <a:ea typeface="Arial" pitchFamily="34" charset="-122"/>
                <a:cs typeface="Arial" pitchFamily="34" charset="-120"/>
              </a:rPr>
              <a:t>It looks like the big players will own everything.</a:t>
            </a:r>
            <a:endParaRPr lang="en-US" sz="2400" dirty="0"/>
          </a:p>
        </p:txBody>
      </p:sp>
      <p:sp>
        <p:nvSpPr>
          <p:cNvPr id="3" name="Text 1"/>
          <p:cNvSpPr/>
          <p:nvPr/>
        </p:nvSpPr>
        <p:spPr>
          <a:xfrm>
            <a:off x="685800" y="1342697"/>
            <a:ext cx="7772400" cy="897583"/>
          </a:xfrm>
          <a:prstGeom prst="rect">
            <a:avLst/>
          </a:prstGeom>
          <a:noFill/>
          <a:ln/>
        </p:spPr>
        <p:txBody>
          <a:bodyPr wrap="square" lIns="0" tIns="0" rIns="0" bIns="0" rtlCol="0" anchor="ctr"/>
          <a:lstStyle/>
          <a:p>
            <a:pPr marL="0" indent="0">
              <a:buNone/>
            </a:pPr>
            <a:r>
              <a:rPr lang="en-US" sz="1600" dirty="0">
                <a:solidFill>
                  <a:srgbClr val="999999"/>
                </a:solidFill>
                <a:latin typeface="Arial" pitchFamily="34" charset="0"/>
                <a:ea typeface="Arial" pitchFamily="34" charset="-122"/>
                <a:cs typeface="Arial" pitchFamily="34" charset="-120"/>
              </a:rPr>
              <a:t xml:space="preserve">Claude has coding agents, desktop, cowork. </a:t>
            </a:r>
          </a:p>
          <a:p>
            <a:pPr marL="0" indent="0">
              <a:buNone/>
            </a:pPr>
            <a:r>
              <a:rPr lang="en-US" sz="1600" dirty="0">
                <a:solidFill>
                  <a:srgbClr val="999999"/>
                </a:solidFill>
                <a:latin typeface="Arial" pitchFamily="34" charset="0"/>
                <a:ea typeface="Arial" pitchFamily="34" charset="-122"/>
                <a:cs typeface="Arial" pitchFamily="34" charset="-120"/>
              </a:rPr>
              <a:t xml:space="preserve">ChatGPT has memory, Codex, Sora. </a:t>
            </a:r>
          </a:p>
          <a:p>
            <a:pPr marL="0" indent="0">
              <a:buNone/>
            </a:pPr>
            <a:r>
              <a:rPr lang="en-US" sz="1600" dirty="0">
                <a:solidFill>
                  <a:srgbClr val="999999"/>
                </a:solidFill>
                <a:latin typeface="Arial" pitchFamily="34" charset="0"/>
                <a:ea typeface="Arial" pitchFamily="34" charset="-122"/>
                <a:cs typeface="Arial" pitchFamily="34" charset="-120"/>
              </a:rPr>
              <a:t>The market assumes they’ll consume every layer.</a:t>
            </a:r>
            <a:endParaRPr lang="en-US" sz="1600" dirty="0"/>
          </a:p>
        </p:txBody>
      </p:sp>
      <p:sp>
        <p:nvSpPr>
          <p:cNvPr id="4" name="Shape 2"/>
          <p:cNvSpPr/>
          <p:nvPr/>
        </p:nvSpPr>
        <p:spPr>
          <a:xfrm>
            <a:off x="685800" y="2651760"/>
            <a:ext cx="1371600" cy="32004"/>
          </a:xfrm>
          <a:prstGeom prst="rect">
            <a:avLst/>
          </a:prstGeom>
          <a:solidFill>
            <a:srgbClr val="E8985E"/>
          </a:solidFill>
          <a:ln/>
        </p:spPr>
        <p:txBody>
          <a:bodyPr/>
          <a:lstStyle/>
          <a:p>
            <a:endParaRPr lang="en-KR"/>
          </a:p>
        </p:txBody>
      </p:sp>
      <p:sp>
        <p:nvSpPr>
          <p:cNvPr id="5" name="Text 3"/>
          <p:cNvSpPr/>
          <p:nvPr/>
        </p:nvSpPr>
        <p:spPr>
          <a:xfrm>
            <a:off x="685800" y="2926080"/>
            <a:ext cx="7772400" cy="320040"/>
          </a:xfrm>
          <a:prstGeom prst="rect">
            <a:avLst/>
          </a:prstGeom>
          <a:noFill/>
          <a:ln/>
        </p:spPr>
        <p:txBody>
          <a:bodyPr wrap="square" lIns="0" tIns="0" rIns="0" bIns="0" rtlCol="0" anchor="ctr"/>
          <a:lstStyle/>
          <a:p>
            <a:pPr marL="0" indent="0">
              <a:buNone/>
            </a:pPr>
            <a:r>
              <a:rPr lang="en-US" sz="2000" b="1" dirty="0">
                <a:solidFill>
                  <a:srgbClr val="666666"/>
                </a:solidFill>
                <a:latin typeface="Arial" pitchFamily="34" charset="0"/>
                <a:ea typeface="Arial" pitchFamily="34" charset="-122"/>
                <a:cs typeface="Arial" pitchFamily="34" charset="-120"/>
              </a:rPr>
              <a:t>But every platform cycle looks that way — until it doesn’t.</a:t>
            </a:r>
            <a:endParaRPr lang="en-US" sz="2000" b="1" dirty="0"/>
          </a:p>
        </p:txBody>
      </p:sp>
      <p:sp>
        <p:nvSpPr>
          <p:cNvPr id="6" name="Text 4"/>
          <p:cNvSpPr/>
          <p:nvPr/>
        </p:nvSpPr>
        <p:spPr>
          <a:xfrm>
            <a:off x="685800" y="3488436"/>
            <a:ext cx="7772400" cy="768254"/>
          </a:xfrm>
          <a:prstGeom prst="rect">
            <a:avLst/>
          </a:prstGeom>
          <a:noFill/>
          <a:ln/>
        </p:spPr>
        <p:txBody>
          <a:bodyPr wrap="square" lIns="0" tIns="0" rIns="0" bIns="0" rtlCol="0" anchor="ctr"/>
          <a:lstStyle/>
          <a:p>
            <a:pPr marL="0" indent="0">
              <a:buNone/>
            </a:pPr>
            <a:r>
              <a:rPr lang="en-US" sz="1400" b="1" dirty="0">
                <a:solidFill>
                  <a:srgbClr val="E8985E"/>
                </a:solidFill>
                <a:latin typeface="Arial" pitchFamily="34" charset="0"/>
                <a:ea typeface="Arial" pitchFamily="34" charset="-122"/>
                <a:cs typeface="Arial" pitchFamily="34" charset="-120"/>
              </a:rPr>
              <a:t xml:space="preserve">Google didn’t become Salesforce. </a:t>
            </a:r>
          </a:p>
          <a:p>
            <a:pPr marL="0" indent="0">
              <a:buNone/>
            </a:pPr>
            <a:r>
              <a:rPr lang="en-US" sz="1400" b="1" dirty="0">
                <a:solidFill>
                  <a:srgbClr val="E8985E"/>
                </a:solidFill>
                <a:latin typeface="Arial" pitchFamily="34" charset="0"/>
                <a:ea typeface="Arial" pitchFamily="34" charset="-122"/>
                <a:cs typeface="Arial" pitchFamily="34" charset="-120"/>
              </a:rPr>
              <a:t xml:space="preserve">Facebook didn’t become Shopify. </a:t>
            </a:r>
          </a:p>
          <a:p>
            <a:pPr marL="0" indent="0">
              <a:buNone/>
            </a:pPr>
            <a:r>
              <a:rPr lang="en-US" sz="1400" b="1" dirty="0">
                <a:solidFill>
                  <a:srgbClr val="E8985E"/>
                </a:solidFill>
                <a:latin typeface="Arial" pitchFamily="34" charset="0"/>
                <a:ea typeface="Arial" pitchFamily="34" charset="-122"/>
                <a:cs typeface="Arial" pitchFamily="34" charset="-120"/>
              </a:rPr>
              <a:t>AWS didn’t become Datadog.</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85800" y="457200"/>
            <a:ext cx="3657600" cy="274320"/>
          </a:xfrm>
          <a:prstGeom prst="rect">
            <a:avLst/>
          </a:prstGeom>
          <a:noFill/>
          <a:ln/>
        </p:spPr>
        <p:txBody>
          <a:bodyPr wrap="square" lIns="0" tIns="0" rIns="0" bIns="0" rtlCol="0" anchor="ctr"/>
          <a:lstStyle/>
          <a:p>
            <a:pPr marL="0" indent="0">
              <a:buNone/>
            </a:pPr>
            <a:r>
              <a:rPr lang="en-US" sz="1100" b="1" dirty="0">
                <a:solidFill>
                  <a:srgbClr val="E8985E"/>
                </a:solidFill>
                <a:latin typeface="Arial" pitchFamily="34" charset="0"/>
                <a:ea typeface="Arial" pitchFamily="34" charset="-122"/>
                <a:cs typeface="Arial" pitchFamily="34" charset="-120"/>
              </a:rPr>
              <a:t>The Honest Bet</a:t>
            </a:r>
            <a:endParaRPr lang="en-US" sz="1100" dirty="0"/>
          </a:p>
        </p:txBody>
      </p:sp>
      <p:sp>
        <p:nvSpPr>
          <p:cNvPr id="3" name="Text 1"/>
          <p:cNvSpPr/>
          <p:nvPr/>
        </p:nvSpPr>
        <p:spPr>
          <a:xfrm>
            <a:off x="685800" y="777240"/>
            <a:ext cx="7772400" cy="820741"/>
          </a:xfrm>
          <a:prstGeom prst="rect">
            <a:avLst/>
          </a:prstGeom>
          <a:noFill/>
          <a:ln/>
        </p:spPr>
        <p:txBody>
          <a:bodyPr wrap="square" lIns="0" tIns="0" rIns="0" bIns="0" rtlCol="0" anchor="ctr"/>
          <a:lstStyle/>
          <a:p>
            <a:pPr marL="0" indent="0">
              <a:buNone/>
            </a:pPr>
            <a:r>
              <a:rPr lang="en-US" b="1" dirty="0">
                <a:solidFill>
                  <a:srgbClr val="111111"/>
                </a:solidFill>
                <a:latin typeface="Arial" pitchFamily="34" charset="0"/>
                <a:ea typeface="Arial" pitchFamily="34" charset="-122"/>
                <a:cs typeface="Arial" pitchFamily="34" charset="-120"/>
              </a:rPr>
              <a:t>History never repeats, but it does rhyme.</a:t>
            </a:r>
          </a:p>
          <a:p>
            <a:pPr marL="0" indent="0">
              <a:buNone/>
            </a:pPr>
            <a:r>
              <a:rPr lang="en-US" b="1" dirty="0">
                <a:solidFill>
                  <a:srgbClr val="111111"/>
                </a:solidFill>
                <a:latin typeface="Arial" pitchFamily="34" charset="0"/>
                <a:ea typeface="Arial" pitchFamily="34" charset="-122"/>
                <a:cs typeface="Arial" pitchFamily="34" charset="-120"/>
              </a:rPr>
              <a:t xml:space="preserve">Our thesis is that even with the AI tech revolution, </a:t>
            </a:r>
            <a:br>
              <a:rPr lang="en-US" b="1" dirty="0">
                <a:solidFill>
                  <a:srgbClr val="111111"/>
                </a:solidFill>
                <a:latin typeface="Arial" pitchFamily="34" charset="0"/>
                <a:ea typeface="Arial" pitchFamily="34" charset="-122"/>
                <a:cs typeface="Arial" pitchFamily="34" charset="-120"/>
              </a:rPr>
            </a:br>
            <a:r>
              <a:rPr lang="en-US" b="1" dirty="0">
                <a:solidFill>
                  <a:srgbClr val="111111"/>
                </a:solidFill>
                <a:latin typeface="Arial" pitchFamily="34" charset="0"/>
                <a:ea typeface="Arial" pitchFamily="34" charset="-122"/>
                <a:cs typeface="Arial" pitchFamily="34" charset="-120"/>
              </a:rPr>
              <a:t>the application layer is yet to come.</a:t>
            </a:r>
            <a:endParaRPr lang="en-US" dirty="0"/>
          </a:p>
        </p:txBody>
      </p:sp>
      <p:sp>
        <p:nvSpPr>
          <p:cNvPr id="4" name="Text 2"/>
          <p:cNvSpPr/>
          <p:nvPr/>
        </p:nvSpPr>
        <p:spPr>
          <a:xfrm>
            <a:off x="685800" y="1900098"/>
            <a:ext cx="3200400" cy="228600"/>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2008: Google</a:t>
            </a:r>
            <a:endParaRPr lang="en-US" sz="1200" dirty="0"/>
          </a:p>
        </p:txBody>
      </p:sp>
      <p:sp>
        <p:nvSpPr>
          <p:cNvPr id="5" name="Text 3"/>
          <p:cNvSpPr/>
          <p:nvPr/>
        </p:nvSpPr>
        <p:spPr>
          <a:xfrm>
            <a:off x="1912883" y="1900098"/>
            <a:ext cx="6773917" cy="228600"/>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  Looked like it would own everything on the web. It didn’t become Salesforce.</a:t>
            </a:r>
            <a:endParaRPr lang="en-US" sz="1100" dirty="0"/>
          </a:p>
        </p:txBody>
      </p:sp>
      <p:sp>
        <p:nvSpPr>
          <p:cNvPr id="6" name="Shape 4"/>
          <p:cNvSpPr/>
          <p:nvPr/>
        </p:nvSpPr>
        <p:spPr>
          <a:xfrm>
            <a:off x="685800" y="2247570"/>
            <a:ext cx="7772400" cy="4572"/>
          </a:xfrm>
          <a:prstGeom prst="rect">
            <a:avLst/>
          </a:prstGeom>
          <a:solidFill>
            <a:srgbClr val="E5E5E5"/>
          </a:solidFill>
          <a:ln/>
        </p:spPr>
        <p:txBody>
          <a:bodyPr/>
          <a:lstStyle/>
          <a:p>
            <a:endParaRPr lang="en-KR"/>
          </a:p>
        </p:txBody>
      </p:sp>
      <p:sp>
        <p:nvSpPr>
          <p:cNvPr id="7" name="Text 5"/>
          <p:cNvSpPr/>
          <p:nvPr/>
        </p:nvSpPr>
        <p:spPr>
          <a:xfrm>
            <a:off x="685800" y="2403018"/>
            <a:ext cx="3200400" cy="228600"/>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2012: Facebook</a:t>
            </a:r>
            <a:endParaRPr lang="en-US" sz="1200" dirty="0"/>
          </a:p>
        </p:txBody>
      </p:sp>
      <p:sp>
        <p:nvSpPr>
          <p:cNvPr id="8" name="Text 6"/>
          <p:cNvSpPr/>
          <p:nvPr/>
        </p:nvSpPr>
        <p:spPr>
          <a:xfrm>
            <a:off x="1912883" y="2403018"/>
            <a:ext cx="6773917" cy="228600"/>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  Looked like it would own all of social commerce. It didn’t become Shopify.</a:t>
            </a:r>
            <a:endParaRPr lang="en-US" sz="1100" dirty="0"/>
          </a:p>
        </p:txBody>
      </p:sp>
      <p:sp>
        <p:nvSpPr>
          <p:cNvPr id="9" name="Shape 7"/>
          <p:cNvSpPr/>
          <p:nvPr/>
        </p:nvSpPr>
        <p:spPr>
          <a:xfrm>
            <a:off x="685800" y="2750490"/>
            <a:ext cx="7772400" cy="4572"/>
          </a:xfrm>
          <a:prstGeom prst="rect">
            <a:avLst/>
          </a:prstGeom>
          <a:solidFill>
            <a:srgbClr val="E5E5E5"/>
          </a:solidFill>
          <a:ln/>
        </p:spPr>
        <p:txBody>
          <a:bodyPr/>
          <a:lstStyle/>
          <a:p>
            <a:endParaRPr lang="en-KR"/>
          </a:p>
        </p:txBody>
      </p:sp>
      <p:sp>
        <p:nvSpPr>
          <p:cNvPr id="10" name="Text 8"/>
          <p:cNvSpPr/>
          <p:nvPr/>
        </p:nvSpPr>
        <p:spPr>
          <a:xfrm>
            <a:off x="685800" y="2905938"/>
            <a:ext cx="3200400" cy="228600"/>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2015: AWS</a:t>
            </a:r>
            <a:endParaRPr lang="en-US" sz="1200" dirty="0"/>
          </a:p>
        </p:txBody>
      </p:sp>
      <p:sp>
        <p:nvSpPr>
          <p:cNvPr id="11" name="Text 9"/>
          <p:cNvSpPr/>
          <p:nvPr/>
        </p:nvSpPr>
        <p:spPr>
          <a:xfrm>
            <a:off x="1912883" y="2905938"/>
            <a:ext cx="6773917" cy="228600"/>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  Looked like it would own every cloud application. It didn’t become Datadog.</a:t>
            </a:r>
            <a:endParaRPr lang="en-US" sz="1100" dirty="0"/>
          </a:p>
        </p:txBody>
      </p:sp>
      <p:sp>
        <p:nvSpPr>
          <p:cNvPr id="12" name="Shape 10"/>
          <p:cNvSpPr/>
          <p:nvPr/>
        </p:nvSpPr>
        <p:spPr>
          <a:xfrm>
            <a:off x="685800" y="3253410"/>
            <a:ext cx="7772400" cy="4572"/>
          </a:xfrm>
          <a:prstGeom prst="rect">
            <a:avLst/>
          </a:prstGeom>
          <a:solidFill>
            <a:srgbClr val="E5E5E5"/>
          </a:solidFill>
          <a:ln/>
        </p:spPr>
        <p:txBody>
          <a:bodyPr/>
          <a:lstStyle/>
          <a:p>
            <a:endParaRPr lang="en-KR"/>
          </a:p>
        </p:txBody>
      </p:sp>
      <p:sp>
        <p:nvSpPr>
          <p:cNvPr id="13" name="Text 11"/>
          <p:cNvSpPr/>
          <p:nvPr/>
        </p:nvSpPr>
        <p:spPr>
          <a:xfrm>
            <a:off x="685800" y="3408858"/>
            <a:ext cx="3200400" cy="228600"/>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2026: LLMs</a:t>
            </a:r>
            <a:endParaRPr lang="en-US" sz="1200" dirty="0"/>
          </a:p>
        </p:txBody>
      </p:sp>
      <p:sp>
        <p:nvSpPr>
          <p:cNvPr id="14" name="Text 12"/>
          <p:cNvSpPr/>
          <p:nvPr/>
        </p:nvSpPr>
        <p:spPr>
          <a:xfrm>
            <a:off x="1912883" y="3408858"/>
            <a:ext cx="6773917" cy="228600"/>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  Look like they’ll own every layer. But code was the easy case. Work context is the hard one.</a:t>
            </a:r>
            <a:endParaRPr lang="en-US" sz="1100" dirty="0"/>
          </a:p>
        </p:txBody>
      </p:sp>
      <p:sp>
        <p:nvSpPr>
          <p:cNvPr id="15" name="Shape 13"/>
          <p:cNvSpPr/>
          <p:nvPr/>
        </p:nvSpPr>
        <p:spPr>
          <a:xfrm>
            <a:off x="685800" y="3841610"/>
            <a:ext cx="7772400" cy="926512"/>
          </a:xfrm>
          <a:prstGeom prst="rect">
            <a:avLst/>
          </a:prstGeom>
          <a:solidFill>
            <a:schemeClr val="accent2">
              <a:lumMod val="20000"/>
              <a:lumOff val="80000"/>
            </a:schemeClr>
          </a:solidFill>
          <a:ln/>
        </p:spPr>
        <p:txBody>
          <a:bodyPr/>
          <a:lstStyle/>
          <a:p>
            <a:endParaRPr lang="en-KR"/>
          </a:p>
        </p:txBody>
      </p:sp>
      <p:sp>
        <p:nvSpPr>
          <p:cNvPr id="17" name="Text 15"/>
          <p:cNvSpPr/>
          <p:nvPr/>
        </p:nvSpPr>
        <p:spPr>
          <a:xfrm>
            <a:off x="900210" y="3938419"/>
            <a:ext cx="7315200" cy="713475"/>
          </a:xfrm>
          <a:prstGeom prst="rect">
            <a:avLst/>
          </a:prstGeom>
          <a:noFill/>
          <a:ln/>
        </p:spPr>
        <p:txBody>
          <a:bodyPr wrap="square" lIns="0" tIns="0" rIns="0" bIns="0" rtlCol="0" anchor="ctr"/>
          <a:lstStyle/>
          <a:p>
            <a:pPr marL="0" indent="0">
              <a:buNone/>
            </a:pPr>
            <a:r>
              <a:rPr lang="en-US" sz="1400" dirty="0">
                <a:latin typeface="Arial" pitchFamily="34" charset="0"/>
                <a:ea typeface="Arial" pitchFamily="34" charset="-122"/>
                <a:cs typeface="Arial" pitchFamily="34" charset="-120"/>
              </a:rPr>
              <a:t xml:space="preserve">The application layer of the AI platform shift is yet to come, and we’re taking the </a:t>
            </a:r>
            <a:r>
              <a:rPr lang="en-US" sz="1400" b="1" dirty="0">
                <a:latin typeface="Arial" pitchFamily="34" charset="0"/>
                <a:ea typeface="Arial" pitchFamily="34" charset="-122"/>
                <a:cs typeface="Arial" pitchFamily="34" charset="-120"/>
              </a:rPr>
              <a:t>bold bet</a:t>
            </a:r>
            <a:r>
              <a:rPr lang="en-US" sz="1400" dirty="0">
                <a:latin typeface="Arial" pitchFamily="34" charset="0"/>
                <a:ea typeface="Arial" pitchFamily="34" charset="-122"/>
                <a:cs typeface="Arial" pitchFamily="34" charset="-120"/>
              </a:rPr>
              <a:t xml:space="preserve"> that it will be Agent-native, and the work economy will shift from human -&gt; agents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457200"/>
            <a:ext cx="3657600" cy="274320"/>
          </a:xfrm>
          <a:prstGeom prst="rect">
            <a:avLst/>
          </a:prstGeom>
          <a:noFill/>
          <a:ln/>
        </p:spPr>
        <p:txBody>
          <a:bodyPr wrap="square" lIns="0" tIns="0" rIns="0" bIns="0" rtlCol="0" anchor="ctr"/>
          <a:lstStyle/>
          <a:p>
            <a:pPr marL="0" indent="0">
              <a:buNone/>
            </a:pPr>
            <a:r>
              <a:rPr lang="en-US" sz="1100" b="1" dirty="0">
                <a:solidFill>
                  <a:srgbClr val="E8985E"/>
                </a:solidFill>
                <a:latin typeface="Arial" pitchFamily="34" charset="0"/>
                <a:ea typeface="Arial" pitchFamily="34" charset="-122"/>
                <a:cs typeface="Arial" pitchFamily="34" charset="-120"/>
              </a:rPr>
              <a:t>Proof of Demand</a:t>
            </a:r>
            <a:endParaRPr lang="en-US" sz="1100" dirty="0"/>
          </a:p>
        </p:txBody>
      </p:sp>
      <p:sp>
        <p:nvSpPr>
          <p:cNvPr id="3" name="Text 1"/>
          <p:cNvSpPr/>
          <p:nvPr/>
        </p:nvSpPr>
        <p:spPr>
          <a:xfrm>
            <a:off x="685800" y="777240"/>
            <a:ext cx="7772400" cy="640080"/>
          </a:xfrm>
          <a:prstGeom prst="rect">
            <a:avLst/>
          </a:prstGeom>
          <a:noFill/>
          <a:ln/>
        </p:spPr>
        <p:txBody>
          <a:bodyPr wrap="square" lIns="0" tIns="0" rIns="0" bIns="0" rtlCol="0" anchor="ctr"/>
          <a:lstStyle/>
          <a:p>
            <a:pPr marL="0" indent="0">
              <a:buNone/>
            </a:pPr>
            <a:r>
              <a:rPr lang="en-US" sz="2400" b="1" dirty="0">
                <a:solidFill>
                  <a:srgbClr val="111111"/>
                </a:solidFill>
                <a:latin typeface="Arial" pitchFamily="34" charset="0"/>
                <a:ea typeface="Arial" pitchFamily="34" charset="-122"/>
                <a:cs typeface="Arial" pitchFamily="34" charset="-120"/>
              </a:rPr>
              <a:t>ClawdBot proved the appetite is real.</a:t>
            </a:r>
            <a:endParaRPr lang="en-US" sz="2400" dirty="0"/>
          </a:p>
        </p:txBody>
      </p:sp>
      <p:sp>
        <p:nvSpPr>
          <p:cNvPr id="4" name="Text 2"/>
          <p:cNvSpPr/>
          <p:nvPr/>
        </p:nvSpPr>
        <p:spPr>
          <a:xfrm>
            <a:off x="685800" y="1678770"/>
            <a:ext cx="4572000" cy="731520"/>
          </a:xfrm>
          <a:prstGeom prst="rect">
            <a:avLst/>
          </a:prstGeom>
          <a:noFill/>
          <a:ln/>
        </p:spPr>
        <p:txBody>
          <a:bodyPr wrap="square" lIns="0" tIns="0" rIns="0" bIns="0" rtlCol="0" anchor="ctr"/>
          <a:lstStyle/>
          <a:p>
            <a:pPr marL="0" indent="0">
              <a:buNone/>
            </a:pPr>
            <a:r>
              <a:rPr lang="en-US" sz="4800" b="1" dirty="0">
                <a:solidFill>
                  <a:srgbClr val="E8985E"/>
                </a:solidFill>
                <a:latin typeface="Arial" pitchFamily="34" charset="0"/>
                <a:ea typeface="Arial" pitchFamily="34" charset="-122"/>
                <a:cs typeface="Arial" pitchFamily="34" charset="-120"/>
              </a:rPr>
              <a:t>17,830</a:t>
            </a:r>
            <a:endParaRPr lang="en-US" sz="4800" dirty="0"/>
          </a:p>
        </p:txBody>
      </p:sp>
      <p:sp>
        <p:nvSpPr>
          <p:cNvPr id="5" name="Text 3"/>
          <p:cNvSpPr/>
          <p:nvPr/>
        </p:nvSpPr>
        <p:spPr>
          <a:xfrm>
            <a:off x="685800" y="2813119"/>
            <a:ext cx="4572000" cy="228600"/>
          </a:xfrm>
          <a:prstGeom prst="rect">
            <a:avLst/>
          </a:prstGeom>
          <a:noFill/>
          <a:ln/>
        </p:spPr>
        <p:txBody>
          <a:bodyPr wrap="square" lIns="0" tIns="0" rIns="0" bIns="0" rtlCol="0" anchor="ctr"/>
          <a:lstStyle/>
          <a:p>
            <a:pPr marL="0" indent="0">
              <a:buNone/>
            </a:pPr>
            <a:r>
              <a:rPr lang="en-US" sz="1400" dirty="0">
                <a:solidFill>
                  <a:srgbClr val="666666"/>
                </a:solidFill>
                <a:latin typeface="Arial" pitchFamily="34" charset="0"/>
                <a:ea typeface="Arial" pitchFamily="34" charset="-122"/>
                <a:cs typeface="Arial" pitchFamily="34" charset="-120"/>
              </a:rPr>
              <a:t>GitHub stars in 24 hours</a:t>
            </a:r>
            <a:endParaRPr lang="en-US" sz="1400" dirty="0"/>
          </a:p>
        </p:txBody>
      </p:sp>
      <p:sp>
        <p:nvSpPr>
          <p:cNvPr id="6" name="Text 4"/>
          <p:cNvSpPr/>
          <p:nvPr/>
        </p:nvSpPr>
        <p:spPr>
          <a:xfrm>
            <a:off x="685800" y="3041719"/>
            <a:ext cx="4572000" cy="182880"/>
          </a:xfrm>
          <a:prstGeom prst="rect">
            <a:avLst/>
          </a:prstGeom>
          <a:noFill/>
          <a:ln/>
        </p:spPr>
        <p:txBody>
          <a:bodyPr wrap="square" lIns="0" tIns="0" rIns="0" bIns="0" rtlCol="0" anchor="ctr"/>
          <a:lstStyle/>
          <a:p>
            <a:pPr marL="0" indent="0">
              <a:buNone/>
            </a:pPr>
            <a:r>
              <a:rPr lang="en-US" sz="1100" dirty="0">
                <a:solidFill>
                  <a:srgbClr val="999999"/>
                </a:solidFill>
                <a:latin typeface="Arial" pitchFamily="34" charset="0"/>
                <a:ea typeface="Arial" pitchFamily="34" charset="-122"/>
                <a:cs typeface="Arial" pitchFamily="34" charset="-120"/>
              </a:rPr>
              <a:t>Fastest single-day growth in GitHub history.</a:t>
            </a:r>
            <a:endParaRPr lang="en-US" sz="1100" dirty="0"/>
          </a:p>
        </p:txBody>
      </p:sp>
      <p:sp>
        <p:nvSpPr>
          <p:cNvPr id="7" name="Shape 5"/>
          <p:cNvSpPr/>
          <p:nvPr/>
        </p:nvSpPr>
        <p:spPr>
          <a:xfrm>
            <a:off x="685800" y="3685362"/>
            <a:ext cx="3291840" cy="1005840"/>
          </a:xfrm>
          <a:prstGeom prst="rect">
            <a:avLst/>
          </a:prstGeom>
          <a:solidFill>
            <a:srgbClr val="F8F8F8"/>
          </a:solidFill>
          <a:ln/>
        </p:spPr>
        <p:txBody>
          <a:bodyPr/>
          <a:lstStyle/>
          <a:p>
            <a:endParaRPr lang="en-KR"/>
          </a:p>
        </p:txBody>
      </p:sp>
      <p:sp>
        <p:nvSpPr>
          <p:cNvPr id="8" name="Text 6"/>
          <p:cNvSpPr/>
          <p:nvPr/>
        </p:nvSpPr>
        <p:spPr>
          <a:xfrm>
            <a:off x="868680" y="3731082"/>
            <a:ext cx="2926080" cy="594360"/>
          </a:xfrm>
          <a:prstGeom prst="rect">
            <a:avLst/>
          </a:prstGeom>
          <a:noFill/>
          <a:ln/>
        </p:spPr>
        <p:txBody>
          <a:bodyPr wrap="square" lIns="0" tIns="0" rIns="0" bIns="0" rtlCol="0" anchor="ctr"/>
          <a:lstStyle/>
          <a:p>
            <a:pPr marL="0" indent="0">
              <a:buNone/>
            </a:pPr>
            <a:r>
              <a:rPr lang="en-US" sz="1100" i="1" dirty="0">
                <a:solidFill>
                  <a:srgbClr val="666666"/>
                </a:solidFill>
                <a:latin typeface="Arial" pitchFamily="34" charset="0"/>
                <a:ea typeface="Arial" pitchFamily="34" charset="-122"/>
                <a:cs typeface="Arial" pitchFamily="34" charset="-120"/>
              </a:rPr>
              <a:t>"The first time I've felt like I'm living in the future since ChatGPT launched."</a:t>
            </a:r>
            <a:endParaRPr lang="en-US" sz="1100" dirty="0"/>
          </a:p>
        </p:txBody>
      </p:sp>
      <p:sp>
        <p:nvSpPr>
          <p:cNvPr id="9" name="Text 7"/>
          <p:cNvSpPr/>
          <p:nvPr/>
        </p:nvSpPr>
        <p:spPr>
          <a:xfrm>
            <a:off x="868680" y="4371162"/>
            <a:ext cx="2926080" cy="182880"/>
          </a:xfrm>
          <a:prstGeom prst="rect">
            <a:avLst/>
          </a:prstGeom>
          <a:noFill/>
          <a:ln/>
        </p:spPr>
        <p:txBody>
          <a:bodyPr wrap="square" lIns="0" tIns="0" rIns="0" bIns="0" rtlCol="0" anchor="ctr"/>
          <a:lstStyle/>
          <a:p>
            <a:pPr marL="0" indent="0">
              <a:buNone/>
            </a:pPr>
            <a:r>
              <a:rPr lang="en-US" sz="1000" b="1" dirty="0">
                <a:solidFill>
                  <a:srgbClr val="999999"/>
                </a:solidFill>
                <a:latin typeface="Arial" pitchFamily="34" charset="0"/>
                <a:ea typeface="Arial" pitchFamily="34" charset="-122"/>
                <a:cs typeface="Arial" pitchFamily="34" charset="-120"/>
              </a:rPr>
              <a:t>— ClawdBot user</a:t>
            </a:r>
            <a:endParaRPr lang="en-US" sz="1000" dirty="0"/>
          </a:p>
        </p:txBody>
      </p:sp>
      <p:sp>
        <p:nvSpPr>
          <p:cNvPr id="10" name="Shape 8"/>
          <p:cNvSpPr/>
          <p:nvPr/>
        </p:nvSpPr>
        <p:spPr>
          <a:xfrm>
            <a:off x="685800" y="3453199"/>
            <a:ext cx="1371600" cy="32004"/>
          </a:xfrm>
          <a:prstGeom prst="rect">
            <a:avLst/>
          </a:prstGeom>
          <a:solidFill>
            <a:srgbClr val="E8985E"/>
          </a:solidFill>
          <a:ln/>
        </p:spPr>
        <p:txBody>
          <a:bodyPr/>
          <a:lstStyle/>
          <a:p>
            <a:endParaRPr lang="en-KR"/>
          </a:p>
        </p:txBody>
      </p:sp>
      <p:sp>
        <p:nvSpPr>
          <p:cNvPr id="11" name="Text 9"/>
          <p:cNvSpPr/>
          <p:nvPr/>
        </p:nvSpPr>
        <p:spPr>
          <a:xfrm>
            <a:off x="4864100" y="1704170"/>
            <a:ext cx="3703320" cy="731520"/>
          </a:xfrm>
          <a:prstGeom prst="rect">
            <a:avLst/>
          </a:prstGeom>
          <a:noFill/>
          <a:ln/>
        </p:spPr>
        <p:txBody>
          <a:bodyPr wrap="square" lIns="0" tIns="0" rIns="0" bIns="0" rtlCol="0" anchor="ctr"/>
          <a:lstStyle/>
          <a:p>
            <a:pPr marL="0" indent="0">
              <a:buNone/>
            </a:pPr>
            <a:r>
              <a:rPr lang="en-US" sz="3200" b="1" dirty="0">
                <a:solidFill>
                  <a:srgbClr val="111111"/>
                </a:solidFill>
                <a:latin typeface="Arial" pitchFamily="34" charset="0"/>
                <a:ea typeface="Arial" pitchFamily="34" charset="-122"/>
                <a:cs typeface="Arial" pitchFamily="34" charset="-120"/>
              </a:rPr>
              <a:t>But 95% of people can't use it.</a:t>
            </a:r>
            <a:endParaRPr lang="en-US" sz="3200" dirty="0"/>
          </a:p>
        </p:txBody>
      </p:sp>
      <p:sp>
        <p:nvSpPr>
          <p:cNvPr id="12" name="Text 10"/>
          <p:cNvSpPr/>
          <p:nvPr/>
        </p:nvSpPr>
        <p:spPr>
          <a:xfrm>
            <a:off x="4864100" y="3765626"/>
            <a:ext cx="3703320" cy="274320"/>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  Requires VPS provisioning (only 5% can do this)</a:t>
            </a:r>
            <a:endParaRPr lang="en-US" sz="1100" dirty="0"/>
          </a:p>
        </p:txBody>
      </p:sp>
      <p:sp>
        <p:nvSpPr>
          <p:cNvPr id="13" name="Text 11"/>
          <p:cNvSpPr/>
          <p:nvPr/>
        </p:nvSpPr>
        <p:spPr>
          <a:xfrm>
            <a:off x="4864100" y="4058234"/>
            <a:ext cx="3703320" cy="274320"/>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  200+ security leaks detected (GitGuardian)</a:t>
            </a:r>
            <a:endParaRPr lang="en-US" sz="1100" dirty="0"/>
          </a:p>
        </p:txBody>
      </p:sp>
      <p:sp>
        <p:nvSpPr>
          <p:cNvPr id="14" name="Text 12"/>
          <p:cNvSpPr/>
          <p:nvPr/>
        </p:nvSpPr>
        <p:spPr>
          <a:xfrm>
            <a:off x="4864100" y="4350842"/>
            <a:ext cx="3703320" cy="274320"/>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  No project isolation or recurring workflows</a:t>
            </a:r>
            <a:endParaRPr lang="en-US" sz="1100" dirty="0"/>
          </a:p>
        </p:txBody>
      </p:sp>
      <p:sp>
        <p:nvSpPr>
          <p:cNvPr id="15" name="Text 3">
            <a:extLst>
              <a:ext uri="{FF2B5EF4-FFF2-40B4-BE49-F238E27FC236}">
                <a16:creationId xmlns:a16="http://schemas.microsoft.com/office/drawing/2014/main" id="{7CBE82DB-4786-5937-AD3C-6F663ECFB82B}"/>
              </a:ext>
            </a:extLst>
          </p:cNvPr>
          <p:cNvSpPr/>
          <p:nvPr/>
        </p:nvSpPr>
        <p:spPr>
          <a:xfrm>
            <a:off x="4864100" y="2859597"/>
            <a:ext cx="3886200" cy="207522"/>
          </a:xfrm>
          <a:prstGeom prst="rect">
            <a:avLst/>
          </a:prstGeom>
          <a:noFill/>
          <a:ln/>
        </p:spPr>
        <p:txBody>
          <a:bodyPr wrap="square" lIns="0" tIns="0" rIns="0" bIns="0" rtlCol="0" anchor="ctr"/>
          <a:lstStyle/>
          <a:p>
            <a:pPr marL="0" indent="0">
              <a:buNone/>
            </a:pPr>
            <a:r>
              <a:rPr lang="en-US" sz="1400" dirty="0">
                <a:solidFill>
                  <a:srgbClr val="666666"/>
                </a:solidFill>
                <a:latin typeface="Arial" pitchFamily="34" charset="0"/>
                <a:cs typeface="Arial" pitchFamily="34" charset="-120"/>
              </a:rPr>
              <a:t>High technical barrier, privacy, hardware setup</a:t>
            </a:r>
            <a:endParaRPr lang="en-US" sz="1400" dirty="0"/>
          </a:p>
        </p:txBody>
      </p:sp>
      <p:pic>
        <p:nvPicPr>
          <p:cNvPr id="1026" name="Picture 2" descr="Open Claw - Replace Humans">
            <a:extLst>
              <a:ext uri="{FF2B5EF4-FFF2-40B4-BE49-F238E27FC236}">
                <a16:creationId xmlns:a16="http://schemas.microsoft.com/office/drawing/2014/main" id="{B437DECB-BC82-5CD5-0CCB-DF8E637EAB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30950" y="859155"/>
            <a:ext cx="476250" cy="47625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828493-9D32-0278-D4CF-1968D570CE5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7106942-9DF6-9D4D-CDB3-33F9B12F2128}"/>
              </a:ext>
            </a:extLst>
          </p:cNvPr>
          <p:cNvSpPr/>
          <p:nvPr/>
        </p:nvSpPr>
        <p:spPr>
          <a:xfrm>
            <a:off x="5465576" y="1819923"/>
            <a:ext cx="3349951" cy="1015955"/>
          </a:xfrm>
          <a:prstGeom prst="rect">
            <a:avLst/>
          </a:prstGeom>
          <a:noFill/>
          <a:ln/>
        </p:spPr>
        <p:txBody>
          <a:bodyPr wrap="square" lIns="0" tIns="0" rIns="0" bIns="0" rtlCol="0" anchor="ctr"/>
          <a:lstStyle/>
          <a:p>
            <a:r>
              <a:rPr lang="en-US" sz="2400" b="1" dirty="0">
                <a:latin typeface="Arial" pitchFamily="34" charset="0"/>
                <a:ea typeface="Arial" pitchFamily="34" charset="-122"/>
                <a:cs typeface="Arial" pitchFamily="34" charset="-120"/>
              </a:rPr>
              <a:t>Product</a:t>
            </a:r>
          </a:p>
          <a:p>
            <a:r>
              <a:rPr lang="en-US" sz="2400" b="1" dirty="0">
                <a:latin typeface="Arial" pitchFamily="34" charset="0"/>
                <a:ea typeface="Arial" pitchFamily="34" charset="-122"/>
                <a:cs typeface="Arial" pitchFamily="34" charset="-120"/>
              </a:rPr>
              <a:t>Architecture</a:t>
            </a:r>
            <a:endParaRPr lang="en-US" sz="2400" b="1" dirty="0"/>
          </a:p>
          <a:p>
            <a:pPr marL="0" indent="0">
              <a:buNone/>
            </a:pPr>
            <a:r>
              <a:rPr lang="en-US" sz="2400" b="1" dirty="0">
                <a:latin typeface="Arial" pitchFamily="34" charset="0"/>
                <a:ea typeface="Arial" pitchFamily="34" charset="-122"/>
                <a:cs typeface="Arial" pitchFamily="34" charset="-120"/>
              </a:rPr>
              <a:t>Solution / Moat</a:t>
            </a:r>
          </a:p>
        </p:txBody>
      </p:sp>
      <p:pic>
        <p:nvPicPr>
          <p:cNvPr id="4" name="Picture 3" descr="A ball of yarn with a black background  AI-generated content may be incorrect.">
            <a:extLst>
              <a:ext uri="{FF2B5EF4-FFF2-40B4-BE49-F238E27FC236}">
                <a16:creationId xmlns:a16="http://schemas.microsoft.com/office/drawing/2014/main" id="{CDBEE355-775C-B974-BD7A-CA76244C9212}"/>
              </a:ext>
            </a:extLst>
          </p:cNvPr>
          <p:cNvPicPr>
            <a:picLocks noChangeAspect="1"/>
          </p:cNvPicPr>
          <p:nvPr/>
        </p:nvPicPr>
        <p:blipFill>
          <a:blip r:embed="rId2"/>
          <a:stretch>
            <a:fillRect/>
          </a:stretch>
        </p:blipFill>
        <p:spPr>
          <a:xfrm>
            <a:off x="1569715" y="1819923"/>
            <a:ext cx="946261" cy="946261"/>
          </a:xfrm>
          <a:prstGeom prst="rect">
            <a:avLst/>
          </a:prstGeom>
        </p:spPr>
      </p:pic>
    </p:spTree>
    <p:extLst>
      <p:ext uri="{BB962C8B-B14F-4D97-AF65-F5344CB8AC3E}">
        <p14:creationId xmlns:p14="http://schemas.microsoft.com/office/powerpoint/2010/main" val="40288154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457200"/>
            <a:ext cx="3657600" cy="274320"/>
          </a:xfrm>
          <a:prstGeom prst="rect">
            <a:avLst/>
          </a:prstGeom>
          <a:noFill/>
          <a:ln/>
        </p:spPr>
        <p:txBody>
          <a:bodyPr wrap="square" lIns="0" tIns="0" rIns="0" bIns="0" rtlCol="0" anchor="ctr"/>
          <a:lstStyle/>
          <a:p>
            <a:pPr marL="0" indent="0">
              <a:buNone/>
            </a:pPr>
            <a:r>
              <a:rPr lang="en-US" sz="1100" b="1" dirty="0">
                <a:solidFill>
                  <a:srgbClr val="E8985E"/>
                </a:solidFill>
                <a:latin typeface="Arial" pitchFamily="34" charset="0"/>
                <a:ea typeface="Arial" pitchFamily="34" charset="-122"/>
                <a:cs typeface="Arial" pitchFamily="34" charset="-120"/>
              </a:rPr>
              <a:t>Product: Meet yarnnn's Orchestrator</a:t>
            </a:r>
            <a:endParaRPr lang="en-US" sz="1100" dirty="0"/>
          </a:p>
        </p:txBody>
      </p:sp>
      <p:sp>
        <p:nvSpPr>
          <p:cNvPr id="3" name="Text 1"/>
          <p:cNvSpPr/>
          <p:nvPr/>
        </p:nvSpPr>
        <p:spPr>
          <a:xfrm>
            <a:off x="685800" y="777240"/>
            <a:ext cx="7772400" cy="640080"/>
          </a:xfrm>
          <a:prstGeom prst="rect">
            <a:avLst/>
          </a:prstGeom>
          <a:noFill/>
          <a:ln/>
        </p:spPr>
        <p:txBody>
          <a:bodyPr wrap="square" lIns="0" tIns="0" rIns="0" bIns="0" rtlCol="0" anchor="ctr"/>
          <a:lstStyle/>
          <a:p>
            <a:pPr marL="0" indent="0">
              <a:buNone/>
            </a:pPr>
            <a:r>
              <a:rPr lang="en-US" sz="2400" b="1" dirty="0">
                <a:solidFill>
                  <a:srgbClr val="111111"/>
                </a:solidFill>
                <a:latin typeface="Arial" pitchFamily="34" charset="0"/>
                <a:ea typeface="Arial" pitchFamily="34" charset="-122"/>
                <a:cs typeface="Arial" pitchFamily="34" charset="-120"/>
              </a:rPr>
              <a:t>Your autonomous agent network. Live at yarnnn.com.</a:t>
            </a:r>
            <a:endParaRPr lang="en-US" sz="2400" dirty="0"/>
          </a:p>
        </p:txBody>
      </p:sp>
      <p:pic>
        <p:nvPicPr>
          <p:cNvPr id="4" name="Screenshot Chat" descr="Orchestrator - Chat"/>
          <p:cNvPicPr>
            <a:picLocks noChangeAspect="1"/>
          </p:cNvPicPr>
          <p:nvPr/>
        </p:nvPicPr>
        <p:blipFill>
          <a:blip r:embed="rId3"/>
          <a:stretch>
            <a:fillRect/>
          </a:stretch>
        </p:blipFill>
        <p:spPr>
          <a:xfrm>
            <a:off x="685800" y="1791700"/>
            <a:ext cx="1920240" cy="1781810"/>
          </a:xfrm>
          <a:prstGeom prst="roundRect">
            <a:avLst>
              <a:gd name="adj" fmla="val 3000"/>
            </a:avLst>
          </a:prstGeom>
        </p:spPr>
      </p:pic>
      <p:pic>
        <p:nvPicPr>
          <p:cNvPr id="21" name="Screenshot Deliverables" descr="Agents - Headless Mode"/>
          <p:cNvPicPr>
            <a:picLocks noChangeAspect="1"/>
          </p:cNvPicPr>
          <p:nvPr/>
        </p:nvPicPr>
        <p:blipFill>
          <a:blip r:embed="rId4"/>
          <a:stretch>
            <a:fillRect/>
          </a:stretch>
        </p:blipFill>
        <p:spPr>
          <a:xfrm>
            <a:off x="2788920" y="1791700"/>
            <a:ext cx="1920240" cy="1781810"/>
          </a:xfrm>
          <a:prstGeom prst="roundRect">
            <a:avLst>
              <a:gd name="adj" fmla="val 3000"/>
            </a:avLst>
          </a:prstGeom>
        </p:spPr>
      </p:pic>
      <p:pic>
        <p:nvPicPr>
          <p:cNvPr id="22" name="Screenshot System" descr="System - 4 Integrations"/>
          <p:cNvPicPr>
            <a:picLocks noChangeAspect="1"/>
          </p:cNvPicPr>
          <p:nvPr/>
        </p:nvPicPr>
        <p:blipFill>
          <a:blip r:embed="rId5"/>
          <a:stretch>
            <a:fillRect/>
          </a:stretch>
        </p:blipFill>
        <p:spPr>
          <a:xfrm>
            <a:off x="4892040" y="1791700"/>
            <a:ext cx="1920240" cy="1781810"/>
          </a:xfrm>
          <a:prstGeom prst="roundRect">
            <a:avLst>
              <a:gd name="adj" fmla="val 3000"/>
            </a:avLst>
          </a:prstGeom>
        </p:spPr>
      </p:pic>
      <p:pic>
        <p:nvPicPr>
          <p:cNvPr id="23" name="Screenshot Context" descr="Knowledge Engine"/>
          <p:cNvPicPr>
            <a:picLocks noChangeAspect="1"/>
          </p:cNvPicPr>
          <p:nvPr/>
        </p:nvPicPr>
        <p:blipFill>
          <a:blip r:embed="rId6"/>
          <a:stretch>
            <a:fillRect/>
          </a:stretch>
        </p:blipFill>
        <p:spPr>
          <a:xfrm>
            <a:off x="6995160" y="1791700"/>
            <a:ext cx="1920240" cy="1781810"/>
          </a:xfrm>
          <a:prstGeom prst="roundRect">
            <a:avLst>
              <a:gd name="adj" fmla="val 3000"/>
            </a:avLst>
          </a:prstGeom>
        </p:spPr>
      </p:pic>
      <p:sp>
        <p:nvSpPr>
          <p:cNvPr id="5" name="Shape 2"/>
          <p:cNvSpPr/>
          <p:nvPr/>
        </p:nvSpPr>
        <p:spPr>
          <a:xfrm>
            <a:off x="685800" y="3977640"/>
            <a:ext cx="1920240" cy="822960"/>
          </a:xfrm>
          <a:prstGeom prst="rect">
            <a:avLst/>
          </a:prstGeom>
          <a:solidFill>
            <a:srgbClr val="F8F8F8"/>
          </a:solidFill>
          <a:ln/>
        </p:spPr>
        <p:txBody>
          <a:bodyPr/>
          <a:lstStyle/>
          <a:p>
            <a:endParaRPr lang="en-KR"/>
          </a:p>
        </p:txBody>
      </p:sp>
      <p:sp>
        <p:nvSpPr>
          <p:cNvPr id="6" name="Text 3"/>
          <p:cNvSpPr/>
          <p:nvPr/>
        </p:nvSpPr>
        <p:spPr>
          <a:xfrm>
            <a:off x="777240" y="4032504"/>
            <a:ext cx="320040" cy="182880"/>
          </a:xfrm>
          <a:prstGeom prst="rect">
            <a:avLst/>
          </a:prstGeom>
          <a:noFill/>
          <a:ln/>
        </p:spPr>
        <p:txBody>
          <a:bodyPr wrap="square" lIns="0" tIns="0" rIns="0" bIns="0" rtlCol="0" anchor="ctr"/>
          <a:lstStyle/>
          <a:p>
            <a:pPr marL="0" indent="0">
              <a:buNone/>
            </a:pPr>
            <a:r>
              <a:rPr lang="en-US" sz="1000" b="1" dirty="0">
                <a:solidFill>
                  <a:srgbClr val="E8985E"/>
                </a:solidFill>
                <a:latin typeface="Arial" pitchFamily="34" charset="0"/>
                <a:ea typeface="Arial" pitchFamily="34" charset="-122"/>
                <a:cs typeface="Arial" pitchFamily="34" charset="-120"/>
              </a:rPr>
              <a:t>T+0s</a:t>
            </a:r>
            <a:endParaRPr lang="en-US" sz="1000" dirty="0"/>
          </a:p>
        </p:txBody>
      </p:sp>
      <p:sp>
        <p:nvSpPr>
          <p:cNvPr id="7" name="Text 4"/>
          <p:cNvSpPr/>
          <p:nvPr/>
        </p:nvSpPr>
        <p:spPr>
          <a:xfrm>
            <a:off x="1097280" y="4032504"/>
            <a:ext cx="1371600" cy="182880"/>
          </a:xfrm>
          <a:prstGeom prst="rect">
            <a:avLst/>
          </a:prstGeom>
          <a:noFill/>
          <a:ln/>
        </p:spPr>
        <p:txBody>
          <a:bodyPr wrap="square" lIns="0" tIns="0" rIns="0" bIns="0" rtlCol="0" anchor="ctr"/>
          <a:lstStyle/>
          <a:p>
            <a:pPr marL="0" indent="0">
              <a:buNone/>
            </a:pPr>
            <a:r>
              <a:rPr lang="en-US" sz="900" b="1" dirty="0">
                <a:solidFill>
                  <a:srgbClr val="111111"/>
                </a:solidFill>
                <a:latin typeface="Arial" pitchFamily="34" charset="0"/>
                <a:ea typeface="Arial" pitchFamily="34" charset="-122"/>
                <a:cs typeface="Arial" pitchFamily="34" charset="-120"/>
              </a:rPr>
              <a:t>Connect</a:t>
            </a:r>
            <a:endParaRPr lang="en-US" sz="900" dirty="0"/>
          </a:p>
        </p:txBody>
      </p:sp>
      <p:sp>
        <p:nvSpPr>
          <p:cNvPr id="8" name="Text 5"/>
          <p:cNvSpPr/>
          <p:nvPr/>
        </p:nvSpPr>
        <p:spPr>
          <a:xfrm>
            <a:off x="777240" y="4270248"/>
            <a:ext cx="1737360" cy="416052"/>
          </a:xfrm>
          <a:prstGeom prst="rect">
            <a:avLst/>
          </a:prstGeom>
          <a:noFill/>
          <a:ln/>
        </p:spPr>
        <p:txBody>
          <a:bodyPr wrap="square" lIns="0" tIns="0" rIns="0" bIns="0" rtlCol="0" anchor="ctr"/>
          <a:lstStyle/>
          <a:p>
            <a:pPr marL="0" indent="0">
              <a:buNone/>
            </a:pPr>
            <a:r>
              <a:rPr lang="en-US" sz="800" dirty="0">
                <a:solidFill>
                  <a:srgbClr val="666666"/>
                </a:solidFill>
                <a:latin typeface="Arial" pitchFamily="34" charset="0"/>
                <a:ea typeface="Arial" pitchFamily="34" charset="-122"/>
                <a:cs typeface="Arial" pitchFamily="34" charset="-120"/>
              </a:rPr>
              <a:t>Link Slack, Gmail, Notion, Calendar. Smart defaults. No configuration required.</a:t>
            </a:r>
            <a:endParaRPr lang="en-US" sz="800" dirty="0"/>
          </a:p>
        </p:txBody>
      </p:sp>
      <p:sp>
        <p:nvSpPr>
          <p:cNvPr id="9" name="Shape 6"/>
          <p:cNvSpPr/>
          <p:nvPr/>
        </p:nvSpPr>
        <p:spPr>
          <a:xfrm>
            <a:off x="2788920" y="3977640"/>
            <a:ext cx="1920240" cy="822960"/>
          </a:xfrm>
          <a:prstGeom prst="rect">
            <a:avLst/>
          </a:prstGeom>
          <a:solidFill>
            <a:srgbClr val="F8F8F8"/>
          </a:solidFill>
          <a:ln/>
        </p:spPr>
        <p:txBody>
          <a:bodyPr/>
          <a:lstStyle/>
          <a:p>
            <a:endParaRPr lang="en-KR"/>
          </a:p>
        </p:txBody>
      </p:sp>
      <p:sp>
        <p:nvSpPr>
          <p:cNvPr id="10" name="Text 7"/>
          <p:cNvSpPr/>
          <p:nvPr/>
        </p:nvSpPr>
        <p:spPr>
          <a:xfrm>
            <a:off x="2880360" y="4032504"/>
            <a:ext cx="320040" cy="182880"/>
          </a:xfrm>
          <a:prstGeom prst="rect">
            <a:avLst/>
          </a:prstGeom>
          <a:noFill/>
          <a:ln/>
        </p:spPr>
        <p:txBody>
          <a:bodyPr wrap="square" lIns="0" tIns="0" rIns="0" bIns="0" rtlCol="0" anchor="ctr"/>
          <a:lstStyle/>
          <a:p>
            <a:pPr marL="0" indent="0">
              <a:buNone/>
            </a:pPr>
            <a:r>
              <a:rPr lang="en-US" sz="1000" b="1" dirty="0">
                <a:solidFill>
                  <a:srgbClr val="E8985E"/>
                </a:solidFill>
                <a:latin typeface="Arial" pitchFamily="34" charset="0"/>
                <a:ea typeface="Arial" pitchFamily="34" charset="-122"/>
                <a:cs typeface="Arial" pitchFamily="34" charset="-120"/>
              </a:rPr>
              <a:t>T+60s</a:t>
            </a:r>
            <a:endParaRPr lang="en-US" sz="1000" dirty="0"/>
          </a:p>
        </p:txBody>
      </p:sp>
      <p:sp>
        <p:nvSpPr>
          <p:cNvPr id="11" name="Text 8"/>
          <p:cNvSpPr/>
          <p:nvPr/>
        </p:nvSpPr>
        <p:spPr>
          <a:xfrm>
            <a:off x="3200400" y="4032504"/>
            <a:ext cx="1371600" cy="182880"/>
          </a:xfrm>
          <a:prstGeom prst="rect">
            <a:avLst/>
          </a:prstGeom>
          <a:noFill/>
          <a:ln/>
        </p:spPr>
        <p:txBody>
          <a:bodyPr wrap="square" lIns="0" tIns="0" rIns="0" bIns="0" rtlCol="0" anchor="ctr"/>
          <a:lstStyle/>
          <a:p>
            <a:pPr marL="0" indent="0">
              <a:buNone/>
            </a:pPr>
            <a:r>
              <a:rPr lang="en-US" sz="900" b="1" dirty="0">
                <a:solidFill>
                  <a:srgbClr val="111111"/>
                </a:solidFill>
                <a:latin typeface="Arial" pitchFamily="34" charset="0"/>
                <a:ea typeface="Arial" pitchFamily="34" charset="-122"/>
                <a:cs typeface="Arial" pitchFamily="34" charset="-120"/>
              </a:rPr>
              <a:t>Auto-Bootstrap</a:t>
            </a:r>
            <a:endParaRPr lang="en-US" sz="900" dirty="0"/>
          </a:p>
        </p:txBody>
      </p:sp>
      <p:sp>
        <p:nvSpPr>
          <p:cNvPr id="12" name="Text 9"/>
          <p:cNvSpPr/>
          <p:nvPr/>
        </p:nvSpPr>
        <p:spPr>
          <a:xfrm>
            <a:off x="2880360" y="4326229"/>
            <a:ext cx="1737360" cy="292608"/>
          </a:xfrm>
          <a:prstGeom prst="rect">
            <a:avLst/>
          </a:prstGeom>
          <a:noFill/>
          <a:ln/>
        </p:spPr>
        <p:txBody>
          <a:bodyPr wrap="square" lIns="0" tIns="0" rIns="0" bIns="0" rtlCol="0" anchor="ctr"/>
          <a:lstStyle/>
          <a:p>
            <a:pPr marL="0" indent="0">
              <a:buNone/>
            </a:pPr>
            <a:r>
              <a:rPr lang="en-US" sz="800" dirty="0">
                <a:solidFill>
                  <a:srgbClr val="666666"/>
                </a:solidFill>
                <a:latin typeface="Arial" pitchFamily="34" charset="0"/>
                <a:ea typeface="Arial" pitchFamily="34" charset="-122"/>
                <a:cs typeface="Arial" pitchFamily="34" charset="-120"/>
              </a:rPr>
              <a:t>First agent created automatically. First output delivered within minutes.</a:t>
            </a:r>
            <a:endParaRPr lang="en-US" sz="800" dirty="0"/>
          </a:p>
        </p:txBody>
      </p:sp>
      <p:sp>
        <p:nvSpPr>
          <p:cNvPr id="13" name="Shape 10"/>
          <p:cNvSpPr/>
          <p:nvPr/>
        </p:nvSpPr>
        <p:spPr>
          <a:xfrm>
            <a:off x="4892040" y="3977640"/>
            <a:ext cx="1920240" cy="822960"/>
          </a:xfrm>
          <a:prstGeom prst="rect">
            <a:avLst/>
          </a:prstGeom>
          <a:solidFill>
            <a:srgbClr val="F8F8F8"/>
          </a:solidFill>
          <a:ln/>
        </p:spPr>
        <p:txBody>
          <a:bodyPr/>
          <a:lstStyle/>
          <a:p>
            <a:endParaRPr lang="en-KR"/>
          </a:p>
        </p:txBody>
      </p:sp>
      <p:sp>
        <p:nvSpPr>
          <p:cNvPr id="14" name="Text 11"/>
          <p:cNvSpPr/>
          <p:nvPr/>
        </p:nvSpPr>
        <p:spPr>
          <a:xfrm>
            <a:off x="4983480" y="4032504"/>
            <a:ext cx="320040" cy="182880"/>
          </a:xfrm>
          <a:prstGeom prst="rect">
            <a:avLst/>
          </a:prstGeom>
          <a:noFill/>
          <a:ln/>
        </p:spPr>
        <p:txBody>
          <a:bodyPr wrap="square" lIns="0" tIns="0" rIns="0" bIns="0" rtlCol="0" anchor="ctr"/>
          <a:lstStyle/>
          <a:p>
            <a:pPr marL="0" indent="0">
              <a:buNone/>
            </a:pPr>
            <a:r>
              <a:rPr lang="en-US" sz="1000" b="1" dirty="0">
                <a:solidFill>
                  <a:srgbClr val="E8985E"/>
                </a:solidFill>
                <a:latin typeface="Arial" pitchFamily="34" charset="0"/>
                <a:ea typeface="Arial" pitchFamily="34" charset="-122"/>
                <a:cs typeface="Arial" pitchFamily="34" charset="-120"/>
              </a:rPr>
              <a:t>Days</a:t>
            </a:r>
            <a:endParaRPr lang="en-US" sz="1000" dirty="0"/>
          </a:p>
        </p:txBody>
      </p:sp>
      <p:sp>
        <p:nvSpPr>
          <p:cNvPr id="15" name="Text 12"/>
          <p:cNvSpPr/>
          <p:nvPr/>
        </p:nvSpPr>
        <p:spPr>
          <a:xfrm>
            <a:off x="5303520" y="4032504"/>
            <a:ext cx="1371600" cy="182880"/>
          </a:xfrm>
          <a:prstGeom prst="rect">
            <a:avLst/>
          </a:prstGeom>
          <a:noFill/>
          <a:ln/>
        </p:spPr>
        <p:txBody>
          <a:bodyPr wrap="square" lIns="0" tIns="0" rIns="0" bIns="0" rtlCol="0" anchor="ctr"/>
          <a:lstStyle/>
          <a:p>
            <a:pPr marL="0" indent="0">
              <a:buNone/>
            </a:pPr>
            <a:r>
              <a:rPr lang="en-US" sz="900" b="1" dirty="0">
                <a:solidFill>
                  <a:srgbClr val="111111"/>
                </a:solidFill>
                <a:latin typeface="Arial" pitchFamily="34" charset="0"/>
                <a:ea typeface="Arial" pitchFamily="34" charset="-122"/>
                <a:cs typeface="Arial" pitchFamily="34" charset="-120"/>
              </a:rPr>
              <a:t>Accumulate</a:t>
            </a:r>
            <a:endParaRPr lang="en-US" sz="900" dirty="0"/>
          </a:p>
        </p:txBody>
      </p:sp>
      <p:sp>
        <p:nvSpPr>
          <p:cNvPr id="16" name="Text 13"/>
          <p:cNvSpPr/>
          <p:nvPr/>
        </p:nvSpPr>
        <p:spPr>
          <a:xfrm>
            <a:off x="4983480" y="4270248"/>
            <a:ext cx="1737360" cy="292608"/>
          </a:xfrm>
          <a:prstGeom prst="rect">
            <a:avLst/>
          </a:prstGeom>
          <a:noFill/>
          <a:ln/>
        </p:spPr>
        <p:txBody>
          <a:bodyPr wrap="square" lIns="0" tIns="0" rIns="0" bIns="0" rtlCol="0" anchor="ctr"/>
          <a:lstStyle/>
          <a:p>
            <a:pPr marL="0" indent="0">
              <a:buNone/>
            </a:pPr>
            <a:r>
              <a:rPr lang="en-US" sz="800" dirty="0">
                <a:solidFill>
                  <a:srgbClr val="666666"/>
                </a:solidFill>
                <a:latin typeface="Arial" pitchFamily="34" charset="0"/>
                <a:ea typeface="Arial" pitchFamily="34" charset="-122"/>
                <a:cs typeface="Arial" pitchFamily="34" charset="-120"/>
              </a:rPr>
              <a:t>Every sync deepens knowledge.</a:t>
            </a:r>
          </a:p>
          <a:p>
            <a:pPr marL="0" indent="0">
              <a:buNone/>
            </a:pPr>
            <a:r>
              <a:rPr lang="en-US" sz="800" dirty="0">
                <a:solidFill>
                  <a:srgbClr val="666666"/>
                </a:solidFill>
                <a:latin typeface="Arial" pitchFamily="34" charset="0"/>
                <a:cs typeface="Arial" pitchFamily="34" charset="-120"/>
              </a:rPr>
              <a:t>Every edit refines quality.</a:t>
            </a:r>
            <a:endParaRPr lang="en-US" sz="800" dirty="0"/>
          </a:p>
        </p:txBody>
      </p:sp>
      <p:sp>
        <p:nvSpPr>
          <p:cNvPr id="17" name="Shape 14"/>
          <p:cNvSpPr/>
          <p:nvPr/>
        </p:nvSpPr>
        <p:spPr>
          <a:xfrm>
            <a:off x="6995160" y="3977640"/>
            <a:ext cx="1920240" cy="822960"/>
          </a:xfrm>
          <a:prstGeom prst="rect">
            <a:avLst/>
          </a:prstGeom>
          <a:solidFill>
            <a:srgbClr val="F8F8F8"/>
          </a:solidFill>
          <a:ln/>
        </p:spPr>
        <p:txBody>
          <a:bodyPr/>
          <a:lstStyle/>
          <a:p>
            <a:endParaRPr lang="en-KR"/>
          </a:p>
        </p:txBody>
      </p:sp>
      <p:sp>
        <p:nvSpPr>
          <p:cNvPr id="18" name="Text 15"/>
          <p:cNvSpPr/>
          <p:nvPr/>
        </p:nvSpPr>
        <p:spPr>
          <a:xfrm>
            <a:off x="7086600" y="4032504"/>
            <a:ext cx="320040" cy="182880"/>
          </a:xfrm>
          <a:prstGeom prst="rect">
            <a:avLst/>
          </a:prstGeom>
          <a:noFill/>
          <a:ln/>
        </p:spPr>
        <p:txBody>
          <a:bodyPr wrap="square" lIns="0" tIns="0" rIns="0" bIns="0" rtlCol="0" anchor="ctr"/>
          <a:lstStyle/>
          <a:p>
            <a:pPr marL="0" indent="0">
              <a:buNone/>
            </a:pPr>
            <a:r>
              <a:rPr lang="en-US" sz="1000" b="1" dirty="0">
                <a:solidFill>
                  <a:srgbClr val="E8985E"/>
                </a:solidFill>
                <a:latin typeface="Arial" pitchFamily="34" charset="0"/>
                <a:ea typeface="Arial" pitchFamily="34" charset="-122"/>
                <a:cs typeface="Arial" pitchFamily="34" charset="-120"/>
              </a:rPr>
              <a:t>Weeks</a:t>
            </a:r>
            <a:endParaRPr lang="en-US" sz="1000" dirty="0"/>
          </a:p>
        </p:txBody>
      </p:sp>
      <p:sp>
        <p:nvSpPr>
          <p:cNvPr id="19" name="Text 16"/>
          <p:cNvSpPr/>
          <p:nvPr/>
        </p:nvSpPr>
        <p:spPr>
          <a:xfrm>
            <a:off x="7406640" y="4032504"/>
            <a:ext cx="1371600" cy="182880"/>
          </a:xfrm>
          <a:prstGeom prst="rect">
            <a:avLst/>
          </a:prstGeom>
          <a:noFill/>
          <a:ln/>
        </p:spPr>
        <p:txBody>
          <a:bodyPr wrap="square" lIns="0" tIns="0" rIns="0" bIns="0" rtlCol="0" anchor="ctr"/>
          <a:lstStyle/>
          <a:p>
            <a:pPr marL="0" indent="0">
              <a:buNone/>
            </a:pPr>
            <a:r>
              <a:rPr lang="en-US" sz="900" b="1" dirty="0">
                <a:solidFill>
                  <a:srgbClr val="111111"/>
                </a:solidFill>
                <a:latin typeface="Arial" pitchFamily="34" charset="0"/>
                <a:ea typeface="Arial" pitchFamily="34" charset="-122"/>
                <a:cs typeface="Arial" pitchFamily="34" charset="-120"/>
              </a:rPr>
              <a:t>Compose</a:t>
            </a:r>
            <a:endParaRPr lang="en-US" sz="900" dirty="0"/>
          </a:p>
        </p:txBody>
      </p:sp>
      <p:sp>
        <p:nvSpPr>
          <p:cNvPr id="20" name="Text 17"/>
          <p:cNvSpPr/>
          <p:nvPr/>
        </p:nvSpPr>
        <p:spPr>
          <a:xfrm>
            <a:off x="7086600" y="4326229"/>
            <a:ext cx="1737360" cy="292608"/>
          </a:xfrm>
          <a:prstGeom prst="rect">
            <a:avLst/>
          </a:prstGeom>
          <a:noFill/>
          <a:ln/>
        </p:spPr>
        <p:txBody>
          <a:bodyPr wrap="square" lIns="0" tIns="0" rIns="0" bIns="0" rtlCol="0" anchor="ctr"/>
          <a:lstStyle/>
          <a:p>
            <a:pPr marL="0" indent="0">
              <a:buNone/>
            </a:pPr>
            <a:r>
              <a:rPr lang="en-US" sz="800" dirty="0">
                <a:solidFill>
                  <a:srgbClr val="666666"/>
                </a:solidFill>
                <a:latin typeface="Arial" pitchFamily="34" charset="0"/>
                <a:ea typeface="Arial" pitchFamily="34" charset="-122"/>
                <a:cs typeface="Arial" pitchFamily="34" charset="-120"/>
              </a:rPr>
              <a:t>System identifies new agents</a:t>
            </a:r>
          </a:p>
          <a:p>
            <a:pPr marL="0" indent="0">
              <a:buNone/>
            </a:pPr>
            <a:r>
              <a:rPr lang="en-US" sz="800" dirty="0">
                <a:solidFill>
                  <a:srgbClr val="666666"/>
                </a:solidFill>
                <a:latin typeface="Arial" pitchFamily="34" charset="0"/>
                <a:cs typeface="Arial" pitchFamily="34" charset="-120"/>
              </a:rPr>
              <a:t>from your accumulated substrate.</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365760"/>
            <a:ext cx="3657600" cy="228600"/>
          </a:xfrm>
          <a:prstGeom prst="rect">
            <a:avLst/>
          </a:prstGeom>
          <a:noFill/>
          <a:ln/>
        </p:spPr>
        <p:txBody>
          <a:bodyPr wrap="square" lIns="0" tIns="0" rIns="0" bIns="0" rtlCol="0" anchor="ctr"/>
          <a:lstStyle/>
          <a:p>
            <a:pPr marL="0" indent="0">
              <a:buNone/>
            </a:pPr>
            <a:r>
              <a:rPr lang="en-US" sz="1100" b="1" dirty="0">
                <a:solidFill>
                  <a:srgbClr val="E8985E"/>
                </a:solidFill>
                <a:latin typeface="Arial" pitchFamily="34" charset="0"/>
              </a:rPr>
              <a:t>Agent Architecture and Orchestration</a:t>
            </a:r>
          </a:p>
        </p:txBody>
      </p:sp>
      <p:sp>
        <p:nvSpPr>
          <p:cNvPr id="3" name="Text 1"/>
          <p:cNvSpPr/>
          <p:nvPr/>
        </p:nvSpPr>
        <p:spPr>
          <a:xfrm>
            <a:off x="685800" y="594360"/>
            <a:ext cx="7772400" cy="457200"/>
          </a:xfrm>
          <a:prstGeom prst="rect">
            <a:avLst/>
          </a:prstGeom>
          <a:noFill/>
          <a:ln/>
        </p:spPr>
        <p:txBody>
          <a:bodyPr wrap="square" lIns="0" tIns="0" rIns="0" bIns="0" rtlCol="0" anchor="ctr"/>
          <a:lstStyle/>
          <a:p>
            <a:pPr marL="0" indent="0">
              <a:buNone/>
            </a:pPr>
            <a:r>
              <a:rPr lang="en-US" sz="2400" b="1" dirty="0">
                <a:solidFill>
                  <a:srgbClr val="111111"/>
                </a:solidFill>
                <a:latin typeface="Arial" pitchFamily="34" charset="0"/>
              </a:rPr>
              <a:t>Built for Agent-native, autonomous workflows</a:t>
            </a:r>
          </a:p>
        </p:txBody>
      </p:sp>
      <p:sp>
        <p:nvSpPr>
          <p:cNvPr id="4" name="Text 2"/>
          <p:cNvSpPr/>
          <p:nvPr/>
        </p:nvSpPr>
        <p:spPr>
          <a:xfrm>
            <a:off x="685800" y="1051560"/>
            <a:ext cx="7772400" cy="228600"/>
          </a:xfrm>
          <a:prstGeom prst="rect">
            <a:avLst/>
          </a:prstGeom>
          <a:noFill/>
          <a:ln/>
        </p:spPr>
        <p:txBody>
          <a:bodyPr wrap="square" lIns="0" tIns="0" rIns="0" bIns="0" rtlCol="0" anchor="ctr"/>
          <a:lstStyle/>
          <a:p>
            <a:pPr marL="0" indent="0">
              <a:buNone/>
            </a:pPr>
            <a:r>
              <a:rPr lang="en-US" sz="1100" dirty="0">
                <a:solidFill>
                  <a:srgbClr val="999999"/>
                </a:solidFill>
                <a:latin typeface="Arial" pitchFamily="34" charset="0"/>
              </a:rPr>
              <a:t>Every layer purpose-built so knowledge compounds — creating recursive feedback between agent output and intelligence</a:t>
            </a:r>
          </a:p>
        </p:txBody>
      </p:sp>
      <p:sp>
        <p:nvSpPr>
          <p:cNvPr id="10" name="Box1"/>
          <p:cNvSpPr/>
          <p:nvPr/>
        </p:nvSpPr>
        <p:spPr>
          <a:xfrm>
            <a:off x="643287" y="1783080"/>
            <a:ext cx="1296609" cy="731520"/>
          </a:xfrm>
          <a:prstGeom prst="roundRect">
            <a:avLst>
              <a:gd name="adj" fmla="val 8000"/>
            </a:avLst>
          </a:prstGeom>
          <a:solidFill>
            <a:srgbClr val="E8985E"/>
          </a:solidFill>
          <a:ln>
            <a:noFill/>
          </a:ln>
        </p:spPr>
        <p:txBody>
          <a:bodyPr wrap="square" lIns="54000" tIns="36000" rIns="54000" bIns="36000" rtlCol="0" anchor="ctr"/>
          <a:lstStyle/>
          <a:p>
            <a:pPr marL="0" indent="0" algn="ctr">
              <a:buNone/>
            </a:pPr>
            <a:r>
              <a:rPr lang="en-US" sz="1000" b="1" dirty="0">
                <a:solidFill>
                  <a:srgbClr val="FFFFFF"/>
                </a:solidFill>
                <a:latin typeface="Arial" pitchFamily="34" charset="0"/>
              </a:rPr>
              <a:t>Perception Pipeline</a:t>
            </a:r>
          </a:p>
          <a:p>
            <a:pPr marL="0" indent="0" algn="ctr">
              <a:buNone/>
            </a:pPr>
            <a:r>
              <a:rPr lang="en-US" sz="800" dirty="0">
                <a:solidFill>
                  <a:srgbClr val="FFFFFF"/>
                </a:solidFill>
                <a:latin typeface="Arial" pitchFamily="34" charset="0"/>
              </a:rPr>
              <a:t>Slack • Gmail
Notion • Calendar</a:t>
            </a:r>
          </a:p>
        </p:txBody>
      </p:sp>
      <p:sp>
        <p:nvSpPr>
          <p:cNvPr id="20" name="Arrow1"/>
          <p:cNvSpPr/>
          <p:nvPr/>
        </p:nvSpPr>
        <p:spPr>
          <a:xfrm>
            <a:off x="2043968" y="2057400"/>
            <a:ext cx="202595" cy="182880"/>
          </a:xfrm>
          <a:prstGeom prst="rect">
            <a:avLst/>
          </a:prstGeom>
          <a:noFill/>
          <a:ln/>
        </p:spPr>
        <p:txBody>
          <a:bodyPr wrap="square" lIns="0" tIns="0" rIns="0" bIns="0" rtlCol="0" anchor="ctr"/>
          <a:lstStyle/>
          <a:p>
            <a:pPr algn="ctr">
              <a:buNone/>
            </a:pPr>
            <a:r>
              <a:rPr lang="en-US" sz="1400" b="1" dirty="0">
                <a:solidFill>
                  <a:srgbClr val="CCCCCC"/>
                </a:solidFill>
                <a:latin typeface="Arial" pitchFamily="34" charset="0"/>
              </a:rPr>
              <a:t>→</a:t>
            </a:r>
          </a:p>
        </p:txBody>
      </p:sp>
      <p:sp>
        <p:nvSpPr>
          <p:cNvPr id="11" name="Box2"/>
          <p:cNvSpPr/>
          <p:nvPr/>
        </p:nvSpPr>
        <p:spPr>
          <a:xfrm>
            <a:off x="2350635" y="1783080"/>
            <a:ext cx="1296609" cy="731520"/>
          </a:xfrm>
          <a:prstGeom prst="roundRect">
            <a:avLst>
              <a:gd name="adj" fmla="val 8000"/>
            </a:avLst>
          </a:prstGeom>
          <a:solidFill>
            <a:srgbClr val="333333"/>
          </a:solidFill>
          <a:ln>
            <a:noFill/>
          </a:ln>
        </p:spPr>
        <p:txBody>
          <a:bodyPr wrap="square" lIns="54000" tIns="36000" rIns="54000" bIns="36000" rtlCol="0" anchor="ctr"/>
          <a:lstStyle/>
          <a:p>
            <a:pPr marL="0" indent="0" algn="ctr">
              <a:buNone/>
            </a:pPr>
            <a:r>
              <a:rPr lang="en-US" sz="1000" b="1" dirty="0">
                <a:solidFill>
                  <a:srgbClr val="FFFFFF"/>
                </a:solidFill>
                <a:latin typeface="Arial" pitchFamily="34" charset="0"/>
              </a:rPr>
              <a:t>Knowledge Base</a:t>
            </a:r>
          </a:p>
          <a:p>
            <a:pPr marL="0" indent="0" algn="ctr">
              <a:buNone/>
            </a:pPr>
            <a:r>
              <a:rPr lang="en-US" sz="800" dirty="0">
                <a:solidFill>
                  <a:srgbClr val="BBBBBB"/>
                </a:solidFill>
                <a:latin typeface="Arial" pitchFamily="34" charset="0"/>
              </a:rPr>
              <a:t>Unified content
Retention + provenance</a:t>
            </a:r>
          </a:p>
        </p:txBody>
      </p:sp>
      <p:sp>
        <p:nvSpPr>
          <p:cNvPr id="21" name="Arrow2"/>
          <p:cNvSpPr/>
          <p:nvPr/>
        </p:nvSpPr>
        <p:spPr>
          <a:xfrm>
            <a:off x="3751316" y="2057400"/>
            <a:ext cx="202595" cy="182880"/>
          </a:xfrm>
          <a:prstGeom prst="rect">
            <a:avLst/>
          </a:prstGeom>
          <a:noFill/>
          <a:ln/>
        </p:spPr>
        <p:txBody>
          <a:bodyPr wrap="square" lIns="0" tIns="0" rIns="0" bIns="0" rtlCol="0" anchor="ctr"/>
          <a:lstStyle/>
          <a:p>
            <a:pPr algn="ctr">
              <a:buNone/>
            </a:pPr>
            <a:r>
              <a:rPr lang="en-US" sz="1400" b="1" dirty="0">
                <a:solidFill>
                  <a:srgbClr val="CCCCCC"/>
                </a:solidFill>
                <a:latin typeface="Arial" pitchFamily="34" charset="0"/>
              </a:rPr>
              <a:t>→</a:t>
            </a:r>
          </a:p>
        </p:txBody>
      </p:sp>
      <p:sp>
        <p:nvSpPr>
          <p:cNvPr id="12" name="Box3"/>
          <p:cNvSpPr/>
          <p:nvPr/>
        </p:nvSpPr>
        <p:spPr>
          <a:xfrm>
            <a:off x="4057983" y="1783080"/>
            <a:ext cx="1296609" cy="731520"/>
          </a:xfrm>
          <a:prstGeom prst="roundRect">
            <a:avLst>
              <a:gd name="adj" fmla="val 8000"/>
            </a:avLst>
          </a:prstGeom>
          <a:solidFill>
            <a:srgbClr val="333333"/>
          </a:solidFill>
          <a:ln>
            <a:noFill/>
          </a:ln>
        </p:spPr>
        <p:txBody>
          <a:bodyPr wrap="square" lIns="54000" tIns="36000" rIns="54000" bIns="36000" rtlCol="0" anchor="ctr"/>
          <a:lstStyle/>
          <a:p>
            <a:pPr marL="0" indent="0" algn="ctr">
              <a:buNone/>
            </a:pPr>
            <a:r>
              <a:rPr lang="en-US" sz="1000" b="1" dirty="0">
                <a:solidFill>
                  <a:srgbClr val="FFFFFF"/>
                </a:solidFill>
                <a:latin typeface="Arial" pitchFamily="34" charset="0"/>
              </a:rPr>
              <a:t>Memory</a:t>
            </a:r>
          </a:p>
          <a:p>
            <a:pPr marL="0" indent="0" algn="ctr">
              <a:buNone/>
            </a:pPr>
            <a:r>
              <a:rPr lang="en-US" sz="800" dirty="0">
                <a:solidFill>
                  <a:srgbClr val="BBBBBB"/>
                </a:solidFill>
                <a:latin typeface="Arial" pitchFamily="34" charset="0"/>
              </a:rPr>
              <a:t>Workspace + feedback
Edit distillation</a:t>
            </a:r>
          </a:p>
        </p:txBody>
      </p:sp>
      <p:sp>
        <p:nvSpPr>
          <p:cNvPr id="22" name="Arrow3"/>
          <p:cNvSpPr/>
          <p:nvPr/>
        </p:nvSpPr>
        <p:spPr>
          <a:xfrm>
            <a:off x="5458664" y="2057400"/>
            <a:ext cx="202595" cy="182880"/>
          </a:xfrm>
          <a:prstGeom prst="rect">
            <a:avLst/>
          </a:prstGeom>
          <a:noFill/>
          <a:ln/>
        </p:spPr>
        <p:txBody>
          <a:bodyPr wrap="square" lIns="0" tIns="0" rIns="0" bIns="0" rtlCol="0" anchor="ctr"/>
          <a:lstStyle/>
          <a:p>
            <a:pPr algn="ctr">
              <a:buNone/>
            </a:pPr>
            <a:r>
              <a:rPr lang="en-US" sz="1400" b="1" dirty="0">
                <a:solidFill>
                  <a:srgbClr val="CCCCCC"/>
                </a:solidFill>
                <a:latin typeface="Arial" pitchFamily="34" charset="0"/>
              </a:rPr>
              <a:t>→</a:t>
            </a:r>
          </a:p>
        </p:txBody>
      </p:sp>
      <p:sp>
        <p:nvSpPr>
          <p:cNvPr id="13" name="Box4"/>
          <p:cNvSpPr/>
          <p:nvPr/>
        </p:nvSpPr>
        <p:spPr>
          <a:xfrm>
            <a:off x="5765331" y="1783080"/>
            <a:ext cx="1296609" cy="731520"/>
          </a:xfrm>
          <a:prstGeom prst="roundRect">
            <a:avLst>
              <a:gd name="adj" fmla="val 8000"/>
            </a:avLst>
          </a:prstGeom>
          <a:solidFill>
            <a:srgbClr val="333333"/>
          </a:solidFill>
          <a:ln>
            <a:noFill/>
          </a:ln>
        </p:spPr>
        <p:txBody>
          <a:bodyPr wrap="square" lIns="54000" tIns="36000" rIns="54000" bIns="36000" rtlCol="0" anchor="ctr"/>
          <a:lstStyle/>
          <a:p>
            <a:pPr marL="0" indent="0" algn="ctr">
              <a:buNone/>
            </a:pPr>
            <a:r>
              <a:rPr lang="en-US" sz="1000" b="1" dirty="0">
                <a:solidFill>
                  <a:srgbClr val="FFFFFF"/>
                </a:solidFill>
                <a:latin typeface="Arial" pitchFamily="34" charset="0"/>
              </a:rPr>
              <a:t>Agent Engine</a:t>
            </a:r>
          </a:p>
          <a:p>
            <a:pPr marL="0" indent="0" algn="ctr">
              <a:buNone/>
            </a:pPr>
            <a:r>
              <a:rPr lang="en-US" sz="800" dirty="0">
                <a:solidFill>
                  <a:srgbClr val="BBBBBB"/>
                </a:solidFill>
                <a:latin typeface="Arial" pitchFamily="34" charset="0"/>
              </a:rPr>
              <a:t>5 execution modes
Chat + headless</a:t>
            </a:r>
          </a:p>
        </p:txBody>
      </p:sp>
      <p:sp>
        <p:nvSpPr>
          <p:cNvPr id="23" name="Arrow4"/>
          <p:cNvSpPr/>
          <p:nvPr/>
        </p:nvSpPr>
        <p:spPr>
          <a:xfrm>
            <a:off x="7166012" y="2057400"/>
            <a:ext cx="202595" cy="182880"/>
          </a:xfrm>
          <a:prstGeom prst="rect">
            <a:avLst/>
          </a:prstGeom>
          <a:noFill/>
          <a:ln/>
        </p:spPr>
        <p:txBody>
          <a:bodyPr wrap="square" lIns="0" tIns="0" rIns="0" bIns="0" rtlCol="0" anchor="ctr"/>
          <a:lstStyle/>
          <a:p>
            <a:pPr algn="ctr">
              <a:buNone/>
            </a:pPr>
            <a:r>
              <a:rPr lang="en-US" sz="1400" b="1" dirty="0">
                <a:solidFill>
                  <a:srgbClr val="CCCCCC"/>
                </a:solidFill>
                <a:latin typeface="Arial" pitchFamily="34" charset="0"/>
              </a:rPr>
              <a:t>→</a:t>
            </a:r>
          </a:p>
        </p:txBody>
      </p:sp>
      <p:sp>
        <p:nvSpPr>
          <p:cNvPr id="14" name="Box5"/>
          <p:cNvSpPr/>
          <p:nvPr/>
        </p:nvSpPr>
        <p:spPr>
          <a:xfrm>
            <a:off x="7472680" y="1777153"/>
            <a:ext cx="1134533" cy="731520"/>
          </a:xfrm>
          <a:prstGeom prst="roundRect">
            <a:avLst>
              <a:gd name="adj" fmla="val 8000"/>
            </a:avLst>
          </a:prstGeom>
          <a:solidFill>
            <a:srgbClr val="E8985E"/>
          </a:solidFill>
          <a:ln>
            <a:noFill/>
          </a:ln>
        </p:spPr>
        <p:txBody>
          <a:bodyPr wrap="square" lIns="54000" tIns="36000" rIns="54000" bIns="36000" rtlCol="0" anchor="ctr"/>
          <a:lstStyle/>
          <a:p>
            <a:pPr marL="0" indent="0" algn="ctr">
              <a:buNone/>
            </a:pPr>
            <a:r>
              <a:rPr lang="en-US" sz="1000" b="1" dirty="0">
                <a:solidFill>
                  <a:srgbClr val="FFFFFF"/>
                </a:solidFill>
                <a:latin typeface="Arial" pitchFamily="34" charset="0"/>
              </a:rPr>
              <a:t>Agents</a:t>
            </a:r>
          </a:p>
          <a:p>
            <a:pPr marL="0" indent="0" algn="ctr">
              <a:buNone/>
            </a:pPr>
            <a:r>
              <a:rPr lang="en-US" sz="800" dirty="0">
                <a:solidFill>
                  <a:srgbClr val="FFFFFF"/>
                </a:solidFill>
                <a:latin typeface="Arial" pitchFamily="34" charset="0"/>
              </a:rPr>
              <a:t>Rich output via skills
PPTX · PDF · XLSX</a:t>
            </a:r>
          </a:p>
        </p:txBody>
      </p:sp>
      <p:sp>
        <p:nvSpPr>
          <p:cNvPr id="30" name="ValueChain"/>
          <p:cNvSpPr/>
          <p:nvPr/>
        </p:nvSpPr>
        <p:spPr>
          <a:xfrm>
            <a:off x="685800" y="2651760"/>
            <a:ext cx="7772400" cy="274320"/>
          </a:xfrm>
          <a:prstGeom prst="rect">
            <a:avLst/>
          </a:prstGeom>
          <a:noFill/>
          <a:ln/>
        </p:spPr>
        <p:txBody>
          <a:bodyPr wrap="square" lIns="0" tIns="0" rIns="0" bIns="0" rtlCol="0" anchor="ctr"/>
          <a:lstStyle/>
          <a:p>
            <a:pPr marL="0" indent="0" algn="ctr">
              <a:buNone/>
            </a:pPr>
            <a:r>
              <a:rPr lang="en-US" sz="900" b="1" dirty="0">
                <a:solidFill>
                  <a:srgbClr val="E8985E"/>
                </a:solidFill>
                <a:latin typeface="Arial" pitchFamily="34" charset="0"/>
              </a:rPr>
              <a:t>Connect → Perceive → Bootstrap → First Value → Accumulate → Compose → Compound ↻</a:t>
            </a:r>
          </a:p>
        </p:txBody>
      </p:sp>
      <p:sp>
        <p:nvSpPr>
          <p:cNvPr id="15" name="Text 13"/>
          <p:cNvSpPr/>
          <p:nvPr/>
        </p:nvSpPr>
        <p:spPr>
          <a:xfrm>
            <a:off x="685800" y="3017520"/>
            <a:ext cx="7315200" cy="228600"/>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rPr>
              <a:t>Why this can’t be bolted on:</a:t>
            </a:r>
          </a:p>
        </p:txBody>
      </p:sp>
      <p:sp>
        <p:nvSpPr>
          <p:cNvPr id="16" name="Text 14"/>
          <p:cNvSpPr/>
          <p:nvPr/>
        </p:nvSpPr>
        <p:spPr>
          <a:xfrm>
            <a:off x="685800" y="3337560"/>
            <a:ext cx="2560320" cy="182880"/>
          </a:xfrm>
          <a:prstGeom prst="rect">
            <a:avLst/>
          </a:prstGeom>
          <a:noFill/>
          <a:ln/>
        </p:spPr>
        <p:txBody>
          <a:bodyPr wrap="square" lIns="0" tIns="0" rIns="0" bIns="0" rtlCol="0" anchor="ctr"/>
          <a:lstStyle/>
          <a:p>
            <a:pPr marL="0" indent="0">
              <a:buNone/>
            </a:pPr>
            <a:r>
              <a:rPr lang="en-US" sz="1000" b="1" dirty="0">
                <a:solidFill>
                  <a:srgbClr val="111111"/>
                </a:solidFill>
                <a:latin typeface="Arial" pitchFamily="34" charset="0"/>
              </a:rPr>
              <a:t>Big Players, LLM Providers</a:t>
            </a:r>
          </a:p>
        </p:txBody>
      </p:sp>
      <p:sp>
        <p:nvSpPr>
          <p:cNvPr id="17" name="Text 15"/>
          <p:cNvSpPr/>
          <p:nvPr/>
        </p:nvSpPr>
        <p:spPr>
          <a:xfrm>
            <a:off x="685800" y="3520440"/>
            <a:ext cx="2560320" cy="457200"/>
          </a:xfrm>
          <a:prstGeom prst="rect">
            <a:avLst/>
          </a:prstGeom>
          <a:noFill/>
          <a:ln/>
        </p:spPr>
        <p:txBody>
          <a:bodyPr wrap="square" lIns="0" tIns="0" rIns="0" bIns="0" rtlCol="0" anchor="t"/>
          <a:lstStyle/>
          <a:p>
            <a:r>
              <a:rPr lang="en-US" sz="900" dirty="0">
                <a:solidFill>
                  <a:srgbClr val="666666"/>
                </a:solidFill>
                <a:latin typeface="Arial" pitchFamily="34" charset="0"/>
              </a:rPr>
              <a:t>No value chain from connection to compounding.</a:t>
            </a:r>
          </a:p>
          <a:p>
            <a:pPr marL="0" indent="0">
              <a:buNone/>
            </a:pPr>
            <a:r>
              <a:rPr lang="en-US" sz="900" dirty="0">
                <a:solidFill>
                  <a:srgbClr val="666666"/>
                </a:solidFill>
                <a:latin typeface="Arial" pitchFamily="34" charset="0"/>
              </a:rPr>
              <a:t xml:space="preserve">Each session isolated. No agent-to-agent feedback loop. </a:t>
            </a:r>
          </a:p>
        </p:txBody>
      </p:sp>
      <p:sp>
        <p:nvSpPr>
          <p:cNvPr id="18" name="Text 16"/>
          <p:cNvSpPr/>
          <p:nvPr/>
        </p:nvSpPr>
        <p:spPr>
          <a:xfrm>
            <a:off x="3429000" y="3337560"/>
            <a:ext cx="2560320" cy="182880"/>
          </a:xfrm>
          <a:prstGeom prst="rect">
            <a:avLst/>
          </a:prstGeom>
          <a:noFill/>
          <a:ln/>
        </p:spPr>
        <p:txBody>
          <a:bodyPr wrap="square" lIns="0" tIns="0" rIns="0" bIns="0" rtlCol="0" anchor="ctr"/>
          <a:lstStyle/>
          <a:p>
            <a:pPr marL="0" indent="0">
              <a:buNone/>
            </a:pPr>
            <a:r>
              <a:rPr lang="en-US" sz="1000" b="1" dirty="0">
                <a:solidFill>
                  <a:srgbClr val="111111"/>
                </a:solidFill>
                <a:latin typeface="Arial" pitchFamily="34" charset="0"/>
              </a:rPr>
              <a:t>Agent Startups</a:t>
            </a:r>
          </a:p>
        </p:txBody>
      </p:sp>
      <p:sp>
        <p:nvSpPr>
          <p:cNvPr id="19" name="Text 17"/>
          <p:cNvSpPr/>
          <p:nvPr/>
        </p:nvSpPr>
        <p:spPr>
          <a:xfrm>
            <a:off x="3429000" y="3520440"/>
            <a:ext cx="2560320" cy="457200"/>
          </a:xfrm>
          <a:prstGeom prst="rect">
            <a:avLst/>
          </a:prstGeom>
          <a:noFill/>
          <a:ln/>
        </p:spPr>
        <p:txBody>
          <a:bodyPr wrap="square" lIns="0" tIns="0" rIns="0" bIns="0" rtlCol="0" anchor="t"/>
          <a:lstStyle/>
          <a:p>
            <a:pPr marL="0" indent="0">
              <a:buNone/>
            </a:pPr>
            <a:r>
              <a:rPr lang="en-US" sz="900" dirty="0">
                <a:solidFill>
                  <a:srgbClr val="666666"/>
                </a:solidFill>
                <a:latin typeface="Arial" pitchFamily="34" charset="0"/>
              </a:rPr>
              <a:t>Can execute but can’t accumulate.</a:t>
            </a:r>
          </a:p>
          <a:p>
            <a:pPr marL="0" indent="0">
              <a:buNone/>
            </a:pPr>
            <a:r>
              <a:rPr lang="en-US" sz="900" dirty="0">
                <a:solidFill>
                  <a:srgbClr val="666666"/>
                </a:solidFill>
                <a:latin typeface="Arial" pitchFamily="34" charset="0"/>
              </a:rPr>
              <a:t xml:space="preserve">No Phases 5-7 (compounding). </a:t>
            </a:r>
          </a:p>
          <a:p>
            <a:pPr marL="0" indent="0">
              <a:buNone/>
            </a:pPr>
            <a:r>
              <a:rPr lang="en-US" sz="900" dirty="0">
                <a:solidFill>
                  <a:srgbClr val="666666"/>
                </a:solidFill>
                <a:latin typeface="Arial" pitchFamily="34" charset="0"/>
              </a:rPr>
              <a:t>Every run starts fresh.</a:t>
            </a:r>
          </a:p>
        </p:txBody>
      </p:sp>
      <p:sp>
        <p:nvSpPr>
          <p:cNvPr id="24" name="Text 18"/>
          <p:cNvSpPr/>
          <p:nvPr/>
        </p:nvSpPr>
        <p:spPr>
          <a:xfrm>
            <a:off x="6172200" y="3337560"/>
            <a:ext cx="2560320" cy="182880"/>
          </a:xfrm>
          <a:prstGeom prst="rect">
            <a:avLst/>
          </a:prstGeom>
          <a:noFill/>
          <a:ln/>
        </p:spPr>
        <p:txBody>
          <a:bodyPr wrap="square" lIns="0" tIns="0" rIns="0" bIns="0" rtlCol="0" anchor="ctr"/>
          <a:lstStyle/>
          <a:p>
            <a:pPr marL="0" indent="0">
              <a:buNone/>
            </a:pPr>
            <a:r>
              <a:rPr lang="en-US" sz="1000" b="1" dirty="0">
                <a:solidFill>
                  <a:srgbClr val="111111"/>
                </a:solidFill>
                <a:latin typeface="Arial" pitchFamily="34" charset="0"/>
              </a:rPr>
              <a:t>Workspace AI</a:t>
            </a:r>
          </a:p>
        </p:txBody>
      </p:sp>
      <p:sp>
        <p:nvSpPr>
          <p:cNvPr id="25" name="Text 19"/>
          <p:cNvSpPr/>
          <p:nvPr/>
        </p:nvSpPr>
        <p:spPr>
          <a:xfrm>
            <a:off x="6172200" y="3520440"/>
            <a:ext cx="2560320" cy="457200"/>
          </a:xfrm>
          <a:prstGeom prst="rect">
            <a:avLst/>
          </a:prstGeom>
          <a:noFill/>
          <a:ln/>
        </p:spPr>
        <p:txBody>
          <a:bodyPr wrap="square" lIns="0" tIns="0" rIns="0" bIns="0" rtlCol="0" anchor="t"/>
          <a:lstStyle/>
          <a:p>
            <a:pPr marL="0" indent="0">
              <a:buNone/>
            </a:pPr>
            <a:r>
              <a:rPr lang="en-US" sz="900" dirty="0">
                <a:solidFill>
                  <a:srgbClr val="666666"/>
                </a:solidFill>
                <a:latin typeface="Arial" pitchFamily="34" charset="0"/>
              </a:rPr>
              <a:t xml:space="preserve">Trapped in one platform. Can’t compose cross-platform agents. </a:t>
            </a:r>
          </a:p>
          <a:p>
            <a:pPr marL="0" indent="0">
              <a:buNone/>
            </a:pPr>
            <a:r>
              <a:rPr lang="en-US" sz="900" dirty="0">
                <a:solidFill>
                  <a:srgbClr val="666666"/>
                </a:solidFill>
                <a:latin typeface="Arial" pitchFamily="34" charset="0"/>
              </a:rPr>
              <a:t>No recursive perception.</a:t>
            </a:r>
          </a:p>
        </p:txBody>
      </p:sp>
      <p:sp>
        <p:nvSpPr>
          <p:cNvPr id="26" name="Text 20"/>
          <p:cNvSpPr/>
          <p:nvPr/>
        </p:nvSpPr>
        <p:spPr>
          <a:xfrm>
            <a:off x="685800" y="4206240"/>
            <a:ext cx="7772400" cy="274320"/>
          </a:xfrm>
          <a:prstGeom prst="rect">
            <a:avLst/>
          </a:prstGeom>
          <a:noFill/>
          <a:ln/>
        </p:spPr>
        <p:txBody>
          <a:bodyPr wrap="square" lIns="0" tIns="0" rIns="0" bIns="0" rtlCol="0" anchor="ctr"/>
          <a:lstStyle/>
          <a:p>
            <a:r>
              <a:rPr lang="en-US" sz="1000" b="1" dirty="0">
                <a:solidFill>
                  <a:srgbClr val="E8985E"/>
                </a:solidFill>
                <a:latin typeface="Arial" pitchFamily="34" charset="0"/>
              </a:rPr>
              <a:t>Every layer purpose-built for knowledge accumulation, true autonomy + intelligence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365760"/>
            <a:ext cx="3657600" cy="228600"/>
          </a:xfrm>
          <a:prstGeom prst="rect">
            <a:avLst/>
          </a:prstGeom>
          <a:noFill/>
          <a:ln/>
        </p:spPr>
        <p:txBody>
          <a:bodyPr wrap="square" lIns="0" tIns="0" rIns="0" bIns="0" rtlCol="0" anchor="ctr"/>
          <a:lstStyle/>
          <a:p>
            <a:pPr marL="0" indent="0">
              <a:buNone/>
            </a:pPr>
            <a:r>
              <a:rPr lang="en-US" sz="1100" b="1" dirty="0">
                <a:solidFill>
                  <a:srgbClr val="E8985E"/>
                </a:solidFill>
                <a:latin typeface="Arial" pitchFamily="34" charset="0"/>
                <a:ea typeface="Arial" pitchFamily="34" charset="-122"/>
                <a:cs typeface="Arial" pitchFamily="34" charset="-120"/>
              </a:rPr>
              <a:t>Product</a:t>
            </a:r>
            <a:endParaRPr lang="en-US" sz="1100" dirty="0"/>
          </a:p>
        </p:txBody>
      </p:sp>
      <p:sp>
        <p:nvSpPr>
          <p:cNvPr id="3" name="Text 1"/>
          <p:cNvSpPr/>
          <p:nvPr/>
        </p:nvSpPr>
        <p:spPr>
          <a:xfrm>
            <a:off x="685800" y="594360"/>
            <a:ext cx="7772400" cy="457200"/>
          </a:xfrm>
          <a:prstGeom prst="rect">
            <a:avLst/>
          </a:prstGeom>
          <a:noFill/>
          <a:ln/>
        </p:spPr>
        <p:txBody>
          <a:bodyPr wrap="square" lIns="0" tIns="0" rIns="0" bIns="0" rtlCol="0" anchor="ctr"/>
          <a:lstStyle/>
          <a:p>
            <a:pPr marL="0" indent="0">
              <a:buNone/>
            </a:pPr>
            <a:r>
              <a:rPr lang="en-US" sz="2400" b="1" dirty="0">
                <a:solidFill>
                  <a:srgbClr val="111111"/>
                </a:solidFill>
                <a:latin typeface="Arial" pitchFamily="34" charset="0"/>
                <a:ea typeface="Arial" pitchFamily="34" charset="-122"/>
                <a:cs typeface="Arial" pitchFamily="34" charset="-120"/>
              </a:rPr>
              <a:t>How Your Agent Network Grows</a:t>
            </a:r>
            <a:endParaRPr lang="en-US" sz="2400" dirty="0"/>
          </a:p>
        </p:txBody>
      </p:sp>
      <p:sp>
        <p:nvSpPr>
          <p:cNvPr id="4" name="Text 2"/>
          <p:cNvSpPr/>
          <p:nvPr/>
        </p:nvSpPr>
        <p:spPr>
          <a:xfrm>
            <a:off x="685800" y="1051560"/>
            <a:ext cx="7772400" cy="228600"/>
          </a:xfrm>
          <a:prstGeom prst="rect">
            <a:avLst/>
          </a:prstGeom>
          <a:noFill/>
          <a:ln/>
        </p:spPr>
        <p:txBody>
          <a:bodyPr wrap="square" lIns="0" tIns="0" rIns="0" bIns="0" rtlCol="0" anchor="ctr"/>
          <a:lstStyle/>
          <a:p>
            <a:pPr marL="0" indent="0">
              <a:buNone/>
            </a:pPr>
            <a:r>
              <a:rPr lang="en-US" sz="1100" dirty="0">
                <a:solidFill>
                  <a:srgbClr val="999999"/>
                </a:solidFill>
                <a:latin typeface="Arial" pitchFamily="34" charset="0"/>
                <a:ea typeface="Arial" pitchFamily="34" charset="-122"/>
                <a:cs typeface="Arial" pitchFamily="34" charset="-120"/>
              </a:rPr>
              <a:t>You don’t configure agents. The system grows them from your work — each layer builds on the last.</a:t>
            </a:r>
            <a:endParaRPr lang="en-US" sz="1100" dirty="0"/>
          </a:p>
        </p:txBody>
      </p:sp>
      <p:sp>
        <p:nvSpPr>
          <p:cNvPr id="5" name="Shape 3"/>
          <p:cNvSpPr/>
          <p:nvPr/>
        </p:nvSpPr>
        <p:spPr>
          <a:xfrm>
            <a:off x="685800" y="1463040"/>
            <a:ext cx="2606040" cy="2834640"/>
          </a:xfrm>
          <a:prstGeom prst="rect">
            <a:avLst/>
          </a:prstGeom>
          <a:solidFill>
            <a:srgbClr val="E8985E"/>
          </a:solidFill>
          <a:ln/>
        </p:spPr>
        <p:txBody>
          <a:bodyPr/>
          <a:lstStyle/>
          <a:p>
            <a:endParaRPr lang="en-KR"/>
          </a:p>
        </p:txBody>
      </p:sp>
      <p:sp>
        <p:nvSpPr>
          <p:cNvPr id="6" name="Text 4"/>
          <p:cNvSpPr/>
          <p:nvPr/>
        </p:nvSpPr>
        <p:spPr>
          <a:xfrm>
            <a:off x="822960" y="1536192"/>
            <a:ext cx="2331720" cy="182880"/>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rPr>
              <a:t>L1: PLATFORM DIGESTS</a:t>
            </a:r>
          </a:p>
        </p:txBody>
      </p:sp>
      <p:sp>
        <p:nvSpPr>
          <p:cNvPr id="7" name="Text 5"/>
          <p:cNvSpPr/>
          <p:nvPr/>
        </p:nvSpPr>
        <p:spPr>
          <a:xfrm>
            <a:off x="822960" y="1737360"/>
            <a:ext cx="2331720" cy="274320"/>
          </a:xfrm>
          <a:prstGeom prst="rect">
            <a:avLst/>
          </a:prstGeom>
          <a:noFill/>
          <a:ln/>
        </p:spPr>
        <p:txBody>
          <a:bodyPr wrap="square" lIns="0" tIns="0" rIns="0" bIns="0" rtlCol="0" anchor="ctr"/>
          <a:lstStyle/>
          <a:p>
            <a:pPr marL="0" indent="0">
              <a:buNone/>
            </a:pPr>
            <a:r>
              <a:rPr lang="en-US" sz="1400" b="1" dirty="0">
                <a:solidFill>
                  <a:srgbClr val="FFFFFF"/>
                </a:solidFill>
                <a:latin typeface="Arial" pitchFamily="34" charset="0"/>
              </a:rPr>
              <a:t>Auto-Created on Connect</a:t>
            </a:r>
          </a:p>
        </p:txBody>
      </p:sp>
      <p:sp>
        <p:nvSpPr>
          <p:cNvPr id="8" name="Text 6"/>
          <p:cNvSpPr/>
          <p:nvPr/>
        </p:nvSpPr>
        <p:spPr>
          <a:xfrm>
            <a:off x="822960" y="2057400"/>
            <a:ext cx="2331720" cy="457200"/>
          </a:xfrm>
          <a:prstGeom prst="rect">
            <a:avLst/>
          </a:prstGeom>
          <a:noFill/>
          <a:ln/>
        </p:spPr>
        <p:txBody>
          <a:bodyPr wrap="square" lIns="0" tIns="0" rIns="0" bIns="0" rtlCol="0" anchor="t"/>
          <a:lstStyle/>
          <a:p>
            <a:pPr marL="0" indent="0">
              <a:buNone/>
            </a:pPr>
            <a:r>
              <a:rPr lang="en-US" sz="900" dirty="0">
                <a:solidFill>
                  <a:srgbClr val="FFFFFF"/>
                </a:solidFill>
                <a:latin typeface="Arial" pitchFamily="34" charset="0"/>
              </a:rPr>
              <a:t>You connected Slack. 60 seconds later, a Recap Agent ran. Gmail gets a Digest. Calendar gets a Brief. Zero configuration.</a:t>
            </a:r>
          </a:p>
        </p:txBody>
      </p:sp>
      <p:sp>
        <p:nvSpPr>
          <p:cNvPr id="40" name="Line 40"/>
          <p:cNvSpPr/>
          <p:nvPr/>
        </p:nvSpPr>
        <p:spPr>
          <a:xfrm>
            <a:off x="822960" y="2560320"/>
            <a:ext cx="2331720" cy="0"/>
          </a:xfrm>
          <a:prstGeom prst="rect">
            <a:avLst/>
          </a:prstGeom>
          <a:solidFill>
            <a:srgbClr val="D4845A"/>
          </a:solidFill>
          <a:ln>
            <a:noFill/>
          </a:ln>
        </p:spPr>
        <p:txBody>
          <a:bodyPr/>
          <a:lstStyle/>
          <a:p>
            <a:endParaRPr lang="en-KR"/>
          </a:p>
        </p:txBody>
      </p:sp>
      <p:sp>
        <p:nvSpPr>
          <p:cNvPr id="9" name="Text 7"/>
          <p:cNvSpPr/>
          <p:nvPr/>
        </p:nvSpPr>
        <p:spPr>
          <a:xfrm>
            <a:off x="822960" y="2651760"/>
            <a:ext cx="2331720" cy="18288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rPr>
              <a:t>T+60 SECONDS:</a:t>
            </a:r>
          </a:p>
        </p:txBody>
      </p:sp>
      <p:sp>
        <p:nvSpPr>
          <p:cNvPr id="10" name="Text 8"/>
          <p:cNvSpPr/>
          <p:nvPr/>
        </p:nvSpPr>
        <p:spPr>
          <a:xfrm>
            <a:off x="822960" y="2834640"/>
            <a:ext cx="2331720" cy="1280160"/>
          </a:xfrm>
          <a:prstGeom prst="rect">
            <a:avLst/>
          </a:prstGeom>
          <a:noFill/>
          <a:ln/>
        </p:spPr>
        <p:txBody>
          <a:bodyPr wrap="square" lIns="0" tIns="0" rIns="0" bIns="0" rtlCol="0" anchor="t"/>
          <a:lstStyle/>
          <a:p>
            <a:pPr marL="0" indent="0">
              <a:buNone/>
            </a:pPr>
            <a:r>
              <a:rPr lang="en-US" sz="900" dirty="0">
                <a:solidFill>
                  <a:srgbClr val="FFFFFF"/>
                </a:solidFill>
                <a:latin typeface="Arial" pitchFamily="34" charset="0"/>
              </a:rPr>
              <a:t>“Here’s everything from #engineering, your inbox, and 3 Notion updates.” Runs every morning. Improves with every correction.</a:t>
            </a:r>
          </a:p>
        </p:txBody>
      </p:sp>
      <p:sp>
        <p:nvSpPr>
          <p:cNvPr id="11" name="Shape 9"/>
          <p:cNvSpPr/>
          <p:nvPr/>
        </p:nvSpPr>
        <p:spPr>
          <a:xfrm>
            <a:off x="3520440" y="1463040"/>
            <a:ext cx="2606040" cy="2834640"/>
          </a:xfrm>
          <a:prstGeom prst="rect">
            <a:avLst/>
          </a:prstGeom>
          <a:solidFill>
            <a:srgbClr val="F5F5F5"/>
          </a:solidFill>
          <a:ln/>
        </p:spPr>
        <p:txBody>
          <a:bodyPr/>
          <a:lstStyle/>
          <a:p>
            <a:endParaRPr lang="en-KR"/>
          </a:p>
        </p:txBody>
      </p:sp>
      <p:sp>
        <p:nvSpPr>
          <p:cNvPr id="12" name="Text 10"/>
          <p:cNvSpPr/>
          <p:nvPr/>
        </p:nvSpPr>
        <p:spPr>
          <a:xfrm>
            <a:off x="3657600" y="1536192"/>
            <a:ext cx="2331720" cy="182880"/>
          </a:xfrm>
          <a:prstGeom prst="rect">
            <a:avLst/>
          </a:prstGeom>
          <a:noFill/>
          <a:ln/>
        </p:spPr>
        <p:txBody>
          <a:bodyPr wrap="square" lIns="0" tIns="0" rIns="0" bIns="0" rtlCol="0" anchor="ctr"/>
          <a:lstStyle/>
          <a:p>
            <a:pPr marL="0" indent="0">
              <a:buNone/>
            </a:pPr>
            <a:r>
              <a:rPr lang="en-US" sz="900" b="1" dirty="0">
                <a:solidFill>
                  <a:srgbClr val="E8985E"/>
                </a:solidFill>
                <a:latin typeface="Arial" pitchFamily="34" charset="0"/>
              </a:rPr>
              <a:t>L2: SYNTHESIS AGENTS</a:t>
            </a:r>
          </a:p>
        </p:txBody>
      </p:sp>
      <p:sp>
        <p:nvSpPr>
          <p:cNvPr id="13" name="Text 11"/>
          <p:cNvSpPr/>
          <p:nvPr/>
        </p:nvSpPr>
        <p:spPr>
          <a:xfrm>
            <a:off x="3657600" y="1737360"/>
            <a:ext cx="2331720" cy="274320"/>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rPr>
              <a:t>Composer-Created</a:t>
            </a:r>
          </a:p>
        </p:txBody>
      </p:sp>
      <p:sp>
        <p:nvSpPr>
          <p:cNvPr id="14" name="Text 12"/>
          <p:cNvSpPr/>
          <p:nvPr/>
        </p:nvSpPr>
        <p:spPr>
          <a:xfrm>
            <a:off x="3657600" y="2057400"/>
            <a:ext cx="2331720" cy="457200"/>
          </a:xfrm>
          <a:prstGeom prst="rect">
            <a:avLst/>
          </a:prstGeom>
          <a:noFill/>
          <a:ln/>
        </p:spPr>
        <p:txBody>
          <a:bodyPr wrap="square" lIns="0" tIns="0" rIns="0" bIns="0" rtlCol="0" anchor="t"/>
          <a:lstStyle/>
          <a:p>
            <a:pPr marL="0" indent="0">
              <a:buNone/>
            </a:pPr>
            <a:r>
              <a:rPr lang="en-US" sz="900" dirty="0">
                <a:solidFill>
                  <a:srgbClr val="666666"/>
                </a:solidFill>
                <a:latin typeface="Arial" pitchFamily="34" charset="0"/>
              </a:rPr>
              <a:t>The system notices your L1 digests overlap. It creates a cross-platform agent automatically — no prompt from you.</a:t>
            </a:r>
          </a:p>
        </p:txBody>
      </p:sp>
      <p:sp>
        <p:nvSpPr>
          <p:cNvPr id="41" name="Line 41"/>
          <p:cNvSpPr/>
          <p:nvPr/>
        </p:nvSpPr>
        <p:spPr>
          <a:xfrm>
            <a:off x="3657600" y="2560320"/>
            <a:ext cx="2331720" cy="0"/>
          </a:xfrm>
          <a:prstGeom prst="rect">
            <a:avLst/>
          </a:prstGeom>
          <a:solidFill>
            <a:srgbClr val="E0E0E0"/>
          </a:solidFill>
          <a:ln>
            <a:noFill/>
          </a:ln>
        </p:spPr>
        <p:txBody>
          <a:bodyPr/>
          <a:lstStyle/>
          <a:p>
            <a:endParaRPr lang="en-KR"/>
          </a:p>
        </p:txBody>
      </p:sp>
      <p:sp>
        <p:nvSpPr>
          <p:cNvPr id="15" name="Text 13"/>
          <p:cNvSpPr/>
          <p:nvPr/>
        </p:nvSpPr>
        <p:spPr>
          <a:xfrm>
            <a:off x="3657600" y="2651760"/>
            <a:ext cx="2331720" cy="182880"/>
          </a:xfrm>
          <a:prstGeom prst="rect">
            <a:avLst/>
          </a:prstGeom>
          <a:noFill/>
          <a:ln/>
        </p:spPr>
        <p:txBody>
          <a:bodyPr wrap="square" lIns="0" tIns="0" rIns="0" bIns="0" rtlCol="0" anchor="ctr"/>
          <a:lstStyle/>
          <a:p>
            <a:pPr marL="0" indent="0">
              <a:buNone/>
            </a:pPr>
            <a:r>
              <a:rPr lang="en-US" sz="800" b="1" dirty="0">
                <a:solidFill>
                  <a:srgbClr val="E8985E"/>
                </a:solidFill>
                <a:latin typeface="Arial" pitchFamily="34" charset="0"/>
              </a:rPr>
              <a:t>WEEK 2:</a:t>
            </a:r>
          </a:p>
        </p:txBody>
      </p:sp>
      <p:sp>
        <p:nvSpPr>
          <p:cNvPr id="16" name="Text 14"/>
          <p:cNvSpPr/>
          <p:nvPr/>
        </p:nvSpPr>
        <p:spPr>
          <a:xfrm>
            <a:off x="3657600" y="2834640"/>
            <a:ext cx="2331720" cy="1280160"/>
          </a:xfrm>
          <a:prstGeom prst="rect">
            <a:avLst/>
          </a:prstGeom>
          <a:noFill/>
          <a:ln/>
        </p:spPr>
        <p:txBody>
          <a:bodyPr wrap="square" lIns="0" tIns="0" rIns="0" bIns="0" rtlCol="0" anchor="t"/>
          <a:lstStyle/>
          <a:p>
            <a:pPr marL="0" indent="0">
              <a:buNone/>
            </a:pPr>
            <a:r>
              <a:rPr lang="en-US" sz="900" dirty="0">
                <a:solidFill>
                  <a:srgbClr val="666666"/>
                </a:solidFill>
                <a:latin typeface="Arial" pitchFamily="34" charset="0"/>
              </a:rPr>
              <a:t>Composer detects your recurring 1:1 pattern. Creates a Meeting Prep Agent that pulls attendee context from Slack + Gmail + Notion before every meeting.</a:t>
            </a:r>
          </a:p>
        </p:txBody>
      </p:sp>
      <p:sp>
        <p:nvSpPr>
          <p:cNvPr id="17" name="Shape 15"/>
          <p:cNvSpPr/>
          <p:nvPr/>
        </p:nvSpPr>
        <p:spPr>
          <a:xfrm>
            <a:off x="6355080" y="1463040"/>
            <a:ext cx="2606040" cy="2834640"/>
          </a:xfrm>
          <a:prstGeom prst="rect">
            <a:avLst/>
          </a:prstGeom>
          <a:solidFill>
            <a:srgbClr val="F5F5F5"/>
          </a:solidFill>
          <a:ln/>
        </p:spPr>
        <p:txBody>
          <a:bodyPr/>
          <a:lstStyle/>
          <a:p>
            <a:endParaRPr lang="en-KR"/>
          </a:p>
        </p:txBody>
      </p:sp>
      <p:sp>
        <p:nvSpPr>
          <p:cNvPr id="18" name="Text 16"/>
          <p:cNvSpPr/>
          <p:nvPr/>
        </p:nvSpPr>
        <p:spPr>
          <a:xfrm>
            <a:off x="6492240" y="1536192"/>
            <a:ext cx="2331720" cy="182880"/>
          </a:xfrm>
          <a:prstGeom prst="rect">
            <a:avLst/>
          </a:prstGeom>
          <a:noFill/>
          <a:ln/>
        </p:spPr>
        <p:txBody>
          <a:bodyPr wrap="square" lIns="0" tIns="0" rIns="0" bIns="0" rtlCol="0" anchor="ctr"/>
          <a:lstStyle/>
          <a:p>
            <a:pPr marL="0" indent="0">
              <a:buNone/>
            </a:pPr>
            <a:r>
              <a:rPr lang="en-US" sz="900" b="1" dirty="0">
                <a:solidFill>
                  <a:srgbClr val="E8985E"/>
                </a:solidFill>
                <a:latin typeface="Arial" pitchFamily="34" charset="0"/>
              </a:rPr>
              <a:t>L3: INTELLIGENCE AGENTS</a:t>
            </a:r>
          </a:p>
        </p:txBody>
      </p:sp>
      <p:sp>
        <p:nvSpPr>
          <p:cNvPr id="19" name="Text 17"/>
          <p:cNvSpPr/>
          <p:nvPr/>
        </p:nvSpPr>
        <p:spPr>
          <a:xfrm>
            <a:off x="6492240" y="1737360"/>
            <a:ext cx="2331720" cy="274320"/>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rPr>
              <a:t>Compound Insights</a:t>
            </a:r>
          </a:p>
        </p:txBody>
      </p:sp>
      <p:sp>
        <p:nvSpPr>
          <p:cNvPr id="20" name="Text 18"/>
          <p:cNvSpPr/>
          <p:nvPr/>
        </p:nvSpPr>
        <p:spPr>
          <a:xfrm>
            <a:off x="6492240" y="2057400"/>
            <a:ext cx="2331720" cy="457200"/>
          </a:xfrm>
          <a:prstGeom prst="rect">
            <a:avLst/>
          </a:prstGeom>
          <a:noFill/>
          <a:ln/>
        </p:spPr>
        <p:txBody>
          <a:bodyPr wrap="square" lIns="0" tIns="0" rIns="0" bIns="0" rtlCol="0" anchor="t"/>
          <a:lstStyle/>
          <a:p>
            <a:pPr marL="0" indent="0">
              <a:buNone/>
            </a:pPr>
            <a:r>
              <a:rPr lang="en-US" sz="900" dirty="0">
                <a:solidFill>
                  <a:srgbClr val="666666"/>
                </a:solidFill>
                <a:latin typeface="Arial" pitchFamily="34" charset="0"/>
              </a:rPr>
              <a:t>L1 and L2 agents feed a growing knowledge base. L3 agents surface insights no single platform could produce alone.</a:t>
            </a:r>
          </a:p>
        </p:txBody>
      </p:sp>
      <p:sp>
        <p:nvSpPr>
          <p:cNvPr id="42" name="Line 42"/>
          <p:cNvSpPr/>
          <p:nvPr/>
        </p:nvSpPr>
        <p:spPr>
          <a:xfrm>
            <a:off x="6492240" y="2560320"/>
            <a:ext cx="2331720" cy="0"/>
          </a:xfrm>
          <a:prstGeom prst="rect">
            <a:avLst/>
          </a:prstGeom>
          <a:solidFill>
            <a:srgbClr val="E0E0E0"/>
          </a:solidFill>
          <a:ln>
            <a:noFill/>
          </a:ln>
        </p:spPr>
        <p:txBody>
          <a:bodyPr/>
          <a:lstStyle/>
          <a:p>
            <a:endParaRPr lang="en-KR"/>
          </a:p>
        </p:txBody>
      </p:sp>
      <p:sp>
        <p:nvSpPr>
          <p:cNvPr id="21" name="Text 19"/>
          <p:cNvSpPr/>
          <p:nvPr/>
        </p:nvSpPr>
        <p:spPr>
          <a:xfrm>
            <a:off x="6492240" y="2651760"/>
            <a:ext cx="2331720" cy="182880"/>
          </a:xfrm>
          <a:prstGeom prst="rect">
            <a:avLst/>
          </a:prstGeom>
          <a:noFill/>
          <a:ln/>
        </p:spPr>
        <p:txBody>
          <a:bodyPr wrap="square" lIns="0" tIns="0" rIns="0" bIns="0" rtlCol="0" anchor="ctr"/>
          <a:lstStyle/>
          <a:p>
            <a:pPr marL="0" indent="0">
              <a:buNone/>
            </a:pPr>
            <a:r>
              <a:rPr lang="en-US" sz="800" b="1" dirty="0">
                <a:solidFill>
                  <a:srgbClr val="E8985E"/>
                </a:solidFill>
                <a:latin typeface="Arial" pitchFamily="34" charset="0"/>
              </a:rPr>
              <a:t>MONTH 2:</a:t>
            </a:r>
          </a:p>
        </p:txBody>
      </p:sp>
      <p:sp>
        <p:nvSpPr>
          <p:cNvPr id="22" name="Text 20"/>
          <p:cNvSpPr/>
          <p:nvPr/>
        </p:nvSpPr>
        <p:spPr>
          <a:xfrm>
            <a:off x="6492240" y="2834640"/>
            <a:ext cx="2331720" cy="1280160"/>
          </a:xfrm>
          <a:prstGeom prst="rect">
            <a:avLst/>
          </a:prstGeom>
          <a:noFill/>
          <a:ln/>
        </p:spPr>
        <p:txBody>
          <a:bodyPr wrap="square" lIns="0" tIns="0" rIns="0" bIns="0" rtlCol="0" anchor="t"/>
          <a:lstStyle/>
          <a:p>
            <a:pPr marL="0" indent="0">
              <a:buNone/>
            </a:pPr>
            <a:r>
              <a:rPr lang="en-US" sz="900" dirty="0">
                <a:solidFill>
                  <a:srgbClr val="666666"/>
                </a:solidFill>
                <a:latin typeface="Arial" pitchFamily="34" charset="0"/>
              </a:rPr>
              <a:t>“Competitor X was mentioned in 3 Slack channels, 2 client emails, and a Notion brief this week. Here’s a pattern summary.” No human asked for this.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457200"/>
            <a:ext cx="3657600" cy="274320"/>
          </a:xfrm>
          <a:prstGeom prst="rect">
            <a:avLst/>
          </a:prstGeom>
          <a:noFill/>
          <a:ln/>
        </p:spPr>
        <p:txBody>
          <a:bodyPr wrap="square" lIns="0" tIns="0" rIns="0" bIns="0" rtlCol="0" anchor="ctr"/>
          <a:lstStyle/>
          <a:p>
            <a:pPr marL="0" indent="0">
              <a:buNone/>
            </a:pPr>
            <a:r>
              <a:rPr lang="en-US" sz="1100" b="1" dirty="0">
                <a:solidFill>
                  <a:srgbClr val="E8985E"/>
                </a:solidFill>
                <a:latin typeface="Arial" pitchFamily="34" charset="0"/>
                <a:ea typeface="Arial" pitchFamily="34" charset="-122"/>
                <a:cs typeface="Arial" pitchFamily="34" charset="-120"/>
              </a:rPr>
              <a:t>Solution: Moat</a:t>
            </a:r>
            <a:endParaRPr lang="en-US" sz="1100" dirty="0"/>
          </a:p>
        </p:txBody>
      </p:sp>
      <p:sp>
        <p:nvSpPr>
          <p:cNvPr id="3" name="Text 1"/>
          <p:cNvSpPr/>
          <p:nvPr/>
        </p:nvSpPr>
        <p:spPr>
          <a:xfrm>
            <a:off x="685800" y="692779"/>
            <a:ext cx="7772400" cy="640080"/>
          </a:xfrm>
          <a:prstGeom prst="rect">
            <a:avLst/>
          </a:prstGeom>
          <a:noFill/>
          <a:ln/>
        </p:spPr>
        <p:txBody>
          <a:bodyPr wrap="square" lIns="0" tIns="0" rIns="0" bIns="0" rtlCol="0" anchor="ctr"/>
          <a:lstStyle/>
          <a:p>
            <a:pPr marL="0" indent="0">
              <a:buNone/>
            </a:pPr>
            <a:r>
              <a:rPr lang="en-US" sz="2400" b="1" dirty="0">
                <a:solidFill>
                  <a:srgbClr val="111111"/>
                </a:solidFill>
                <a:latin typeface="Arial" pitchFamily="34" charset="0"/>
                <a:ea typeface="Arial" pitchFamily="34" charset="-122"/>
                <a:cs typeface="Arial" pitchFamily="34" charset="-120"/>
              </a:rPr>
              <a:t>Knowledge Compounds. Switching Costs Follow.</a:t>
            </a:r>
            <a:endParaRPr lang="en-US" sz="2400" dirty="0"/>
          </a:p>
        </p:txBody>
      </p:sp>
      <p:sp>
        <p:nvSpPr>
          <p:cNvPr id="4" name="Text 2"/>
          <p:cNvSpPr/>
          <p:nvPr/>
        </p:nvSpPr>
        <p:spPr>
          <a:xfrm>
            <a:off x="685800" y="1356116"/>
            <a:ext cx="7772400" cy="274320"/>
          </a:xfrm>
          <a:prstGeom prst="rect">
            <a:avLst/>
          </a:prstGeom>
          <a:noFill/>
          <a:ln/>
        </p:spPr>
        <p:txBody>
          <a:bodyPr wrap="square" lIns="0" tIns="0" rIns="0" bIns="0" rtlCol="0" anchor="ctr"/>
          <a:lstStyle/>
          <a:p>
            <a:pPr marL="0" indent="0">
              <a:buNone/>
            </a:pPr>
            <a:r>
              <a:rPr lang="en-US" sz="1100" dirty="0">
                <a:solidFill>
                  <a:srgbClr val="999999"/>
                </a:solidFill>
                <a:latin typeface="Arial" pitchFamily="34" charset="0"/>
                <a:ea typeface="Arial" pitchFamily="34" charset="-122"/>
                <a:cs typeface="Arial" pitchFamily="34" charset="-120"/>
              </a:rPr>
              <a:t>Every agent run makes the next one better. Every edit teaches the system. Every sync deepens the knowledge base.</a:t>
            </a:r>
            <a:endParaRPr lang="en-US" sz="1100" dirty="0"/>
          </a:p>
        </p:txBody>
      </p:sp>
      <p:sp>
        <p:nvSpPr>
          <p:cNvPr id="5" name="Text 3"/>
          <p:cNvSpPr/>
          <p:nvPr/>
        </p:nvSpPr>
        <p:spPr>
          <a:xfrm>
            <a:off x="926600" y="1930583"/>
            <a:ext cx="3657600" cy="274320"/>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Three moat mechanics:</a:t>
            </a:r>
            <a:endParaRPr lang="en-US" sz="1400" dirty="0"/>
          </a:p>
        </p:txBody>
      </p:sp>
      <p:sp>
        <p:nvSpPr>
          <p:cNvPr id="6" name="Shape 4"/>
          <p:cNvSpPr/>
          <p:nvPr/>
        </p:nvSpPr>
        <p:spPr>
          <a:xfrm>
            <a:off x="1155200" y="2342063"/>
            <a:ext cx="274320" cy="274320"/>
          </a:xfrm>
          <a:prstGeom prst="line">
            <a:avLst/>
          </a:prstGeom>
          <a:solidFill>
            <a:srgbClr val="E8985E"/>
          </a:solidFill>
          <a:ln/>
        </p:spPr>
        <p:txBody>
          <a:bodyPr/>
          <a:lstStyle/>
          <a:p>
            <a:endParaRPr lang="en-KR"/>
          </a:p>
        </p:txBody>
      </p:sp>
      <p:sp>
        <p:nvSpPr>
          <p:cNvPr id="7" name="Text 5"/>
          <p:cNvSpPr/>
          <p:nvPr/>
        </p:nvSpPr>
        <p:spPr>
          <a:xfrm>
            <a:off x="1155200" y="2342063"/>
            <a:ext cx="274320" cy="274320"/>
          </a:xfrm>
          <a:prstGeom prst="rect">
            <a:avLst/>
          </a:prstGeom>
          <a:noFill/>
          <a:ln/>
        </p:spPr>
        <p:txBody>
          <a:bodyPr wrap="square" lIns="0" tIns="0" rIns="0" bIns="0" rtlCol="0" anchor="ctr"/>
          <a:lstStyle/>
          <a:p>
            <a:pPr marL="0" indent="0" algn="ctr">
              <a:buNone/>
            </a:pPr>
            <a:r>
              <a:rPr lang="en-US" sz="1100" b="1" dirty="0">
                <a:latin typeface="Arial" pitchFamily="34" charset="0"/>
                <a:ea typeface="Arial" pitchFamily="34" charset="-122"/>
                <a:cs typeface="Arial" pitchFamily="34" charset="-120"/>
              </a:rPr>
              <a:t>1</a:t>
            </a:r>
            <a:endParaRPr lang="en-US" sz="1100" dirty="0"/>
          </a:p>
        </p:txBody>
      </p:sp>
      <p:sp>
        <p:nvSpPr>
          <p:cNvPr id="8" name="Text 6"/>
          <p:cNvSpPr/>
          <p:nvPr/>
        </p:nvSpPr>
        <p:spPr>
          <a:xfrm>
            <a:off x="1612400" y="2342063"/>
            <a:ext cx="3200400" cy="274320"/>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Accumulation: Every sync cycle deepens cross-platform understanding. Agents don’t start from zero.</a:t>
            </a:r>
            <a:endParaRPr lang="en-US" sz="1100" dirty="0"/>
          </a:p>
        </p:txBody>
      </p:sp>
      <p:sp>
        <p:nvSpPr>
          <p:cNvPr id="9" name="Shape 7"/>
          <p:cNvSpPr/>
          <p:nvPr/>
        </p:nvSpPr>
        <p:spPr>
          <a:xfrm>
            <a:off x="1155200" y="2799263"/>
            <a:ext cx="274320" cy="274320"/>
          </a:xfrm>
          <a:prstGeom prst="line">
            <a:avLst/>
          </a:prstGeom>
          <a:solidFill>
            <a:srgbClr val="E8985E"/>
          </a:solidFill>
          <a:ln/>
        </p:spPr>
        <p:txBody>
          <a:bodyPr/>
          <a:lstStyle/>
          <a:p>
            <a:endParaRPr lang="en-KR"/>
          </a:p>
        </p:txBody>
      </p:sp>
      <p:sp>
        <p:nvSpPr>
          <p:cNvPr id="10" name="Text 8"/>
          <p:cNvSpPr/>
          <p:nvPr/>
        </p:nvSpPr>
        <p:spPr>
          <a:xfrm>
            <a:off x="1155200" y="2799263"/>
            <a:ext cx="274320" cy="274320"/>
          </a:xfrm>
          <a:prstGeom prst="rect">
            <a:avLst/>
          </a:prstGeom>
          <a:noFill/>
          <a:ln/>
        </p:spPr>
        <p:txBody>
          <a:bodyPr wrap="square" lIns="0" tIns="0" rIns="0" bIns="0" rtlCol="0" anchor="ctr"/>
          <a:lstStyle/>
          <a:p>
            <a:pPr marL="0" indent="0" algn="ctr">
              <a:buNone/>
            </a:pPr>
            <a:r>
              <a:rPr lang="en-US" sz="1100" b="1" dirty="0">
                <a:latin typeface="Arial" pitchFamily="34" charset="0"/>
                <a:ea typeface="Arial" pitchFamily="34" charset="-122"/>
                <a:cs typeface="Arial" pitchFamily="34" charset="-120"/>
              </a:rPr>
              <a:t>2</a:t>
            </a:r>
            <a:endParaRPr lang="en-US" sz="1100" dirty="0"/>
          </a:p>
        </p:txBody>
      </p:sp>
      <p:sp>
        <p:nvSpPr>
          <p:cNvPr id="11" name="Text 9"/>
          <p:cNvSpPr/>
          <p:nvPr/>
        </p:nvSpPr>
        <p:spPr>
          <a:xfrm>
            <a:off x="1612400" y="2799263"/>
            <a:ext cx="3200400" cy="274320"/>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Recursion: Your edits and feedback train agent output quality. The 5th run needs fewer corrections than the 1st.</a:t>
            </a:r>
            <a:endParaRPr lang="en-US" sz="1100" dirty="0"/>
          </a:p>
        </p:txBody>
      </p:sp>
      <p:sp>
        <p:nvSpPr>
          <p:cNvPr id="12" name="Shape 10"/>
          <p:cNvSpPr/>
          <p:nvPr/>
        </p:nvSpPr>
        <p:spPr>
          <a:xfrm>
            <a:off x="1155200" y="3256463"/>
            <a:ext cx="274320" cy="274320"/>
          </a:xfrm>
          <a:prstGeom prst="line">
            <a:avLst/>
          </a:prstGeom>
          <a:solidFill>
            <a:srgbClr val="E8985E"/>
          </a:solidFill>
          <a:ln/>
        </p:spPr>
        <p:txBody>
          <a:bodyPr/>
          <a:lstStyle/>
          <a:p>
            <a:endParaRPr lang="en-KR"/>
          </a:p>
        </p:txBody>
      </p:sp>
      <p:sp>
        <p:nvSpPr>
          <p:cNvPr id="13" name="Text 11"/>
          <p:cNvSpPr/>
          <p:nvPr/>
        </p:nvSpPr>
        <p:spPr>
          <a:xfrm>
            <a:off x="1155200" y="3256463"/>
            <a:ext cx="274320" cy="274320"/>
          </a:xfrm>
          <a:prstGeom prst="rect">
            <a:avLst/>
          </a:prstGeom>
          <a:noFill/>
          <a:ln/>
        </p:spPr>
        <p:txBody>
          <a:bodyPr wrap="square" lIns="0" tIns="0" rIns="0" bIns="0" rtlCol="0" anchor="ctr"/>
          <a:lstStyle/>
          <a:p>
            <a:pPr marL="0" indent="0" algn="ctr">
              <a:buNone/>
            </a:pPr>
            <a:r>
              <a:rPr lang="en-US" sz="1100" b="1" dirty="0">
                <a:latin typeface="Arial" pitchFamily="34" charset="0"/>
                <a:ea typeface="Arial" pitchFamily="34" charset="-122"/>
                <a:cs typeface="Arial" pitchFamily="34" charset="-120"/>
              </a:rPr>
              <a:t>3</a:t>
            </a:r>
            <a:endParaRPr lang="en-US" sz="1100" dirty="0"/>
          </a:p>
        </p:txBody>
      </p:sp>
      <p:sp>
        <p:nvSpPr>
          <p:cNvPr id="14" name="Text 12"/>
          <p:cNvSpPr/>
          <p:nvPr/>
        </p:nvSpPr>
        <p:spPr>
          <a:xfrm>
            <a:off x="1612400" y="3256463"/>
            <a:ext cx="3200400" cy="274320"/>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Irreversibility: 90 days of accumulated knowledge can’t be exported or replicated. Switching means starting over.</a:t>
            </a:r>
            <a:endParaRPr lang="en-US" sz="1100" dirty="0"/>
          </a:p>
        </p:txBody>
      </p:sp>
      <p:sp>
        <p:nvSpPr>
          <p:cNvPr id="15" name="Shape 13"/>
          <p:cNvSpPr/>
          <p:nvPr/>
        </p:nvSpPr>
        <p:spPr>
          <a:xfrm>
            <a:off x="1155200" y="3713663"/>
            <a:ext cx="274320" cy="274320"/>
          </a:xfrm>
          <a:prstGeom prst="line">
            <a:avLst/>
          </a:prstGeom>
          <a:solidFill>
            <a:srgbClr val="E8985E"/>
          </a:solidFill>
          <a:ln/>
        </p:spPr>
        <p:txBody>
          <a:bodyPr/>
          <a:lstStyle/>
          <a:p>
            <a:endParaRPr lang="en-KR"/>
          </a:p>
        </p:txBody>
      </p:sp>
      <p:sp>
        <p:nvSpPr>
          <p:cNvPr id="16" name="Text 14"/>
          <p:cNvSpPr/>
          <p:nvPr/>
        </p:nvSpPr>
        <p:spPr>
          <a:xfrm>
            <a:off x="1155200" y="3713663"/>
            <a:ext cx="274320" cy="274320"/>
          </a:xfrm>
          <a:prstGeom prst="rect">
            <a:avLst/>
          </a:prstGeom>
          <a:noFill/>
          <a:ln/>
        </p:spPr>
        <p:txBody>
          <a:bodyPr wrap="square" lIns="0" tIns="0" rIns="0" bIns="0" rtlCol="0" anchor="ctr"/>
          <a:lstStyle/>
          <a:p>
            <a:pPr marL="0" indent="0" algn="ctr">
              <a:buNone/>
            </a:pPr>
            <a:r>
              <a:rPr lang="en-US" sz="1100" b="1" dirty="0">
                <a:latin typeface="Arial" pitchFamily="34" charset="0"/>
                <a:ea typeface="Arial" pitchFamily="34" charset="-122"/>
                <a:cs typeface="Arial" pitchFamily="34" charset="-120"/>
              </a:rPr>
              <a:t xml:space="preserve"> </a:t>
            </a:r>
            <a:endParaRPr lang="en-US" sz="1100" dirty="0"/>
          </a:p>
        </p:txBody>
      </p:sp>
      <p:sp>
        <p:nvSpPr>
          <p:cNvPr id="17" name="Text 15"/>
          <p:cNvSpPr/>
          <p:nvPr/>
        </p:nvSpPr>
        <p:spPr>
          <a:xfrm>
            <a:off x="1612400" y="3713663"/>
            <a:ext cx="3200400" cy="274320"/>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 xml:space="preserve"> </a:t>
            </a:r>
            <a:endParaRPr lang="en-US" sz="1100" dirty="0"/>
          </a:p>
        </p:txBody>
      </p:sp>
      <p:graphicFrame>
        <p:nvGraphicFramePr>
          <p:cNvPr id="21" name="Diagram 20">
            <a:extLst>
              <a:ext uri="{FF2B5EF4-FFF2-40B4-BE49-F238E27FC236}">
                <a16:creationId xmlns:a16="http://schemas.microsoft.com/office/drawing/2014/main" id="{530B4471-34F8-4AE3-F56B-475499026E88}"/>
              </a:ext>
            </a:extLst>
          </p:cNvPr>
          <p:cNvGraphicFramePr/>
          <p:nvPr>
            <p:extLst>
              <p:ext uri="{D42A27DB-BD31-4B8C-83A1-F6EECF244321}">
                <p14:modId xmlns:p14="http://schemas.microsoft.com/office/powerpoint/2010/main" val="2488049432"/>
              </p:ext>
            </p:extLst>
          </p:nvPr>
        </p:nvGraphicFramePr>
        <p:xfrm>
          <a:off x="5575527" y="1723488"/>
          <a:ext cx="3335867" cy="287433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7" name="TextBox 26">
            <a:extLst>
              <a:ext uri="{FF2B5EF4-FFF2-40B4-BE49-F238E27FC236}">
                <a16:creationId xmlns:a16="http://schemas.microsoft.com/office/drawing/2014/main" id="{3A49476E-BA7E-947C-60B1-703E3E17B1C4}"/>
              </a:ext>
            </a:extLst>
          </p:cNvPr>
          <p:cNvSpPr txBox="1"/>
          <p:nvPr/>
        </p:nvSpPr>
        <p:spPr>
          <a:xfrm>
            <a:off x="6616926" y="1420791"/>
            <a:ext cx="1253067" cy="307777"/>
          </a:xfrm>
          <a:prstGeom prst="rect">
            <a:avLst/>
          </a:prstGeom>
          <a:noFill/>
        </p:spPr>
        <p:txBody>
          <a:bodyPr wrap="square">
            <a:spAutoFit/>
          </a:bodyPr>
          <a:lstStyle/>
          <a:p>
            <a:pPr algn="ctr"/>
            <a:r>
              <a:rPr lang="en-US" sz="700" dirty="0">
                <a:latin typeface="Arial" pitchFamily="34" charset="0"/>
                <a:ea typeface="Arial" pitchFamily="34" charset="-122"/>
                <a:cs typeface="Arial" pitchFamily="34" charset="-120"/>
              </a:rPr>
              <a:t xml:space="preserve">Platforms </a:t>
            </a:r>
            <a:br>
              <a:rPr lang="en-US" sz="700" dirty="0">
                <a:latin typeface="Arial" pitchFamily="34" charset="0"/>
                <a:ea typeface="Arial" pitchFamily="34" charset="-122"/>
                <a:cs typeface="Arial" pitchFamily="34" charset="-120"/>
              </a:rPr>
            </a:br>
            <a:r>
              <a:rPr lang="en-US" sz="700" dirty="0">
                <a:latin typeface="Arial" pitchFamily="34" charset="0"/>
                <a:ea typeface="Arial" pitchFamily="34" charset="-122"/>
                <a:cs typeface="Arial" pitchFamily="34" charset="-120"/>
              </a:rPr>
              <a:t>(Slack, Gmail, Notion, Cal)</a:t>
            </a:r>
            <a:endParaRPr lang="en-KR" sz="700" dirty="0"/>
          </a:p>
        </p:txBody>
      </p:sp>
      <p:sp>
        <p:nvSpPr>
          <p:cNvPr id="28" name="TextBox 27">
            <a:extLst>
              <a:ext uri="{FF2B5EF4-FFF2-40B4-BE49-F238E27FC236}">
                <a16:creationId xmlns:a16="http://schemas.microsoft.com/office/drawing/2014/main" id="{D06D8979-6EC7-A296-826A-9A13A3EB6725}"/>
              </a:ext>
            </a:extLst>
          </p:cNvPr>
          <p:cNvSpPr txBox="1"/>
          <p:nvPr/>
        </p:nvSpPr>
        <p:spPr>
          <a:xfrm>
            <a:off x="7603066" y="3686145"/>
            <a:ext cx="1253067" cy="200055"/>
          </a:xfrm>
          <a:prstGeom prst="rect">
            <a:avLst/>
          </a:prstGeom>
          <a:noFill/>
        </p:spPr>
        <p:txBody>
          <a:bodyPr wrap="square">
            <a:spAutoFit/>
          </a:bodyPr>
          <a:lstStyle/>
          <a:p>
            <a:pPr algn="ctr"/>
            <a:r>
              <a:rPr lang="en-US" sz="700" dirty="0">
                <a:latin typeface="Arial" pitchFamily="34" charset="0"/>
                <a:ea typeface="Arial" pitchFamily="34" charset="-122"/>
                <a:cs typeface="Arial" pitchFamily="34" charset="-120"/>
              </a:rPr>
              <a:t>Knowledge syncs</a:t>
            </a:r>
            <a:endParaRPr lang="en-KR" sz="700" dirty="0"/>
          </a:p>
        </p:txBody>
      </p:sp>
      <p:sp>
        <p:nvSpPr>
          <p:cNvPr id="29" name="TextBox 28">
            <a:extLst>
              <a:ext uri="{FF2B5EF4-FFF2-40B4-BE49-F238E27FC236}">
                <a16:creationId xmlns:a16="http://schemas.microsoft.com/office/drawing/2014/main" id="{82F8AC5E-5362-7328-8B07-40B210AA05E2}"/>
              </a:ext>
            </a:extLst>
          </p:cNvPr>
          <p:cNvSpPr txBox="1"/>
          <p:nvPr/>
        </p:nvSpPr>
        <p:spPr>
          <a:xfrm>
            <a:off x="6616928" y="4612319"/>
            <a:ext cx="1253067" cy="307777"/>
          </a:xfrm>
          <a:prstGeom prst="rect">
            <a:avLst/>
          </a:prstGeom>
          <a:noFill/>
        </p:spPr>
        <p:txBody>
          <a:bodyPr wrap="square">
            <a:spAutoFit/>
          </a:bodyPr>
          <a:lstStyle/>
          <a:p>
            <a:pPr algn="ctr"/>
            <a:r>
              <a:rPr lang="en-US" sz="700" dirty="0">
                <a:latin typeface="Arial" pitchFamily="34" charset="0"/>
                <a:ea typeface="Arial" pitchFamily="34" charset="-122"/>
                <a:cs typeface="Arial" pitchFamily="34" charset="-120"/>
              </a:rPr>
              <a:t>Autonomous Agent System</a:t>
            </a:r>
            <a:endParaRPr lang="en-KR" sz="700" dirty="0"/>
          </a:p>
        </p:txBody>
      </p:sp>
      <p:sp>
        <p:nvSpPr>
          <p:cNvPr id="30" name="TextBox 29">
            <a:extLst>
              <a:ext uri="{FF2B5EF4-FFF2-40B4-BE49-F238E27FC236}">
                <a16:creationId xmlns:a16="http://schemas.microsoft.com/office/drawing/2014/main" id="{A8BB84FC-E222-0486-5108-8F424A7118C6}"/>
              </a:ext>
            </a:extLst>
          </p:cNvPr>
          <p:cNvSpPr txBox="1"/>
          <p:nvPr/>
        </p:nvSpPr>
        <p:spPr>
          <a:xfrm>
            <a:off x="5630788" y="3658948"/>
            <a:ext cx="1253067" cy="307777"/>
          </a:xfrm>
          <a:prstGeom prst="rect">
            <a:avLst/>
          </a:prstGeom>
          <a:noFill/>
        </p:spPr>
        <p:txBody>
          <a:bodyPr wrap="square">
            <a:spAutoFit/>
          </a:bodyPr>
          <a:lstStyle/>
          <a:p>
            <a:pPr algn="ctr"/>
            <a:r>
              <a:rPr lang="en-US" sz="700" dirty="0">
                <a:latin typeface="Arial" pitchFamily="34" charset="0"/>
                <a:ea typeface="Arial" pitchFamily="34" charset="-122"/>
                <a:cs typeface="Arial" pitchFamily="34" charset="-120"/>
              </a:rPr>
              <a:t>Edits, refine</a:t>
            </a:r>
          </a:p>
          <a:p>
            <a:pPr algn="ctr"/>
            <a:r>
              <a:rPr lang="en-US" sz="700" dirty="0">
                <a:latin typeface="Arial" pitchFamily="34" charset="0"/>
                <a:cs typeface="Arial" pitchFamily="34" charset="-120"/>
              </a:rPr>
              <a:t>memory</a:t>
            </a:r>
            <a:endParaRPr lang="en-KR" sz="700" dirty="0"/>
          </a:p>
        </p:txBody>
      </p:sp>
      <p:grpSp>
        <p:nvGrpSpPr>
          <p:cNvPr id="31" name="Group 30">
            <a:extLst>
              <a:ext uri="{FF2B5EF4-FFF2-40B4-BE49-F238E27FC236}">
                <a16:creationId xmlns:a16="http://schemas.microsoft.com/office/drawing/2014/main" id="{F9C8529C-CC3D-BF48-AB6E-02843CEF6C41}"/>
              </a:ext>
            </a:extLst>
          </p:cNvPr>
          <p:cNvGrpSpPr/>
          <p:nvPr/>
        </p:nvGrpSpPr>
        <p:grpSpPr>
          <a:xfrm>
            <a:off x="6835971" y="2740265"/>
            <a:ext cx="814980" cy="814980"/>
            <a:chOff x="1120971" y="469"/>
            <a:chExt cx="814980" cy="814980"/>
          </a:xfrm>
        </p:grpSpPr>
        <p:sp>
          <p:nvSpPr>
            <p:cNvPr id="32" name="Oval 31">
              <a:extLst>
                <a:ext uri="{FF2B5EF4-FFF2-40B4-BE49-F238E27FC236}">
                  <a16:creationId xmlns:a16="http://schemas.microsoft.com/office/drawing/2014/main" id="{4B7ED3F3-071A-45DE-7498-2A52A806024C}"/>
                </a:ext>
              </a:extLst>
            </p:cNvPr>
            <p:cNvSpPr/>
            <p:nvPr/>
          </p:nvSpPr>
          <p:spPr>
            <a:xfrm>
              <a:off x="1120971" y="469"/>
              <a:ext cx="814980" cy="814980"/>
            </a:xfrm>
            <a:prstGeom prst="ellipse">
              <a:avLst/>
            </a:prstGeom>
            <a:solidFill>
              <a:srgbClr val="FFC000"/>
            </a:solidFill>
          </p:spPr>
          <p:style>
            <a:lnRef idx="2">
              <a:schemeClr val="dk1">
                <a:shade val="80000"/>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endParaRPr lang="en-KR" dirty="0"/>
            </a:p>
          </p:txBody>
        </p:sp>
        <p:sp>
          <p:nvSpPr>
            <p:cNvPr id="33" name="Oval 4">
              <a:extLst>
                <a:ext uri="{FF2B5EF4-FFF2-40B4-BE49-F238E27FC236}">
                  <a16:creationId xmlns:a16="http://schemas.microsoft.com/office/drawing/2014/main" id="{93AC93BF-A6E1-0D26-1EE3-32BA4DDF36D3}"/>
                </a:ext>
              </a:extLst>
            </p:cNvPr>
            <p:cNvSpPr txBox="1"/>
            <p:nvPr/>
          </p:nvSpPr>
          <p:spPr>
            <a:xfrm>
              <a:off x="1240322" y="119820"/>
              <a:ext cx="576278" cy="576278"/>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11430" tIns="11430" rIns="11430" bIns="11430" numCol="1" spcCol="1270" anchor="ctr" anchorCtr="0">
              <a:noAutofit/>
            </a:bodyPr>
            <a:lstStyle/>
            <a:p>
              <a:pPr marL="0" lvl="0" indent="0" algn="ctr" defTabSz="400050">
                <a:lnSpc>
                  <a:spcPct val="90000"/>
                </a:lnSpc>
                <a:spcBef>
                  <a:spcPct val="0"/>
                </a:spcBef>
                <a:spcAft>
                  <a:spcPct val="35000"/>
                </a:spcAft>
                <a:buNone/>
              </a:pPr>
              <a:r>
                <a:rPr lang="en-US" sz="700" b="1" dirty="0"/>
                <a:t>Compounding Work Intelligence</a:t>
              </a:r>
              <a:endParaRPr lang="en-US" sz="700" b="1" kern="1200" dirty="0"/>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lide 9"/>
        <p:cNvGrpSpPr/>
        <p:nvPr/>
      </p:nvGrpSpPr>
      <p:grpSpPr>
        <a:xfrm>
          <a:off x="0" y="0"/>
          <a:ext cx="9144000" cy="5143500"/>
          <a:chOff x="0" y="0"/>
          <a:chExt cx="9144000" cy="5143500"/>
        </a:xfrm>
      </p:grpSpPr>
      <p:sp>
        <p:nvSpPr>
          <p:cNvPr id="2" name="Section Label"/>
          <p:cNvSpPr/>
          <p:nvPr/>
        </p:nvSpPr>
        <p:spPr>
          <a:xfrm>
            <a:off x="685800" y="457200"/>
            <a:ext cx="2000000" cy="274320"/>
          </a:xfrm>
          <a:prstGeom prst="rect">
            <a:avLst/>
          </a:prstGeom>
          <a:noFill/>
          <a:ln/>
        </p:spPr>
        <p:txBody>
          <a:bodyPr wrap="square" lIns="0" tIns="0" rIns="0" bIns="0" rtlCol="0" anchor="ctr"/>
          <a:lstStyle/>
          <a:p>
            <a:pPr marL="0" indent="0">
              <a:buNone/>
            </a:pPr>
            <a:r>
              <a:rPr lang="en-US" sz="1100" b="1" dirty="0">
                <a:solidFill>
                  <a:srgbClr val="E8985E"/>
                </a:solidFill>
                <a:latin typeface="Arial" pitchFamily="34" charset="0"/>
                <a:ea typeface="Arial" pitchFamily="34" charset="-122"/>
                <a:cs typeface="Arial" pitchFamily="34" charset="-120"/>
              </a:rPr>
              <a:t>Product</a:t>
            </a:r>
          </a:p>
        </p:txBody>
      </p:sp>
      <p:sp>
        <p:nvSpPr>
          <p:cNvPr id="3" name="Title"/>
          <p:cNvSpPr/>
          <p:nvPr/>
        </p:nvSpPr>
        <p:spPr>
          <a:xfrm>
            <a:off x="685800" y="777240"/>
            <a:ext cx="7772400" cy="457200"/>
          </a:xfrm>
          <a:prstGeom prst="rect">
            <a:avLst/>
          </a:prstGeom>
          <a:noFill/>
          <a:ln/>
        </p:spPr>
        <p:txBody>
          <a:bodyPr wrap="square" lIns="0" tIns="0" rIns="0" bIns="0" rtlCol="0" anchor="ctr"/>
          <a:lstStyle/>
          <a:p>
            <a:pPr marL="0" indent="0">
              <a:buNone/>
            </a:pPr>
            <a:r>
              <a:rPr lang="en-US" sz="2400" b="1" dirty="0">
                <a:solidFill>
                  <a:srgbClr val="111111"/>
                </a:solidFill>
                <a:latin typeface="Arial" pitchFamily="34" charset="0"/>
                <a:ea typeface="Arial" pitchFamily="34" charset="-122"/>
                <a:cs typeface="Arial" pitchFamily="34" charset="-120"/>
              </a:rPr>
              <a:t>Week 1 vs. Week 12</a:t>
            </a:r>
          </a:p>
        </p:txBody>
      </p:sp>
      <p:sp>
        <p:nvSpPr>
          <p:cNvPr id="4" name="Subtitle"/>
          <p:cNvSpPr/>
          <p:nvPr/>
        </p:nvSpPr>
        <p:spPr>
          <a:xfrm>
            <a:off x="685800" y="1371600"/>
            <a:ext cx="7772400" cy="274320"/>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Same agent. Same workflow. Radically different output quality — because knowledge compounds.</a:t>
            </a:r>
          </a:p>
        </p:txBody>
      </p:sp>
      <p:sp>
        <p:nvSpPr>
          <p:cNvPr id="5" name="Card1"/>
          <p:cNvSpPr/>
          <p:nvPr/>
        </p:nvSpPr>
        <p:spPr>
          <a:xfrm>
            <a:off x="685800" y="1970843"/>
            <a:ext cx="2200000" cy="1700000"/>
          </a:xfrm>
          <a:prstGeom prst="rect">
            <a:avLst/>
          </a:prstGeom>
          <a:solidFill>
            <a:srgbClr val="F8F8F8"/>
          </a:solidFill>
          <a:ln>
            <a:solidFill>
              <a:srgbClr val="DEDEDE"/>
            </a:solidFill>
            <a:prstDash val="solid"/>
            <a:round/>
          </a:ln>
        </p:spPr>
        <p:txBody>
          <a:bodyPr wrap="square" lIns="91440" tIns="45720" rIns="91440" bIns="45720" rtlCol="0" anchor="t"/>
          <a:lstStyle/>
          <a:p>
            <a:pPr marL="0" indent="0">
              <a:buNone/>
            </a:pPr>
            <a:r>
              <a:rPr lang="en-US" sz="1100" b="1" dirty="0">
                <a:solidFill>
                  <a:srgbClr val="111111"/>
                </a:solidFill>
                <a:latin typeface="Arial" pitchFamily="34" charset="0"/>
                <a:ea typeface="Arial" pitchFamily="34" charset="-122"/>
                <a:cs typeface="Arial" pitchFamily="34" charset="-120"/>
              </a:rPr>
              <a:t>WEEK 1</a:t>
            </a:r>
          </a:p>
          <a:p>
            <a:pPr marL="0" indent="0">
              <a:buNone/>
            </a:pPr>
            <a:r>
              <a:rPr lang="en-US" sz="900" dirty="0">
                <a:solidFill>
                  <a:srgbClr val="666666"/>
                </a:solidFill>
                <a:latin typeface="Arial" pitchFamily="34" charset="0"/>
                <a:ea typeface="Arial" pitchFamily="34" charset="-122"/>
                <a:cs typeface="Arial" pitchFamily="34" charset="-120"/>
              </a:rPr>
              <a:t>Generic digest. All channels weighted equally. Standard formatting. You correct tone and trim noise.</a:t>
            </a:r>
          </a:p>
          <a:p>
            <a:pPr marL="0" indent="0">
              <a:buNone/>
            </a:pPr>
            <a:r>
              <a:rPr lang="en-US" sz="900" b="1" dirty="0">
                <a:solidFill>
                  <a:srgbClr val="E8985E"/>
                </a:solidFill>
                <a:latin typeface="Arial" pitchFamily="34" charset="0"/>
                <a:ea typeface="Arial" pitchFamily="34" charset="-122"/>
                <a:cs typeface="Arial" pitchFamily="34" charset="-120"/>
              </a:rPr>
              <a:t>What the agent knows:</a:t>
            </a:r>
          </a:p>
          <a:p>
            <a:pPr marL="0" indent="0">
              <a:buNone/>
            </a:pPr>
            <a:r>
              <a:rPr lang="en-US" sz="900" dirty="0">
                <a:solidFill>
                  <a:srgbClr val="666666"/>
                </a:solidFill>
                <a:latin typeface="Arial" pitchFamily="34" charset="0"/>
                <a:ea typeface="Arial" pitchFamily="34" charset="-122"/>
                <a:cs typeface="Arial" pitchFamily="34" charset="-120"/>
              </a:rPr>
              <a:t>Platform structure. Channel names. Message content. Nothing about you.</a:t>
            </a:r>
          </a:p>
        </p:txBody>
      </p:sp>
      <p:sp>
        <p:nvSpPr>
          <p:cNvPr id="6" name="Arrow1"/>
          <p:cNvSpPr/>
          <p:nvPr/>
        </p:nvSpPr>
        <p:spPr>
          <a:xfrm>
            <a:off x="2985800" y="2337043"/>
            <a:ext cx="350000" cy="200000"/>
          </a:xfrm>
          <a:prstGeom prst="rightArrow">
            <a:avLst/>
          </a:prstGeom>
          <a:solidFill>
            <a:srgbClr val="E8985E"/>
          </a:solidFill>
          <a:ln>
            <a:noFill/>
          </a:ln>
        </p:spPr>
        <p:txBody>
          <a:bodyPr wrap="square" lIns="0" tIns="0" rIns="0" bIns="0" rtlCol="0" anchor="ctr"/>
          <a:lstStyle/>
          <a:p>
            <a:pPr marL="0" indent="0">
              <a:buNone/>
            </a:pPr>
            <a:endParaRPr/>
          </a:p>
        </p:txBody>
      </p:sp>
      <p:sp>
        <p:nvSpPr>
          <p:cNvPr id="7" name="Card2"/>
          <p:cNvSpPr/>
          <p:nvPr/>
        </p:nvSpPr>
        <p:spPr>
          <a:xfrm>
            <a:off x="3435800" y="1970843"/>
            <a:ext cx="2200000" cy="1700000"/>
          </a:xfrm>
          <a:prstGeom prst="rect">
            <a:avLst/>
          </a:prstGeom>
          <a:solidFill>
            <a:srgbClr val="E8985E"/>
          </a:solidFill>
          <a:ln>
            <a:solidFill>
              <a:srgbClr val="E8985E"/>
            </a:solidFill>
            <a:prstDash val="solid"/>
            <a:round/>
          </a:ln>
        </p:spPr>
        <p:txBody>
          <a:bodyPr wrap="square" lIns="91440" tIns="45720" rIns="91440" bIns="45720" rtlCol="0" anchor="t"/>
          <a:lstStyle/>
          <a:p>
            <a:pPr marL="0" indent="0">
              <a:buNone/>
            </a:pPr>
            <a:r>
              <a:rPr lang="en-US" sz="1100" b="1" dirty="0">
                <a:solidFill>
                  <a:srgbClr val="FFFFFF"/>
                </a:solidFill>
                <a:latin typeface="Arial" pitchFamily="34" charset="0"/>
                <a:ea typeface="Arial" pitchFamily="34" charset="-122"/>
                <a:cs typeface="Arial" pitchFamily="34" charset="-120"/>
              </a:rPr>
              <a:t>WEEK 4</a:t>
            </a:r>
          </a:p>
          <a:p>
            <a:pPr marL="0" indent="0">
              <a:buNone/>
            </a:pPr>
            <a:r>
              <a:rPr lang="en-US" sz="900" dirty="0">
                <a:solidFill>
                  <a:srgbClr val="FFFFFF"/>
                </a:solidFill>
                <a:latin typeface="Arial" pitchFamily="34" charset="0"/>
                <a:ea typeface="Arial" pitchFamily="34" charset="-122"/>
                <a:cs typeface="Arial" pitchFamily="34" charset="-120"/>
              </a:rPr>
              <a:t>Knows which channels matter to you. Learned your preferred format from edits. Skips noise. Rare corrections.</a:t>
            </a:r>
          </a:p>
          <a:p>
            <a:pPr marL="0" indent="0">
              <a:buNone/>
            </a:pPr>
            <a:r>
              <a:rPr lang="en-US" sz="900" b="1" dirty="0">
                <a:solidFill>
                  <a:srgbClr val="FFFFFF"/>
                </a:solidFill>
                <a:latin typeface="Arial" pitchFamily="34" charset="0"/>
                <a:ea typeface="Arial" pitchFamily="34" charset="-122"/>
                <a:cs typeface="Arial" pitchFamily="34" charset="-120"/>
              </a:rPr>
              <a:t>What the agent knows:</a:t>
            </a:r>
          </a:p>
          <a:p>
            <a:pPr marL="0" indent="0">
              <a:buNone/>
            </a:pPr>
            <a:r>
              <a:rPr lang="en-US" sz="900" dirty="0">
                <a:solidFill>
                  <a:srgbClr val="FFFFFF"/>
                </a:solidFill>
                <a:latin typeface="Arial" pitchFamily="34" charset="0"/>
                <a:ea typeface="Arial" pitchFamily="34" charset="-122"/>
                <a:cs typeface="Arial" pitchFamily="34" charset="-120"/>
              </a:rPr>
              <a:t>Your priorities. Your edit patterns. Which sources you act on vs. ignore.</a:t>
            </a:r>
          </a:p>
        </p:txBody>
      </p:sp>
      <p:sp>
        <p:nvSpPr>
          <p:cNvPr id="8" name="Arrow2"/>
          <p:cNvSpPr/>
          <p:nvPr/>
        </p:nvSpPr>
        <p:spPr>
          <a:xfrm>
            <a:off x="5735800" y="2337043"/>
            <a:ext cx="350000" cy="200000"/>
          </a:xfrm>
          <a:prstGeom prst="rightArrow">
            <a:avLst/>
          </a:prstGeom>
          <a:solidFill>
            <a:srgbClr val="E8985E"/>
          </a:solidFill>
          <a:ln>
            <a:noFill/>
          </a:ln>
        </p:spPr>
        <p:txBody>
          <a:bodyPr wrap="square" lIns="0" tIns="0" rIns="0" bIns="0" rtlCol="0" anchor="ctr"/>
          <a:lstStyle/>
          <a:p>
            <a:pPr marL="0" indent="0">
              <a:buNone/>
            </a:pPr>
            <a:endParaRPr/>
          </a:p>
        </p:txBody>
      </p:sp>
      <p:sp>
        <p:nvSpPr>
          <p:cNvPr id="9" name="Card3"/>
          <p:cNvSpPr/>
          <p:nvPr/>
        </p:nvSpPr>
        <p:spPr>
          <a:xfrm>
            <a:off x="6185800" y="1970843"/>
            <a:ext cx="2200000" cy="1700000"/>
          </a:xfrm>
          <a:prstGeom prst="rect">
            <a:avLst/>
          </a:prstGeom>
          <a:solidFill>
            <a:srgbClr val="F8F8F8"/>
          </a:solidFill>
          <a:ln>
            <a:solidFill>
              <a:srgbClr val="DEDEDE"/>
            </a:solidFill>
            <a:prstDash val="solid"/>
            <a:round/>
          </a:ln>
        </p:spPr>
        <p:txBody>
          <a:bodyPr wrap="square" lIns="91440" tIns="45720" rIns="91440" bIns="45720" rtlCol="0" anchor="t"/>
          <a:lstStyle/>
          <a:p>
            <a:pPr marL="0" indent="0">
              <a:buNone/>
            </a:pPr>
            <a:r>
              <a:rPr lang="en-US" sz="1100" b="1" dirty="0">
                <a:solidFill>
                  <a:srgbClr val="111111"/>
                </a:solidFill>
                <a:latin typeface="Arial" pitchFamily="34" charset="0"/>
                <a:ea typeface="Arial" pitchFamily="34" charset="-122"/>
                <a:cs typeface="Arial" pitchFamily="34" charset="-120"/>
              </a:rPr>
              <a:t>WEEK 12</a:t>
            </a:r>
          </a:p>
          <a:p>
            <a:pPr marL="0" indent="0">
              <a:buNone/>
            </a:pPr>
            <a:r>
              <a:rPr lang="en-US" sz="900" dirty="0">
                <a:solidFill>
                  <a:srgbClr val="666666"/>
                </a:solidFill>
                <a:latin typeface="Arial" pitchFamily="34" charset="0"/>
                <a:ea typeface="Arial" pitchFamily="34" charset="-122"/>
                <a:cs typeface="Arial" pitchFamily="34" charset="-120"/>
              </a:rPr>
              <a:t>Zero corrections needed. Anticipates your priorities before you state them. Cross-references patterns across platforms.</a:t>
            </a:r>
          </a:p>
          <a:p>
            <a:pPr marL="0" indent="0">
              <a:buNone/>
            </a:pPr>
            <a:r>
              <a:rPr lang="en-US" sz="900" b="1" dirty="0">
                <a:solidFill>
                  <a:srgbClr val="E8985E"/>
                </a:solidFill>
                <a:latin typeface="Arial" pitchFamily="34" charset="0"/>
                <a:ea typeface="Arial" pitchFamily="34" charset="-122"/>
                <a:cs typeface="Arial" pitchFamily="34" charset="-120"/>
              </a:rPr>
              <a:t>What the agent knows:</a:t>
            </a:r>
          </a:p>
          <a:p>
            <a:pPr marL="0" indent="0">
              <a:buNone/>
            </a:pPr>
            <a:r>
              <a:rPr lang="en-US" sz="900" dirty="0">
                <a:solidFill>
                  <a:srgbClr val="666666"/>
                </a:solidFill>
                <a:latin typeface="Arial" pitchFamily="34" charset="0"/>
                <a:ea typeface="Arial" pitchFamily="34" charset="-122"/>
                <a:cs typeface="Arial" pitchFamily="34" charset="-120"/>
              </a:rPr>
              <a:t>Your work graph. Cross-platform relationships. Historical patterns. What matters and why.</a:t>
            </a:r>
          </a:p>
        </p:txBody>
      </p:sp>
      <p:sp>
        <p:nvSpPr>
          <p:cNvPr id="10" name="Bottom Insight"/>
          <p:cNvSpPr/>
          <p:nvPr/>
        </p:nvSpPr>
        <p:spPr>
          <a:xfrm>
            <a:off x="685800" y="4572000"/>
            <a:ext cx="7772400" cy="274320"/>
          </a:xfrm>
          <a:prstGeom prst="rect">
            <a:avLst/>
          </a:prstGeom>
          <a:noFill/>
          <a:ln/>
        </p:spPr>
        <p:txBody>
          <a:bodyPr wrap="square" lIns="0" tIns="0" rIns="0" bIns="0" rtlCol="0" anchor="ctr"/>
          <a:lstStyle/>
          <a:p>
            <a:pPr marL="0" indent="0" algn="ctr">
              <a:buNone/>
            </a:pPr>
            <a:r>
              <a:rPr lang="en-US" sz="900" i="1" dirty="0">
                <a:solidFill>
                  <a:srgbClr val="E8985E"/>
                </a:solidFill>
                <a:latin typeface="Arial" pitchFamily="34" charset="0"/>
                <a:ea typeface="Arial" pitchFamily="34" charset="-122"/>
                <a:cs typeface="Arial" pitchFamily="34" charset="-120"/>
              </a:rPr>
              <a:t>This is the gap a competitor can’t close. Starting over means starting from Week 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11111"/>
        </a:solidFill>
        <a:effectLst/>
      </p:bgPr>
    </p:bg>
    <p:spTree>
      <p:nvGrpSpPr>
        <p:cNvPr id="1" name=""/>
        <p:cNvGrpSpPr/>
        <p:nvPr/>
      </p:nvGrpSpPr>
      <p:grpSpPr>
        <a:xfrm>
          <a:off x="0" y="0"/>
          <a:ext cx="0" cy="0"/>
          <a:chOff x="0" y="0"/>
          <a:chExt cx="0" cy="0"/>
        </a:xfrm>
      </p:grpSpPr>
      <p:sp>
        <p:nvSpPr>
          <p:cNvPr id="2" name="Text 0"/>
          <p:cNvSpPr/>
          <p:nvPr/>
        </p:nvSpPr>
        <p:spPr>
          <a:xfrm>
            <a:off x="5042019" y="2012108"/>
            <a:ext cx="3349951" cy="859280"/>
          </a:xfrm>
          <a:prstGeom prst="rect">
            <a:avLst/>
          </a:prstGeom>
          <a:noFill/>
          <a:ln/>
        </p:spPr>
        <p:txBody>
          <a:bodyPr wrap="square" lIns="0" tIns="0" rIns="0" bIns="0" rtlCol="0" anchor="ctr"/>
          <a:lstStyle/>
          <a:p>
            <a:pPr marL="0" indent="0" algn="ctr">
              <a:buNone/>
            </a:pPr>
            <a:r>
              <a:rPr lang="en-US" dirty="0">
                <a:solidFill>
                  <a:schemeClr val="bg1"/>
                </a:solidFill>
                <a:latin typeface="Arial" pitchFamily="34" charset="0"/>
                <a:ea typeface="Arial" pitchFamily="34" charset="-122"/>
                <a:cs typeface="Arial" pitchFamily="34" charset="-120"/>
              </a:rPr>
              <a:t xml:space="preserve">Positioning  •  Market  •  </a:t>
            </a:r>
          </a:p>
          <a:p>
            <a:pPr marL="0" indent="0" algn="ctr">
              <a:buNone/>
            </a:pPr>
            <a:r>
              <a:rPr lang="en-US" dirty="0">
                <a:solidFill>
                  <a:schemeClr val="bg1"/>
                </a:solidFill>
                <a:latin typeface="Arial" pitchFamily="34" charset="0"/>
                <a:ea typeface="Arial" pitchFamily="34" charset="-122"/>
                <a:cs typeface="Arial" pitchFamily="34" charset="-120"/>
              </a:rPr>
              <a:t>Competitive Landscape</a:t>
            </a:r>
            <a:endParaRPr lang="en-US" dirty="0">
              <a:solidFill>
                <a:schemeClr val="bg1"/>
              </a:solidFill>
            </a:endParaRPr>
          </a:p>
        </p:txBody>
      </p:sp>
      <p:pic>
        <p:nvPicPr>
          <p:cNvPr id="3" name="Picture 2" descr="A ball of yarn with a black background  AI-generated content may be incorrect.">
            <a:extLst>
              <a:ext uri="{FF2B5EF4-FFF2-40B4-BE49-F238E27FC236}">
                <a16:creationId xmlns:a16="http://schemas.microsoft.com/office/drawing/2014/main" id="{0A14B4E1-B777-7DE3-2FEF-04E83402638B}"/>
              </a:ext>
            </a:extLst>
          </p:cNvPr>
          <p:cNvPicPr>
            <a:picLocks noChangeAspect="1"/>
          </p:cNvPicPr>
          <p:nvPr/>
        </p:nvPicPr>
        <p:blipFill>
          <a:blip r:embed="rId2"/>
          <a:stretch>
            <a:fillRect/>
          </a:stretch>
        </p:blipFill>
        <p:spPr>
          <a:xfrm>
            <a:off x="1765024" y="1968617"/>
            <a:ext cx="946261" cy="946261"/>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85800" y="457200"/>
            <a:ext cx="3657600" cy="274320"/>
          </a:xfrm>
          <a:prstGeom prst="rect">
            <a:avLst/>
          </a:prstGeom>
          <a:noFill/>
          <a:ln/>
        </p:spPr>
        <p:txBody>
          <a:bodyPr wrap="square" lIns="0" tIns="0" rIns="0" bIns="0" rtlCol="0" anchor="ctr"/>
          <a:lstStyle/>
          <a:p>
            <a:pPr marL="0" indent="0">
              <a:buNone/>
            </a:pPr>
            <a:r>
              <a:rPr lang="en-US" sz="1100" b="1" dirty="0">
                <a:solidFill>
                  <a:srgbClr val="E8985E"/>
                </a:solidFill>
                <a:latin typeface="Arial" pitchFamily="34" charset="0"/>
                <a:ea typeface="Arial" pitchFamily="34" charset="-122"/>
                <a:cs typeface="Arial" pitchFamily="34" charset="-120"/>
              </a:rPr>
              <a:t>Positioning</a:t>
            </a:r>
            <a:endParaRPr lang="en-US" sz="1100" dirty="0"/>
          </a:p>
        </p:txBody>
      </p:sp>
      <p:sp>
        <p:nvSpPr>
          <p:cNvPr id="3" name="Text 1"/>
          <p:cNvSpPr/>
          <p:nvPr/>
        </p:nvSpPr>
        <p:spPr>
          <a:xfrm>
            <a:off x="685800" y="777240"/>
            <a:ext cx="7772400" cy="640080"/>
          </a:xfrm>
          <a:prstGeom prst="rect">
            <a:avLst/>
          </a:prstGeom>
          <a:noFill/>
          <a:ln/>
        </p:spPr>
        <p:txBody>
          <a:bodyPr wrap="square" lIns="0" tIns="0" rIns="0" bIns="0" rtlCol="0" anchor="ctr"/>
          <a:lstStyle/>
          <a:p>
            <a:pPr marL="0" indent="0">
              <a:buNone/>
            </a:pPr>
            <a:r>
              <a:rPr lang="en-US" sz="2400" b="1" dirty="0">
                <a:solidFill>
                  <a:srgbClr val="111111"/>
                </a:solidFill>
                <a:latin typeface="Arial" pitchFamily="34" charset="0"/>
                <a:ea typeface="Arial" pitchFamily="34" charset="-122"/>
                <a:cs typeface="Arial" pitchFamily="34" charset="-120"/>
              </a:rPr>
              <a:t>Not another chatbot. Not another agent framework.</a:t>
            </a:r>
            <a:endParaRPr lang="en-US" sz="2400" dirty="0"/>
          </a:p>
        </p:txBody>
      </p:sp>
      <p:sp>
        <p:nvSpPr>
          <p:cNvPr id="4" name="Text 2"/>
          <p:cNvSpPr/>
          <p:nvPr/>
        </p:nvSpPr>
        <p:spPr>
          <a:xfrm>
            <a:off x="2910097" y="2261088"/>
            <a:ext cx="900000" cy="320040"/>
          </a:xfrm>
          <a:prstGeom prst="rect">
            <a:avLst/>
          </a:prstGeom>
          <a:noFill/>
          <a:ln/>
        </p:spPr>
        <p:txBody>
          <a:bodyPr wrap="square" lIns="0" tIns="0" rIns="0" bIns="0" rtlCol="0" anchor="ctr"/>
          <a:lstStyle/>
          <a:p>
            <a:pPr marL="0" indent="0" algn="ctr">
              <a:buNone/>
            </a:pPr>
            <a:r>
              <a:rPr lang="en-US" sz="800" b="1" dirty="0">
                <a:solidFill>
                  <a:srgbClr val="111111"/>
                </a:solidFill>
                <a:latin typeface="Arial" pitchFamily="34" charset="0"/>
                <a:ea typeface="Arial" pitchFamily="34" charset="-122"/>
                <a:cs typeface="Arial" pitchFamily="34" charset="-120"/>
              </a:rPr>
              <a:t>Big-Players</a:t>
            </a:r>
          </a:p>
          <a:p>
            <a:pPr marL="0" indent="0" algn="ctr">
              <a:buNone/>
            </a:pPr>
            <a:r>
              <a:rPr lang="en-US" sz="800" dirty="0">
                <a:solidFill>
                  <a:srgbClr val="111111"/>
                </a:solidFill>
                <a:latin typeface="Arial" pitchFamily="34" charset="0"/>
                <a:ea typeface="Arial" pitchFamily="34" charset="-122"/>
                <a:cs typeface="Arial" pitchFamily="34" charset="-120"/>
              </a:rPr>
              <a:t>ChatGPT/Claude</a:t>
            </a:r>
            <a:endParaRPr lang="en-US" sz="800" dirty="0"/>
          </a:p>
        </p:txBody>
      </p:sp>
      <p:sp>
        <p:nvSpPr>
          <p:cNvPr id="5" name="Text 3"/>
          <p:cNvSpPr/>
          <p:nvPr/>
        </p:nvSpPr>
        <p:spPr>
          <a:xfrm>
            <a:off x="3899837" y="2261088"/>
            <a:ext cx="900000" cy="320040"/>
          </a:xfrm>
          <a:prstGeom prst="rect">
            <a:avLst/>
          </a:prstGeom>
          <a:noFill/>
          <a:ln/>
        </p:spPr>
        <p:txBody>
          <a:bodyPr wrap="square" lIns="0" tIns="0" rIns="0" bIns="0" rtlCol="0" anchor="ctr"/>
          <a:lstStyle/>
          <a:p>
            <a:pPr marL="0" indent="0" algn="ctr">
              <a:buNone/>
            </a:pPr>
            <a:r>
              <a:rPr lang="en-US" sz="800" b="1" dirty="0">
                <a:solidFill>
                  <a:srgbClr val="111111"/>
                </a:solidFill>
                <a:latin typeface="Arial" pitchFamily="34" charset="0"/>
                <a:ea typeface="Arial" pitchFamily="34" charset="-122"/>
                <a:cs typeface="Arial" pitchFamily="34" charset="-120"/>
              </a:rPr>
              <a:t>Agent Startups</a:t>
            </a:r>
          </a:p>
          <a:p>
            <a:pPr marL="0" indent="0" algn="ctr">
              <a:buNone/>
            </a:pPr>
            <a:r>
              <a:rPr lang="en-US" sz="800" dirty="0" err="1">
                <a:solidFill>
                  <a:srgbClr val="111111"/>
                </a:solidFill>
                <a:latin typeface="Arial" pitchFamily="34" charset="0"/>
                <a:cs typeface="Arial" pitchFamily="34" charset="-120"/>
              </a:rPr>
              <a:t>Mem.ai</a:t>
            </a:r>
            <a:r>
              <a:rPr lang="en-US" sz="800" dirty="0">
                <a:solidFill>
                  <a:srgbClr val="111111"/>
                </a:solidFill>
                <a:latin typeface="Arial" pitchFamily="34" charset="0"/>
                <a:cs typeface="Arial" pitchFamily="34" charset="-120"/>
              </a:rPr>
              <a:t xml:space="preserve">, </a:t>
            </a:r>
            <a:r>
              <a:rPr lang="en-US" sz="800" dirty="0" err="1">
                <a:solidFill>
                  <a:srgbClr val="111111"/>
                </a:solidFill>
                <a:latin typeface="Arial" pitchFamily="34" charset="0"/>
                <a:cs typeface="Arial" pitchFamily="34" charset="-120"/>
              </a:rPr>
              <a:t>Genspark</a:t>
            </a:r>
            <a:endParaRPr lang="en-US" sz="800" dirty="0"/>
          </a:p>
        </p:txBody>
      </p:sp>
      <p:sp>
        <p:nvSpPr>
          <p:cNvPr id="6" name="Text 4"/>
          <p:cNvSpPr/>
          <p:nvPr/>
        </p:nvSpPr>
        <p:spPr>
          <a:xfrm>
            <a:off x="4883905" y="2261088"/>
            <a:ext cx="900000" cy="320040"/>
          </a:xfrm>
          <a:prstGeom prst="rect">
            <a:avLst/>
          </a:prstGeom>
          <a:noFill/>
          <a:ln/>
        </p:spPr>
        <p:txBody>
          <a:bodyPr wrap="square" lIns="0" tIns="0" rIns="0" bIns="0" rtlCol="0" anchor="ctr"/>
          <a:lstStyle/>
          <a:p>
            <a:pPr marL="0" indent="0" algn="ctr">
              <a:buNone/>
            </a:pPr>
            <a:r>
              <a:rPr lang="en-US" sz="800" b="1" dirty="0">
                <a:solidFill>
                  <a:srgbClr val="111111"/>
                </a:solidFill>
                <a:latin typeface="Arial" pitchFamily="34" charset="0"/>
                <a:cs typeface="Arial" pitchFamily="34" charset="-120"/>
              </a:rPr>
              <a:t>Workspaces</a:t>
            </a:r>
            <a:br>
              <a:rPr lang="en-US" sz="800" b="1" dirty="0">
                <a:solidFill>
                  <a:srgbClr val="111111"/>
                </a:solidFill>
                <a:latin typeface="Arial" pitchFamily="34" charset="0"/>
                <a:cs typeface="Arial" pitchFamily="34" charset="-120"/>
              </a:rPr>
            </a:br>
            <a:r>
              <a:rPr lang="en-US" sz="800" dirty="0">
                <a:solidFill>
                  <a:srgbClr val="111111"/>
                </a:solidFill>
                <a:latin typeface="Arial" pitchFamily="34" charset="0"/>
                <a:cs typeface="Arial" pitchFamily="34" charset="-120"/>
              </a:rPr>
              <a:t>Notion, Slack</a:t>
            </a:r>
            <a:endParaRPr lang="en-US" sz="800" dirty="0"/>
          </a:p>
        </p:txBody>
      </p:sp>
      <p:sp>
        <p:nvSpPr>
          <p:cNvPr id="7" name="Text 5"/>
          <p:cNvSpPr/>
          <p:nvPr/>
        </p:nvSpPr>
        <p:spPr>
          <a:xfrm>
            <a:off x="1920357" y="2261088"/>
            <a:ext cx="900000" cy="320040"/>
          </a:xfrm>
          <a:prstGeom prst="rect">
            <a:avLst/>
          </a:prstGeom>
          <a:noFill/>
          <a:ln/>
        </p:spPr>
        <p:txBody>
          <a:bodyPr wrap="square" lIns="0" tIns="0" rIns="0" bIns="0" rtlCol="0" anchor="ctr"/>
          <a:lstStyle/>
          <a:p>
            <a:pPr marL="0" indent="0" algn="ctr">
              <a:buNone/>
            </a:pPr>
            <a:r>
              <a:rPr lang="en-US" sz="900" b="1" dirty="0">
                <a:solidFill>
                  <a:srgbClr val="E8985E"/>
                </a:solidFill>
                <a:latin typeface="Arial" pitchFamily="34" charset="0"/>
                <a:ea typeface="Arial" pitchFamily="34" charset="-122"/>
                <a:cs typeface="Arial" pitchFamily="34" charset="-120"/>
              </a:rPr>
              <a:t>yarnnn</a:t>
            </a:r>
            <a:br>
              <a:rPr lang="en-US" sz="900" b="1" dirty="0">
                <a:solidFill>
                  <a:srgbClr val="E8985E"/>
                </a:solidFill>
                <a:latin typeface="Arial" pitchFamily="34" charset="0"/>
                <a:ea typeface="Arial" pitchFamily="34" charset="-122"/>
                <a:cs typeface="Arial" pitchFamily="34" charset="-120"/>
              </a:rPr>
            </a:br>
            <a:endParaRPr lang="en-US" sz="900" dirty="0"/>
          </a:p>
        </p:txBody>
      </p:sp>
      <p:sp>
        <p:nvSpPr>
          <p:cNvPr id="8" name="Shape 6"/>
          <p:cNvSpPr/>
          <p:nvPr/>
        </p:nvSpPr>
        <p:spPr>
          <a:xfrm>
            <a:off x="685800" y="2626848"/>
            <a:ext cx="5098105" cy="365760"/>
          </a:xfrm>
          <a:prstGeom prst="rect">
            <a:avLst/>
          </a:prstGeom>
          <a:solidFill>
            <a:srgbClr val="F8F8F8"/>
          </a:solidFill>
          <a:ln/>
        </p:spPr>
        <p:txBody>
          <a:bodyPr/>
          <a:lstStyle/>
          <a:p>
            <a:endParaRPr lang="en-KR"/>
          </a:p>
        </p:txBody>
      </p:sp>
      <p:sp>
        <p:nvSpPr>
          <p:cNvPr id="9" name="Text 7"/>
          <p:cNvSpPr/>
          <p:nvPr/>
        </p:nvSpPr>
        <p:spPr>
          <a:xfrm>
            <a:off x="685800" y="2626848"/>
            <a:ext cx="1600200" cy="365760"/>
          </a:xfrm>
          <a:prstGeom prst="rect">
            <a:avLst/>
          </a:prstGeom>
          <a:noFill/>
          <a:ln/>
        </p:spPr>
        <p:txBody>
          <a:bodyPr wrap="square" lIns="0" tIns="0" rIns="0" bIns="0" rtlCol="0" anchor="ctr"/>
          <a:lstStyle/>
          <a:p>
            <a:pPr marL="0" indent="0" algn="l">
              <a:buNone/>
            </a:pPr>
            <a:r>
              <a:rPr lang="en-US" sz="900" dirty="0">
                <a:solidFill>
                  <a:srgbClr val="666666"/>
                </a:solidFill>
                <a:latin typeface="Arial" pitchFamily="34" charset="0"/>
                <a:ea typeface="Arial" pitchFamily="34" charset="-122"/>
                <a:cs typeface="Arial" pitchFamily="34" charset="-120"/>
              </a:rPr>
              <a:t xml:space="preserve">Cross-platform </a:t>
            </a:r>
            <a:br>
              <a:rPr lang="en-US" sz="900" dirty="0">
                <a:solidFill>
                  <a:srgbClr val="666666"/>
                </a:solidFill>
                <a:latin typeface="Arial" pitchFamily="34" charset="0"/>
                <a:ea typeface="Arial" pitchFamily="34" charset="-122"/>
                <a:cs typeface="Arial" pitchFamily="34" charset="-120"/>
              </a:rPr>
            </a:br>
            <a:r>
              <a:rPr lang="en-US" sz="900" dirty="0">
                <a:solidFill>
                  <a:srgbClr val="666666"/>
                </a:solidFill>
                <a:latin typeface="Arial" pitchFamily="34" charset="0"/>
                <a:ea typeface="Arial" pitchFamily="34" charset="-122"/>
                <a:cs typeface="Arial" pitchFamily="34" charset="-120"/>
              </a:rPr>
              <a:t>knowledge accumulation</a:t>
            </a:r>
            <a:endParaRPr lang="en-US" sz="900" dirty="0"/>
          </a:p>
        </p:txBody>
      </p:sp>
      <p:sp>
        <p:nvSpPr>
          <p:cNvPr id="10" name="Text 8"/>
          <p:cNvSpPr/>
          <p:nvPr/>
        </p:nvSpPr>
        <p:spPr>
          <a:xfrm>
            <a:off x="2910097" y="2626848"/>
            <a:ext cx="900000" cy="365760"/>
          </a:xfrm>
          <a:prstGeom prst="rect">
            <a:avLst/>
          </a:prstGeom>
          <a:noFill/>
          <a:ln/>
        </p:spPr>
        <p:txBody>
          <a:bodyPr wrap="square" lIns="0" tIns="0" rIns="0" bIns="0" rtlCol="0" anchor="ctr"/>
          <a:lstStyle/>
          <a:p>
            <a:pPr marL="0" indent="0" algn="ctr">
              <a:buNone/>
            </a:pPr>
            <a:r>
              <a:rPr lang="en-US" sz="900" dirty="0">
                <a:solidFill>
                  <a:srgbClr val="EF4444"/>
                </a:solidFill>
                <a:latin typeface="Arial" pitchFamily="34" charset="0"/>
                <a:ea typeface="Arial" pitchFamily="34" charset="-122"/>
                <a:cs typeface="Arial" pitchFamily="34" charset="-120"/>
              </a:rPr>
              <a:t>✘</a:t>
            </a:r>
            <a:endParaRPr lang="en-US" sz="900" dirty="0"/>
          </a:p>
        </p:txBody>
      </p:sp>
      <p:sp>
        <p:nvSpPr>
          <p:cNvPr id="11" name="Text 9"/>
          <p:cNvSpPr/>
          <p:nvPr/>
        </p:nvSpPr>
        <p:spPr>
          <a:xfrm>
            <a:off x="3899837" y="2626848"/>
            <a:ext cx="900000" cy="365760"/>
          </a:xfrm>
          <a:prstGeom prst="rect">
            <a:avLst/>
          </a:prstGeom>
          <a:noFill/>
          <a:ln/>
        </p:spPr>
        <p:txBody>
          <a:bodyPr wrap="square" lIns="0" tIns="0" rIns="0" bIns="0" rtlCol="0" anchor="ctr"/>
          <a:lstStyle/>
          <a:p>
            <a:pPr marL="0" indent="0" algn="ctr">
              <a:buNone/>
            </a:pPr>
            <a:r>
              <a:rPr lang="en-US" sz="900" dirty="0">
                <a:solidFill>
                  <a:srgbClr val="EF4444"/>
                </a:solidFill>
                <a:latin typeface="Arial" pitchFamily="34" charset="0"/>
                <a:ea typeface="Arial" pitchFamily="34" charset="-122"/>
                <a:cs typeface="Arial" pitchFamily="34" charset="-120"/>
              </a:rPr>
              <a:t>✘</a:t>
            </a:r>
            <a:endParaRPr lang="en-US" sz="900" dirty="0"/>
          </a:p>
        </p:txBody>
      </p:sp>
      <p:sp>
        <p:nvSpPr>
          <p:cNvPr id="12" name="Text 10"/>
          <p:cNvSpPr/>
          <p:nvPr/>
        </p:nvSpPr>
        <p:spPr>
          <a:xfrm>
            <a:off x="4883905" y="2626848"/>
            <a:ext cx="900000" cy="365760"/>
          </a:xfrm>
          <a:prstGeom prst="rect">
            <a:avLst/>
          </a:prstGeom>
          <a:noFill/>
          <a:ln/>
        </p:spPr>
        <p:txBody>
          <a:bodyPr wrap="square" lIns="0" tIns="0" rIns="0" bIns="0" rtlCol="0" anchor="ctr"/>
          <a:lstStyle/>
          <a:p>
            <a:pPr marL="0" indent="0" algn="ctr">
              <a:buNone/>
            </a:pPr>
            <a:r>
              <a:rPr lang="en-US" sz="900" dirty="0">
                <a:solidFill>
                  <a:srgbClr val="999999"/>
                </a:solidFill>
                <a:latin typeface="Arial" pitchFamily="34" charset="0"/>
                <a:ea typeface="Arial" pitchFamily="34" charset="-122"/>
                <a:cs typeface="Arial" pitchFamily="34" charset="-120"/>
              </a:rPr>
              <a:t>Single</a:t>
            </a:r>
            <a:endParaRPr lang="en-US" sz="900" dirty="0"/>
          </a:p>
        </p:txBody>
      </p:sp>
      <p:sp>
        <p:nvSpPr>
          <p:cNvPr id="13" name="Text 11"/>
          <p:cNvSpPr/>
          <p:nvPr/>
        </p:nvSpPr>
        <p:spPr>
          <a:xfrm>
            <a:off x="1920357" y="2626848"/>
            <a:ext cx="900000" cy="365760"/>
          </a:xfrm>
          <a:prstGeom prst="rect">
            <a:avLst/>
          </a:prstGeom>
          <a:noFill/>
          <a:ln/>
        </p:spPr>
        <p:txBody>
          <a:bodyPr wrap="square" lIns="0" tIns="0" rIns="0" bIns="0" rtlCol="0" anchor="ctr"/>
          <a:lstStyle/>
          <a:p>
            <a:pPr marL="0" indent="0" algn="ctr">
              <a:buNone/>
            </a:pPr>
            <a:r>
              <a:rPr lang="en-US" sz="900" dirty="0">
                <a:solidFill>
                  <a:srgbClr val="10B981"/>
                </a:solidFill>
                <a:latin typeface="Arial" pitchFamily="34" charset="0"/>
                <a:ea typeface="Arial" pitchFamily="34" charset="-122"/>
                <a:cs typeface="Arial" pitchFamily="34" charset="-120"/>
              </a:rPr>
              <a:t>✓ Evolving</a:t>
            </a:r>
            <a:endParaRPr lang="en-US" sz="900" dirty="0"/>
          </a:p>
        </p:txBody>
      </p:sp>
      <p:sp>
        <p:nvSpPr>
          <p:cNvPr id="14" name="Text 12"/>
          <p:cNvSpPr/>
          <p:nvPr/>
        </p:nvSpPr>
        <p:spPr>
          <a:xfrm>
            <a:off x="685800" y="3010896"/>
            <a:ext cx="1600200" cy="365760"/>
          </a:xfrm>
          <a:prstGeom prst="rect">
            <a:avLst/>
          </a:prstGeom>
          <a:noFill/>
          <a:ln/>
        </p:spPr>
        <p:txBody>
          <a:bodyPr wrap="square" lIns="0" tIns="0" rIns="0" bIns="0" rtlCol="0" anchor="ctr"/>
          <a:lstStyle/>
          <a:p>
            <a:pPr marL="0" indent="0" algn="l">
              <a:buNone/>
            </a:pPr>
            <a:r>
              <a:rPr lang="en-US" sz="900" dirty="0">
                <a:solidFill>
                  <a:srgbClr val="666666"/>
                </a:solidFill>
                <a:latin typeface="Arial" pitchFamily="34" charset="0"/>
                <a:ea typeface="Arial" pitchFamily="34" charset="-122"/>
                <a:cs typeface="Arial" pitchFamily="34" charset="-120"/>
              </a:rPr>
              <a:t>Cross-platform sync</a:t>
            </a:r>
            <a:endParaRPr lang="en-US" sz="900" dirty="0"/>
          </a:p>
        </p:txBody>
      </p:sp>
      <p:sp>
        <p:nvSpPr>
          <p:cNvPr id="15" name="Text 13"/>
          <p:cNvSpPr/>
          <p:nvPr/>
        </p:nvSpPr>
        <p:spPr>
          <a:xfrm>
            <a:off x="2910097" y="3010896"/>
            <a:ext cx="900000" cy="365760"/>
          </a:xfrm>
          <a:prstGeom prst="rect">
            <a:avLst/>
          </a:prstGeom>
          <a:noFill/>
          <a:ln/>
        </p:spPr>
        <p:txBody>
          <a:bodyPr wrap="square" lIns="0" tIns="0" rIns="0" bIns="0" rtlCol="0" anchor="ctr"/>
          <a:lstStyle/>
          <a:p>
            <a:pPr marL="0" indent="0" algn="ctr">
              <a:buNone/>
            </a:pPr>
            <a:r>
              <a:rPr lang="en-US" sz="900" dirty="0">
                <a:solidFill>
                  <a:srgbClr val="EF4444"/>
                </a:solidFill>
                <a:latin typeface="Arial" pitchFamily="34" charset="0"/>
                <a:ea typeface="Arial" pitchFamily="34" charset="-122"/>
                <a:cs typeface="Arial" pitchFamily="34" charset="-120"/>
              </a:rPr>
              <a:t>✘</a:t>
            </a:r>
            <a:endParaRPr lang="en-US" sz="900" dirty="0"/>
          </a:p>
        </p:txBody>
      </p:sp>
      <p:sp>
        <p:nvSpPr>
          <p:cNvPr id="16" name="Text 14"/>
          <p:cNvSpPr/>
          <p:nvPr/>
        </p:nvSpPr>
        <p:spPr>
          <a:xfrm>
            <a:off x="3899837" y="3010896"/>
            <a:ext cx="900000" cy="365760"/>
          </a:xfrm>
          <a:prstGeom prst="rect">
            <a:avLst/>
          </a:prstGeom>
          <a:noFill/>
          <a:ln/>
        </p:spPr>
        <p:txBody>
          <a:bodyPr wrap="square" lIns="0" tIns="0" rIns="0" bIns="0" rtlCol="0" anchor="ctr"/>
          <a:lstStyle/>
          <a:p>
            <a:pPr marL="0" indent="0" algn="ctr">
              <a:buNone/>
            </a:pPr>
            <a:r>
              <a:rPr lang="en-US" sz="900" dirty="0">
                <a:solidFill>
                  <a:srgbClr val="EF4444"/>
                </a:solidFill>
                <a:latin typeface="Arial" pitchFamily="34" charset="0"/>
                <a:ea typeface="Arial" pitchFamily="34" charset="-122"/>
                <a:cs typeface="Arial" pitchFamily="34" charset="-120"/>
              </a:rPr>
              <a:t>✘</a:t>
            </a:r>
            <a:endParaRPr lang="en-US" sz="900" dirty="0"/>
          </a:p>
        </p:txBody>
      </p:sp>
      <p:sp>
        <p:nvSpPr>
          <p:cNvPr id="17" name="Text 15"/>
          <p:cNvSpPr/>
          <p:nvPr/>
        </p:nvSpPr>
        <p:spPr>
          <a:xfrm>
            <a:off x="4883905" y="3010896"/>
            <a:ext cx="900000" cy="365760"/>
          </a:xfrm>
          <a:prstGeom prst="rect">
            <a:avLst/>
          </a:prstGeom>
          <a:noFill/>
          <a:ln/>
        </p:spPr>
        <p:txBody>
          <a:bodyPr wrap="square" lIns="0" tIns="0" rIns="0" bIns="0" rtlCol="0" anchor="ctr"/>
          <a:lstStyle/>
          <a:p>
            <a:pPr marL="0" indent="0" algn="ctr">
              <a:buNone/>
            </a:pPr>
            <a:r>
              <a:rPr lang="en-US" sz="900" dirty="0">
                <a:solidFill>
                  <a:srgbClr val="EF4444"/>
                </a:solidFill>
                <a:latin typeface="Arial" pitchFamily="34" charset="0"/>
                <a:ea typeface="Arial" pitchFamily="34" charset="-122"/>
                <a:cs typeface="Arial" pitchFamily="34" charset="-120"/>
              </a:rPr>
              <a:t>✘</a:t>
            </a:r>
            <a:endParaRPr lang="en-US" sz="900" dirty="0"/>
          </a:p>
        </p:txBody>
      </p:sp>
      <p:sp>
        <p:nvSpPr>
          <p:cNvPr id="18" name="Text 16"/>
          <p:cNvSpPr/>
          <p:nvPr/>
        </p:nvSpPr>
        <p:spPr>
          <a:xfrm>
            <a:off x="1920357" y="3010896"/>
            <a:ext cx="900000" cy="365760"/>
          </a:xfrm>
          <a:prstGeom prst="rect">
            <a:avLst/>
          </a:prstGeom>
          <a:noFill/>
          <a:ln/>
        </p:spPr>
        <p:txBody>
          <a:bodyPr wrap="square" lIns="0" tIns="0" rIns="0" bIns="0" rtlCol="0" anchor="ctr"/>
          <a:lstStyle/>
          <a:p>
            <a:pPr marL="0" indent="0" algn="ctr">
              <a:buNone/>
            </a:pPr>
            <a:r>
              <a:rPr lang="en-US" sz="900" dirty="0">
                <a:solidFill>
                  <a:srgbClr val="10B981"/>
                </a:solidFill>
                <a:latin typeface="Arial" pitchFamily="34" charset="0"/>
                <a:ea typeface="Arial" pitchFamily="34" charset="-122"/>
                <a:cs typeface="Arial" pitchFamily="34" charset="-120"/>
              </a:rPr>
              <a:t>✓</a:t>
            </a:r>
            <a:endParaRPr lang="en-US" sz="900" dirty="0"/>
          </a:p>
        </p:txBody>
      </p:sp>
      <p:sp>
        <p:nvSpPr>
          <p:cNvPr id="19" name="Shape 17"/>
          <p:cNvSpPr/>
          <p:nvPr/>
        </p:nvSpPr>
        <p:spPr>
          <a:xfrm>
            <a:off x="685800" y="3394944"/>
            <a:ext cx="5098105" cy="365760"/>
          </a:xfrm>
          <a:prstGeom prst="rect">
            <a:avLst/>
          </a:prstGeom>
          <a:solidFill>
            <a:srgbClr val="F8F8F8"/>
          </a:solidFill>
          <a:ln/>
        </p:spPr>
        <p:txBody>
          <a:bodyPr/>
          <a:lstStyle/>
          <a:p>
            <a:endParaRPr lang="en-KR"/>
          </a:p>
        </p:txBody>
      </p:sp>
      <p:sp>
        <p:nvSpPr>
          <p:cNvPr id="20" name="Text 18"/>
          <p:cNvSpPr/>
          <p:nvPr/>
        </p:nvSpPr>
        <p:spPr>
          <a:xfrm>
            <a:off x="685800" y="3394944"/>
            <a:ext cx="1600200" cy="365760"/>
          </a:xfrm>
          <a:prstGeom prst="rect">
            <a:avLst/>
          </a:prstGeom>
          <a:noFill/>
          <a:ln/>
        </p:spPr>
        <p:txBody>
          <a:bodyPr wrap="square" lIns="0" tIns="0" rIns="0" bIns="0" rtlCol="0" anchor="ctr"/>
          <a:lstStyle/>
          <a:p>
            <a:pPr marL="0" indent="0" algn="l">
              <a:buNone/>
            </a:pPr>
            <a:r>
              <a:rPr lang="en-US" sz="900" dirty="0">
                <a:solidFill>
                  <a:srgbClr val="666666"/>
                </a:solidFill>
                <a:latin typeface="Arial" pitchFamily="34" charset="0"/>
                <a:ea typeface="Arial" pitchFamily="34" charset="-122"/>
                <a:cs typeface="Arial" pitchFamily="34" charset="-120"/>
              </a:rPr>
              <a:t>Autonomous output</a:t>
            </a:r>
            <a:endParaRPr lang="en-US" sz="900" dirty="0"/>
          </a:p>
        </p:txBody>
      </p:sp>
      <p:sp>
        <p:nvSpPr>
          <p:cNvPr id="21" name="Text 19"/>
          <p:cNvSpPr/>
          <p:nvPr/>
        </p:nvSpPr>
        <p:spPr>
          <a:xfrm>
            <a:off x="2910097" y="3394944"/>
            <a:ext cx="900000" cy="365760"/>
          </a:xfrm>
          <a:prstGeom prst="rect">
            <a:avLst/>
          </a:prstGeom>
          <a:noFill/>
          <a:ln/>
        </p:spPr>
        <p:txBody>
          <a:bodyPr wrap="square" lIns="0" tIns="0" rIns="0" bIns="0" rtlCol="0" anchor="ctr"/>
          <a:lstStyle/>
          <a:p>
            <a:pPr marL="0" indent="0" algn="ctr">
              <a:buNone/>
            </a:pPr>
            <a:r>
              <a:rPr lang="en-US" sz="900" dirty="0">
                <a:solidFill>
                  <a:srgbClr val="EF4444"/>
                </a:solidFill>
                <a:latin typeface="Arial" pitchFamily="34" charset="0"/>
                <a:ea typeface="Arial" pitchFamily="34" charset="-122"/>
                <a:cs typeface="Arial" pitchFamily="34" charset="-120"/>
              </a:rPr>
              <a:t>✘</a:t>
            </a:r>
            <a:endParaRPr lang="en-US" sz="900" dirty="0"/>
          </a:p>
        </p:txBody>
      </p:sp>
      <p:sp>
        <p:nvSpPr>
          <p:cNvPr id="22" name="Text 20"/>
          <p:cNvSpPr/>
          <p:nvPr/>
        </p:nvSpPr>
        <p:spPr>
          <a:xfrm>
            <a:off x="3899837" y="3394944"/>
            <a:ext cx="900000" cy="365760"/>
          </a:xfrm>
          <a:prstGeom prst="rect">
            <a:avLst/>
          </a:prstGeom>
          <a:noFill/>
          <a:ln/>
        </p:spPr>
        <p:txBody>
          <a:bodyPr wrap="square" lIns="0" tIns="0" rIns="0" bIns="0" rtlCol="0" anchor="ctr"/>
          <a:lstStyle/>
          <a:p>
            <a:pPr marL="0" indent="0" algn="ctr">
              <a:buNone/>
            </a:pPr>
            <a:r>
              <a:rPr lang="en-US" sz="900" dirty="0">
                <a:solidFill>
                  <a:srgbClr val="10B981"/>
                </a:solidFill>
                <a:latin typeface="Arial" pitchFamily="34" charset="0"/>
                <a:ea typeface="Arial" pitchFamily="34" charset="-122"/>
                <a:cs typeface="Arial" pitchFamily="34" charset="-120"/>
              </a:rPr>
              <a:t>✓</a:t>
            </a:r>
            <a:endParaRPr lang="en-US" sz="900" dirty="0"/>
          </a:p>
        </p:txBody>
      </p:sp>
      <p:sp>
        <p:nvSpPr>
          <p:cNvPr id="23" name="Text 21"/>
          <p:cNvSpPr/>
          <p:nvPr/>
        </p:nvSpPr>
        <p:spPr>
          <a:xfrm>
            <a:off x="4883905" y="3394944"/>
            <a:ext cx="900000" cy="365760"/>
          </a:xfrm>
          <a:prstGeom prst="rect">
            <a:avLst/>
          </a:prstGeom>
          <a:noFill/>
          <a:ln/>
        </p:spPr>
        <p:txBody>
          <a:bodyPr wrap="square" lIns="0" tIns="0" rIns="0" bIns="0" rtlCol="0" anchor="ctr"/>
          <a:lstStyle/>
          <a:p>
            <a:pPr marL="0" indent="0" algn="ctr">
              <a:buNone/>
            </a:pPr>
            <a:r>
              <a:rPr lang="en-US" sz="900" dirty="0">
                <a:solidFill>
                  <a:srgbClr val="EF4444"/>
                </a:solidFill>
                <a:latin typeface="Arial" pitchFamily="34" charset="0"/>
                <a:ea typeface="Arial" pitchFamily="34" charset="-122"/>
                <a:cs typeface="Arial" pitchFamily="34" charset="-120"/>
              </a:rPr>
              <a:t>✘</a:t>
            </a:r>
            <a:endParaRPr lang="en-US" sz="900" dirty="0"/>
          </a:p>
        </p:txBody>
      </p:sp>
      <p:sp>
        <p:nvSpPr>
          <p:cNvPr id="24" name="Text 22"/>
          <p:cNvSpPr/>
          <p:nvPr/>
        </p:nvSpPr>
        <p:spPr>
          <a:xfrm>
            <a:off x="1920357" y="3394944"/>
            <a:ext cx="900000" cy="365760"/>
          </a:xfrm>
          <a:prstGeom prst="rect">
            <a:avLst/>
          </a:prstGeom>
          <a:noFill/>
          <a:ln/>
        </p:spPr>
        <p:txBody>
          <a:bodyPr wrap="square" lIns="0" tIns="0" rIns="0" bIns="0" rtlCol="0" anchor="ctr"/>
          <a:lstStyle/>
          <a:p>
            <a:pPr marL="0" indent="0" algn="ctr">
              <a:buNone/>
            </a:pPr>
            <a:r>
              <a:rPr lang="en-US" sz="900" dirty="0">
                <a:solidFill>
                  <a:srgbClr val="10B981"/>
                </a:solidFill>
                <a:latin typeface="Arial" pitchFamily="34" charset="0"/>
                <a:ea typeface="Arial" pitchFamily="34" charset="-122"/>
                <a:cs typeface="Arial" pitchFamily="34" charset="-120"/>
              </a:rPr>
              <a:t>✓ Scheduled</a:t>
            </a:r>
            <a:endParaRPr lang="en-US" sz="900" dirty="0"/>
          </a:p>
        </p:txBody>
      </p:sp>
      <p:sp>
        <p:nvSpPr>
          <p:cNvPr id="25" name="Text 23"/>
          <p:cNvSpPr/>
          <p:nvPr/>
        </p:nvSpPr>
        <p:spPr>
          <a:xfrm>
            <a:off x="685800" y="3778992"/>
            <a:ext cx="1600200" cy="365760"/>
          </a:xfrm>
          <a:prstGeom prst="rect">
            <a:avLst/>
          </a:prstGeom>
          <a:noFill/>
          <a:ln/>
        </p:spPr>
        <p:txBody>
          <a:bodyPr wrap="square" lIns="0" tIns="0" rIns="0" bIns="0" rtlCol="0" anchor="ctr"/>
          <a:lstStyle/>
          <a:p>
            <a:pPr marL="0" indent="0" algn="l">
              <a:buNone/>
            </a:pPr>
            <a:r>
              <a:rPr lang="en-US" sz="900" dirty="0">
                <a:solidFill>
                  <a:srgbClr val="666666"/>
                </a:solidFill>
                <a:latin typeface="Arial" pitchFamily="34" charset="0"/>
                <a:ea typeface="Arial" pitchFamily="34" charset="-122"/>
                <a:cs typeface="Arial" pitchFamily="34" charset="-120"/>
              </a:rPr>
              <a:t>Improves with tenure</a:t>
            </a:r>
            <a:endParaRPr lang="en-US" sz="900" dirty="0"/>
          </a:p>
        </p:txBody>
      </p:sp>
      <p:sp>
        <p:nvSpPr>
          <p:cNvPr id="26" name="Text 24"/>
          <p:cNvSpPr/>
          <p:nvPr/>
        </p:nvSpPr>
        <p:spPr>
          <a:xfrm>
            <a:off x="2910097" y="3778992"/>
            <a:ext cx="900000" cy="365760"/>
          </a:xfrm>
          <a:prstGeom prst="rect">
            <a:avLst/>
          </a:prstGeom>
          <a:noFill/>
          <a:ln/>
        </p:spPr>
        <p:txBody>
          <a:bodyPr wrap="square" lIns="0" tIns="0" rIns="0" bIns="0" rtlCol="0" anchor="ctr"/>
          <a:lstStyle/>
          <a:p>
            <a:pPr algn="ctr"/>
            <a:r>
              <a:rPr lang="en-US" sz="900" dirty="0">
                <a:solidFill>
                  <a:srgbClr val="999999"/>
                </a:solidFill>
                <a:latin typeface="Arial" pitchFamily="34" charset="0"/>
                <a:ea typeface="Arial" pitchFamily="34" charset="-122"/>
                <a:cs typeface="Arial" pitchFamily="34" charset="-120"/>
              </a:rPr>
              <a:t>Evolving</a:t>
            </a:r>
            <a:endParaRPr lang="en-US" sz="900" dirty="0"/>
          </a:p>
        </p:txBody>
      </p:sp>
      <p:sp>
        <p:nvSpPr>
          <p:cNvPr id="27" name="Text 25"/>
          <p:cNvSpPr/>
          <p:nvPr/>
        </p:nvSpPr>
        <p:spPr>
          <a:xfrm>
            <a:off x="3899837" y="3778992"/>
            <a:ext cx="900000" cy="365760"/>
          </a:xfrm>
          <a:prstGeom prst="rect">
            <a:avLst/>
          </a:prstGeom>
          <a:noFill/>
          <a:ln/>
        </p:spPr>
        <p:txBody>
          <a:bodyPr wrap="square" lIns="0" tIns="0" rIns="0" bIns="0" rtlCol="0" anchor="ctr"/>
          <a:lstStyle/>
          <a:p>
            <a:pPr marL="0" indent="0" algn="ctr">
              <a:buNone/>
            </a:pPr>
            <a:r>
              <a:rPr lang="en-US" sz="900" dirty="0">
                <a:solidFill>
                  <a:srgbClr val="EF4444"/>
                </a:solidFill>
                <a:latin typeface="Arial" pitchFamily="34" charset="0"/>
                <a:ea typeface="Arial" pitchFamily="34" charset="-122"/>
                <a:cs typeface="Arial" pitchFamily="34" charset="-120"/>
              </a:rPr>
              <a:t>✘</a:t>
            </a:r>
            <a:endParaRPr lang="en-US" sz="900" dirty="0"/>
          </a:p>
        </p:txBody>
      </p:sp>
      <p:sp>
        <p:nvSpPr>
          <p:cNvPr id="28" name="Text 26"/>
          <p:cNvSpPr/>
          <p:nvPr/>
        </p:nvSpPr>
        <p:spPr>
          <a:xfrm>
            <a:off x="4883905" y="3778992"/>
            <a:ext cx="900000" cy="365760"/>
          </a:xfrm>
          <a:prstGeom prst="rect">
            <a:avLst/>
          </a:prstGeom>
          <a:noFill/>
          <a:ln/>
        </p:spPr>
        <p:txBody>
          <a:bodyPr wrap="square" lIns="0" tIns="0" rIns="0" bIns="0" rtlCol="0" anchor="ctr"/>
          <a:lstStyle/>
          <a:p>
            <a:pPr marL="0" indent="0" algn="ctr">
              <a:buNone/>
            </a:pPr>
            <a:r>
              <a:rPr lang="en-US" sz="900" dirty="0">
                <a:solidFill>
                  <a:srgbClr val="EF4444"/>
                </a:solidFill>
                <a:latin typeface="Arial" pitchFamily="34" charset="0"/>
                <a:ea typeface="Arial" pitchFamily="34" charset="-122"/>
                <a:cs typeface="Arial" pitchFamily="34" charset="-120"/>
              </a:rPr>
              <a:t>✘</a:t>
            </a:r>
            <a:endParaRPr lang="en-US" sz="900" dirty="0"/>
          </a:p>
        </p:txBody>
      </p:sp>
      <p:sp>
        <p:nvSpPr>
          <p:cNvPr id="29" name="Text 27"/>
          <p:cNvSpPr/>
          <p:nvPr/>
        </p:nvSpPr>
        <p:spPr>
          <a:xfrm>
            <a:off x="1920357" y="3778992"/>
            <a:ext cx="900000" cy="365760"/>
          </a:xfrm>
          <a:prstGeom prst="rect">
            <a:avLst/>
          </a:prstGeom>
          <a:noFill/>
          <a:ln/>
        </p:spPr>
        <p:txBody>
          <a:bodyPr wrap="square" lIns="0" tIns="0" rIns="0" bIns="0" rtlCol="0" anchor="ctr"/>
          <a:lstStyle/>
          <a:p>
            <a:pPr marL="0" indent="0" algn="ctr">
              <a:buNone/>
            </a:pPr>
            <a:r>
              <a:rPr lang="en-US" sz="900" dirty="0">
                <a:solidFill>
                  <a:srgbClr val="10B981"/>
                </a:solidFill>
                <a:latin typeface="Arial" pitchFamily="34" charset="0"/>
                <a:ea typeface="Arial" pitchFamily="34" charset="-122"/>
                <a:cs typeface="Arial" pitchFamily="34" charset="-120"/>
              </a:rPr>
              <a:t>✓ Accumulation</a:t>
            </a:r>
            <a:endParaRPr lang="en-US" sz="900" dirty="0"/>
          </a:p>
        </p:txBody>
      </p:sp>
      <p:sp>
        <p:nvSpPr>
          <p:cNvPr id="30" name="Shape 28"/>
          <p:cNvSpPr/>
          <p:nvPr/>
        </p:nvSpPr>
        <p:spPr>
          <a:xfrm>
            <a:off x="685800" y="4163040"/>
            <a:ext cx="5098105" cy="365760"/>
          </a:xfrm>
          <a:prstGeom prst="rect">
            <a:avLst/>
          </a:prstGeom>
          <a:solidFill>
            <a:srgbClr val="F8F8F8"/>
          </a:solidFill>
          <a:ln/>
        </p:spPr>
        <p:txBody>
          <a:bodyPr/>
          <a:lstStyle/>
          <a:p>
            <a:endParaRPr lang="en-KR"/>
          </a:p>
        </p:txBody>
      </p:sp>
      <p:sp>
        <p:nvSpPr>
          <p:cNvPr id="31" name="Text 29"/>
          <p:cNvSpPr/>
          <p:nvPr/>
        </p:nvSpPr>
        <p:spPr>
          <a:xfrm>
            <a:off x="685800" y="4163040"/>
            <a:ext cx="1600200" cy="365760"/>
          </a:xfrm>
          <a:prstGeom prst="rect">
            <a:avLst/>
          </a:prstGeom>
          <a:noFill/>
          <a:ln/>
        </p:spPr>
        <p:txBody>
          <a:bodyPr wrap="square" lIns="0" tIns="0" rIns="0" bIns="0" rtlCol="0" anchor="ctr"/>
          <a:lstStyle/>
          <a:p>
            <a:pPr marL="0" indent="0" algn="l">
              <a:buNone/>
            </a:pPr>
            <a:r>
              <a:rPr lang="en-US" sz="900" dirty="0">
                <a:solidFill>
                  <a:srgbClr val="666666"/>
                </a:solidFill>
                <a:latin typeface="Arial" pitchFamily="34" charset="0"/>
                <a:ea typeface="Arial" pitchFamily="34" charset="-122"/>
                <a:cs typeface="Arial" pitchFamily="34" charset="-120"/>
              </a:rPr>
              <a:t>Context-aware agent</a:t>
            </a:r>
            <a:endParaRPr lang="en-US" sz="900" dirty="0"/>
          </a:p>
        </p:txBody>
      </p:sp>
      <p:sp>
        <p:nvSpPr>
          <p:cNvPr id="32" name="Text 30"/>
          <p:cNvSpPr/>
          <p:nvPr/>
        </p:nvSpPr>
        <p:spPr>
          <a:xfrm>
            <a:off x="2910097" y="4163040"/>
            <a:ext cx="900000" cy="365760"/>
          </a:xfrm>
          <a:prstGeom prst="rect">
            <a:avLst/>
          </a:prstGeom>
          <a:noFill/>
          <a:ln/>
        </p:spPr>
        <p:txBody>
          <a:bodyPr wrap="square" lIns="0" tIns="0" rIns="0" bIns="0" rtlCol="0" anchor="ctr"/>
          <a:lstStyle/>
          <a:p>
            <a:pPr algn="ctr"/>
            <a:r>
              <a:rPr lang="en-US" sz="900" dirty="0">
                <a:solidFill>
                  <a:srgbClr val="999999"/>
                </a:solidFill>
                <a:latin typeface="Arial" pitchFamily="34" charset="0"/>
                <a:ea typeface="Arial" pitchFamily="34" charset="-122"/>
                <a:cs typeface="Arial" pitchFamily="34" charset="-120"/>
              </a:rPr>
              <a:t>Evolving</a:t>
            </a:r>
            <a:endParaRPr lang="en-US" sz="900" dirty="0"/>
          </a:p>
        </p:txBody>
      </p:sp>
      <p:sp>
        <p:nvSpPr>
          <p:cNvPr id="33" name="Text 31"/>
          <p:cNvSpPr/>
          <p:nvPr/>
        </p:nvSpPr>
        <p:spPr>
          <a:xfrm>
            <a:off x="3899837" y="4163040"/>
            <a:ext cx="900000" cy="365760"/>
          </a:xfrm>
          <a:prstGeom prst="rect">
            <a:avLst/>
          </a:prstGeom>
          <a:noFill/>
          <a:ln/>
        </p:spPr>
        <p:txBody>
          <a:bodyPr wrap="square" lIns="0" tIns="0" rIns="0" bIns="0" rtlCol="0" anchor="ctr"/>
          <a:lstStyle/>
          <a:p>
            <a:pPr marL="0" indent="0" algn="ctr">
              <a:buNone/>
            </a:pPr>
            <a:r>
              <a:rPr lang="en-US" sz="900" dirty="0">
                <a:solidFill>
                  <a:srgbClr val="EF4444"/>
                </a:solidFill>
                <a:latin typeface="Arial" pitchFamily="34" charset="0"/>
                <a:ea typeface="Arial" pitchFamily="34" charset="-122"/>
                <a:cs typeface="Arial" pitchFamily="34" charset="-120"/>
              </a:rPr>
              <a:t>✘</a:t>
            </a:r>
            <a:endParaRPr lang="en-US" sz="900" dirty="0"/>
          </a:p>
        </p:txBody>
      </p:sp>
      <p:sp>
        <p:nvSpPr>
          <p:cNvPr id="34" name="Text 32"/>
          <p:cNvSpPr/>
          <p:nvPr/>
        </p:nvSpPr>
        <p:spPr>
          <a:xfrm>
            <a:off x="4883905" y="4163040"/>
            <a:ext cx="900000" cy="365760"/>
          </a:xfrm>
          <a:prstGeom prst="rect">
            <a:avLst/>
          </a:prstGeom>
          <a:noFill/>
          <a:ln/>
        </p:spPr>
        <p:txBody>
          <a:bodyPr wrap="square" lIns="0" tIns="0" rIns="0" bIns="0" rtlCol="0" anchor="ctr"/>
          <a:lstStyle/>
          <a:p>
            <a:pPr marL="0" indent="0" algn="ctr">
              <a:buNone/>
            </a:pPr>
            <a:r>
              <a:rPr lang="en-US" sz="900" dirty="0">
                <a:solidFill>
                  <a:srgbClr val="999999"/>
                </a:solidFill>
                <a:latin typeface="Arial" pitchFamily="34" charset="0"/>
                <a:ea typeface="Arial" pitchFamily="34" charset="-122"/>
                <a:cs typeface="Arial" pitchFamily="34" charset="-120"/>
              </a:rPr>
              <a:t>Basic</a:t>
            </a:r>
            <a:endParaRPr lang="en-US" sz="900" dirty="0"/>
          </a:p>
        </p:txBody>
      </p:sp>
      <p:sp>
        <p:nvSpPr>
          <p:cNvPr id="35" name="Text 33"/>
          <p:cNvSpPr/>
          <p:nvPr/>
        </p:nvSpPr>
        <p:spPr>
          <a:xfrm>
            <a:off x="1920357" y="4163040"/>
            <a:ext cx="900000" cy="365760"/>
          </a:xfrm>
          <a:prstGeom prst="rect">
            <a:avLst/>
          </a:prstGeom>
          <a:noFill/>
          <a:ln/>
        </p:spPr>
        <p:txBody>
          <a:bodyPr wrap="square" lIns="0" tIns="0" rIns="0" bIns="0" rtlCol="0" anchor="ctr"/>
          <a:lstStyle/>
          <a:p>
            <a:pPr marL="0" indent="0" algn="ctr">
              <a:buNone/>
            </a:pPr>
            <a:r>
              <a:rPr lang="en-US" sz="900" dirty="0">
                <a:solidFill>
                  <a:srgbClr val="10B981"/>
                </a:solidFill>
                <a:latin typeface="Arial" pitchFamily="34" charset="0"/>
                <a:ea typeface="Arial" pitchFamily="34" charset="-122"/>
                <a:cs typeface="Arial" pitchFamily="34" charset="-120"/>
              </a:rPr>
              <a:t>✓</a:t>
            </a:r>
            <a:endParaRPr lang="en-US" sz="900" dirty="0"/>
          </a:p>
        </p:txBody>
      </p:sp>
      <p:sp>
        <p:nvSpPr>
          <p:cNvPr id="36" name="Text 34"/>
          <p:cNvSpPr/>
          <p:nvPr/>
        </p:nvSpPr>
        <p:spPr>
          <a:xfrm>
            <a:off x="688340" y="1359144"/>
            <a:ext cx="7772400" cy="320040"/>
          </a:xfrm>
          <a:prstGeom prst="rect">
            <a:avLst/>
          </a:prstGeom>
          <a:noFill/>
          <a:ln/>
        </p:spPr>
        <p:txBody>
          <a:bodyPr wrap="square" lIns="0" tIns="0" rIns="0" bIns="0" rtlCol="0" anchor="ctr"/>
          <a:lstStyle/>
          <a:p>
            <a:pPr marL="0" indent="0">
              <a:buNone/>
            </a:pPr>
            <a:r>
              <a:rPr lang="en-US" sz="1200" b="1" dirty="0">
                <a:solidFill>
                  <a:srgbClr val="E8985E"/>
                </a:solidFill>
                <a:latin typeface="Arial" pitchFamily="34" charset="0"/>
                <a:ea typeface="Arial" pitchFamily="34" charset="-122"/>
                <a:cs typeface="Arial" pitchFamily="34" charset="-120"/>
              </a:rPr>
              <a:t>The only platform where persistent agents accumulate cross-platform work knowledge for autonomous output.</a:t>
            </a:r>
            <a:endParaRPr lang="en-US" sz="1200" dirty="0"/>
          </a:p>
        </p:txBody>
      </p:sp>
      <p:sp>
        <p:nvSpPr>
          <p:cNvPr id="39" name="HorizontalLine">
            <a:extLst>
              <a:ext uri="{FF2B5EF4-FFF2-40B4-BE49-F238E27FC236}">
                <a16:creationId xmlns:a16="http://schemas.microsoft.com/office/drawing/2014/main" id="{A271FBA9-E73F-8CD9-C415-67FB3E6B450A}"/>
              </a:ext>
            </a:extLst>
          </p:cNvPr>
          <p:cNvSpPr/>
          <p:nvPr/>
        </p:nvSpPr>
        <p:spPr>
          <a:xfrm>
            <a:off x="5875380" y="3446029"/>
            <a:ext cx="2880000" cy="18288"/>
          </a:xfrm>
          <a:prstGeom prst="rect">
            <a:avLst/>
          </a:prstGeom>
          <a:solidFill>
            <a:srgbClr val="CCCCCC"/>
          </a:solidFill>
          <a:ln/>
        </p:spPr>
        <p:txBody>
          <a:bodyPr/>
          <a:lstStyle/>
          <a:p>
            <a:endParaRPr lang="en-KR"/>
          </a:p>
        </p:txBody>
      </p:sp>
      <p:sp>
        <p:nvSpPr>
          <p:cNvPr id="40" name="VerticalLine">
            <a:extLst>
              <a:ext uri="{FF2B5EF4-FFF2-40B4-BE49-F238E27FC236}">
                <a16:creationId xmlns:a16="http://schemas.microsoft.com/office/drawing/2014/main" id="{52252A54-07B6-41CB-B33E-A1C0AD811902}"/>
              </a:ext>
            </a:extLst>
          </p:cNvPr>
          <p:cNvSpPr/>
          <p:nvPr/>
        </p:nvSpPr>
        <p:spPr>
          <a:xfrm>
            <a:off x="7315380" y="2366029"/>
            <a:ext cx="18288" cy="2160000"/>
          </a:xfrm>
          <a:prstGeom prst="rect">
            <a:avLst/>
          </a:prstGeom>
          <a:solidFill>
            <a:srgbClr val="CCCCCC"/>
          </a:solidFill>
          <a:ln/>
        </p:spPr>
        <p:txBody>
          <a:bodyPr/>
          <a:lstStyle/>
          <a:p>
            <a:endParaRPr lang="en-KR"/>
          </a:p>
        </p:txBody>
      </p:sp>
      <p:sp>
        <p:nvSpPr>
          <p:cNvPr id="43" name="Text 4">
            <a:extLst>
              <a:ext uri="{FF2B5EF4-FFF2-40B4-BE49-F238E27FC236}">
                <a16:creationId xmlns:a16="http://schemas.microsoft.com/office/drawing/2014/main" id="{EC86E775-99A8-206B-B11B-B8FCCA5CDA6A}"/>
              </a:ext>
            </a:extLst>
          </p:cNvPr>
          <p:cNvSpPr/>
          <p:nvPr/>
        </p:nvSpPr>
        <p:spPr>
          <a:xfrm>
            <a:off x="6865380" y="2094529"/>
            <a:ext cx="900000" cy="320040"/>
          </a:xfrm>
          <a:prstGeom prst="rect">
            <a:avLst/>
          </a:prstGeom>
          <a:noFill/>
          <a:ln/>
        </p:spPr>
        <p:txBody>
          <a:bodyPr wrap="square" lIns="0" tIns="0" rIns="0" bIns="0" rtlCol="0" anchor="ctr"/>
          <a:lstStyle/>
          <a:p>
            <a:pPr marL="0" indent="0" algn="ctr">
              <a:buNone/>
            </a:pPr>
            <a:r>
              <a:rPr lang="en-US" sz="700" dirty="0">
                <a:solidFill>
                  <a:srgbClr val="111111"/>
                </a:solidFill>
                <a:latin typeface="Arial" pitchFamily="34" charset="0"/>
                <a:cs typeface="Arial" pitchFamily="34" charset="-120"/>
              </a:rPr>
              <a:t>Autonomy</a:t>
            </a:r>
            <a:endParaRPr lang="en-US" sz="700" dirty="0"/>
          </a:p>
        </p:txBody>
      </p:sp>
      <p:sp>
        <p:nvSpPr>
          <p:cNvPr id="44" name="Text 4">
            <a:extLst>
              <a:ext uri="{FF2B5EF4-FFF2-40B4-BE49-F238E27FC236}">
                <a16:creationId xmlns:a16="http://schemas.microsoft.com/office/drawing/2014/main" id="{C328876B-6841-0363-9A2C-57D5ECDE6E3E}"/>
              </a:ext>
            </a:extLst>
          </p:cNvPr>
          <p:cNvSpPr/>
          <p:nvPr/>
        </p:nvSpPr>
        <p:spPr>
          <a:xfrm>
            <a:off x="8195969" y="3137050"/>
            <a:ext cx="900000" cy="320040"/>
          </a:xfrm>
          <a:prstGeom prst="rect">
            <a:avLst/>
          </a:prstGeom>
          <a:noFill/>
          <a:ln/>
        </p:spPr>
        <p:txBody>
          <a:bodyPr wrap="square" lIns="0" tIns="0" rIns="0" bIns="0" rtlCol="0" anchor="ctr"/>
          <a:lstStyle/>
          <a:p>
            <a:pPr marL="0" indent="0" algn="ctr">
              <a:buNone/>
            </a:pPr>
            <a:r>
              <a:rPr lang="en-US" sz="700" dirty="0">
                <a:solidFill>
                  <a:srgbClr val="111111"/>
                </a:solidFill>
                <a:latin typeface="Arial" pitchFamily="34" charset="0"/>
                <a:cs typeface="Arial" pitchFamily="34" charset="-120"/>
              </a:rPr>
              <a:t>Knowledge</a:t>
            </a:r>
          </a:p>
          <a:p>
            <a:pPr marL="0" indent="0" algn="ctr">
              <a:buNone/>
            </a:pPr>
            <a:r>
              <a:rPr lang="en-US" sz="700" dirty="0">
                <a:solidFill>
                  <a:srgbClr val="111111"/>
                </a:solidFill>
                <a:latin typeface="Arial" pitchFamily="34" charset="0"/>
                <a:cs typeface="Arial" pitchFamily="34" charset="-120"/>
              </a:rPr>
              <a:t>Accumulation</a:t>
            </a:r>
            <a:endParaRPr lang="en-US" sz="700" dirty="0"/>
          </a:p>
        </p:txBody>
      </p:sp>
      <p:sp>
        <p:nvSpPr>
          <p:cNvPr id="37" name="Text 5">
            <a:extLst>
              <a:ext uri="{FF2B5EF4-FFF2-40B4-BE49-F238E27FC236}">
                <a16:creationId xmlns:a16="http://schemas.microsoft.com/office/drawing/2014/main" id="{587CD1FD-FDF6-646A-64E4-AD89980FBA48}"/>
              </a:ext>
            </a:extLst>
          </p:cNvPr>
          <p:cNvSpPr/>
          <p:nvPr/>
        </p:nvSpPr>
        <p:spPr>
          <a:xfrm>
            <a:off x="7674423" y="2650902"/>
            <a:ext cx="900000" cy="320040"/>
          </a:xfrm>
          <a:prstGeom prst="rect">
            <a:avLst/>
          </a:prstGeom>
          <a:noFill/>
          <a:ln/>
        </p:spPr>
        <p:txBody>
          <a:bodyPr wrap="square" lIns="0" tIns="0" rIns="0" bIns="0" rtlCol="0" anchor="ctr"/>
          <a:lstStyle/>
          <a:p>
            <a:pPr marL="0" indent="0" algn="ctr">
              <a:buNone/>
            </a:pPr>
            <a:r>
              <a:rPr lang="en-US" sz="900" b="1" dirty="0">
                <a:solidFill>
                  <a:srgbClr val="E8985E"/>
                </a:solidFill>
                <a:latin typeface="Arial" pitchFamily="34" charset="0"/>
                <a:ea typeface="Arial" pitchFamily="34" charset="-122"/>
                <a:cs typeface="Arial" pitchFamily="34" charset="-120"/>
              </a:rPr>
              <a:t>yarnnn</a:t>
            </a:r>
            <a:endParaRPr lang="en-US" sz="900" dirty="0"/>
          </a:p>
        </p:txBody>
      </p:sp>
      <p:sp>
        <p:nvSpPr>
          <p:cNvPr id="38" name="Text 2">
            <a:extLst>
              <a:ext uri="{FF2B5EF4-FFF2-40B4-BE49-F238E27FC236}">
                <a16:creationId xmlns:a16="http://schemas.microsoft.com/office/drawing/2014/main" id="{75243D36-7BCB-3F7B-EE2A-F26AE69055D3}"/>
              </a:ext>
            </a:extLst>
          </p:cNvPr>
          <p:cNvSpPr/>
          <p:nvPr/>
        </p:nvSpPr>
        <p:spPr>
          <a:xfrm>
            <a:off x="6189758" y="3801852"/>
            <a:ext cx="900000" cy="320040"/>
          </a:xfrm>
          <a:prstGeom prst="rect">
            <a:avLst/>
          </a:prstGeom>
          <a:noFill/>
          <a:ln/>
        </p:spPr>
        <p:txBody>
          <a:bodyPr wrap="square" lIns="0" tIns="0" rIns="0" bIns="0" rtlCol="0" anchor="ctr"/>
          <a:lstStyle/>
          <a:p>
            <a:pPr marL="0" indent="0" algn="ctr">
              <a:buNone/>
            </a:pPr>
            <a:r>
              <a:rPr lang="en-US" sz="800" b="1" dirty="0">
                <a:solidFill>
                  <a:srgbClr val="111111"/>
                </a:solidFill>
                <a:latin typeface="Arial" pitchFamily="34" charset="0"/>
                <a:ea typeface="Arial" pitchFamily="34" charset="-122"/>
                <a:cs typeface="Arial" pitchFamily="34" charset="-120"/>
              </a:rPr>
              <a:t>Existing</a:t>
            </a:r>
          </a:p>
          <a:p>
            <a:pPr marL="0" indent="0" algn="ctr">
              <a:buNone/>
            </a:pPr>
            <a:r>
              <a:rPr lang="en-US" sz="800" b="1" dirty="0">
                <a:solidFill>
                  <a:srgbClr val="111111"/>
                </a:solidFill>
                <a:latin typeface="Arial" pitchFamily="34" charset="0"/>
                <a:ea typeface="Arial" pitchFamily="34" charset="-122"/>
                <a:cs typeface="Arial" pitchFamily="34" charset="-120"/>
              </a:rPr>
              <a:t>Workspaces</a:t>
            </a:r>
          </a:p>
        </p:txBody>
      </p:sp>
      <p:sp>
        <p:nvSpPr>
          <p:cNvPr id="41" name="Text 2">
            <a:extLst>
              <a:ext uri="{FF2B5EF4-FFF2-40B4-BE49-F238E27FC236}">
                <a16:creationId xmlns:a16="http://schemas.microsoft.com/office/drawing/2014/main" id="{DAE3A223-D7B0-20C8-622C-8DAFEB2E4AA1}"/>
              </a:ext>
            </a:extLst>
          </p:cNvPr>
          <p:cNvSpPr/>
          <p:nvPr/>
        </p:nvSpPr>
        <p:spPr>
          <a:xfrm>
            <a:off x="6189758" y="2672568"/>
            <a:ext cx="900000" cy="320040"/>
          </a:xfrm>
          <a:prstGeom prst="rect">
            <a:avLst/>
          </a:prstGeom>
          <a:noFill/>
          <a:ln/>
        </p:spPr>
        <p:txBody>
          <a:bodyPr wrap="square" lIns="0" tIns="0" rIns="0" bIns="0" rtlCol="0" anchor="ctr"/>
          <a:lstStyle/>
          <a:p>
            <a:pPr marL="0" indent="0" algn="ctr">
              <a:buNone/>
            </a:pPr>
            <a:r>
              <a:rPr lang="en-US" sz="800" b="1" dirty="0">
                <a:solidFill>
                  <a:srgbClr val="111111"/>
                </a:solidFill>
                <a:latin typeface="Arial" pitchFamily="34" charset="0"/>
                <a:ea typeface="Arial" pitchFamily="34" charset="-122"/>
                <a:cs typeface="Arial" pitchFamily="34" charset="-120"/>
              </a:rPr>
              <a:t>ChatGPT</a:t>
            </a:r>
          </a:p>
        </p:txBody>
      </p:sp>
      <p:sp>
        <p:nvSpPr>
          <p:cNvPr id="42" name="Text 2">
            <a:extLst>
              <a:ext uri="{FF2B5EF4-FFF2-40B4-BE49-F238E27FC236}">
                <a16:creationId xmlns:a16="http://schemas.microsoft.com/office/drawing/2014/main" id="{2DE62553-BC71-0307-9618-C17B0188E95E}"/>
              </a:ext>
            </a:extLst>
          </p:cNvPr>
          <p:cNvSpPr/>
          <p:nvPr/>
        </p:nvSpPr>
        <p:spPr>
          <a:xfrm>
            <a:off x="7674423" y="3801852"/>
            <a:ext cx="900000" cy="320040"/>
          </a:xfrm>
          <a:prstGeom prst="rect">
            <a:avLst/>
          </a:prstGeom>
          <a:noFill/>
          <a:ln/>
        </p:spPr>
        <p:txBody>
          <a:bodyPr wrap="square" lIns="0" tIns="0" rIns="0" bIns="0" rtlCol="0" anchor="ctr"/>
          <a:lstStyle/>
          <a:p>
            <a:pPr marL="0" indent="0" algn="ctr">
              <a:buNone/>
            </a:pPr>
            <a:r>
              <a:rPr lang="en-US" sz="800" b="1" dirty="0">
                <a:solidFill>
                  <a:srgbClr val="111111"/>
                </a:solidFill>
                <a:latin typeface="Arial" pitchFamily="34" charset="0"/>
                <a:ea typeface="Arial" pitchFamily="34" charset="-122"/>
                <a:cs typeface="Arial" pitchFamily="34" charset="-120"/>
              </a:rPr>
              <a:t>Agent-based</a:t>
            </a:r>
          </a:p>
          <a:p>
            <a:pPr marL="0" indent="0" algn="ctr">
              <a:buNone/>
            </a:pPr>
            <a:r>
              <a:rPr lang="en-US" sz="800" b="1" dirty="0">
                <a:solidFill>
                  <a:srgbClr val="111111"/>
                </a:solidFill>
                <a:latin typeface="Arial" pitchFamily="34" charset="0"/>
                <a:ea typeface="Arial" pitchFamily="34" charset="-122"/>
                <a:cs typeface="Arial" pitchFamily="34" charset="-120"/>
              </a:rPr>
              <a:t>Startups</a:t>
            </a:r>
          </a:p>
        </p:txBody>
      </p:sp>
      <p:sp>
        <p:nvSpPr>
          <p:cNvPr id="45" name="Text 2">
            <a:extLst>
              <a:ext uri="{FF2B5EF4-FFF2-40B4-BE49-F238E27FC236}">
                <a16:creationId xmlns:a16="http://schemas.microsoft.com/office/drawing/2014/main" id="{001C20BF-D215-A109-365D-B6F6DB9853A0}"/>
              </a:ext>
            </a:extLst>
          </p:cNvPr>
          <p:cNvSpPr/>
          <p:nvPr/>
        </p:nvSpPr>
        <p:spPr>
          <a:xfrm>
            <a:off x="7674423" y="2888445"/>
            <a:ext cx="900000" cy="320040"/>
          </a:xfrm>
          <a:prstGeom prst="rect">
            <a:avLst/>
          </a:prstGeom>
          <a:noFill/>
          <a:ln/>
        </p:spPr>
        <p:txBody>
          <a:bodyPr wrap="square" lIns="0" tIns="0" rIns="0" bIns="0" rtlCol="0" anchor="ctr"/>
          <a:lstStyle/>
          <a:p>
            <a:pPr marL="0" indent="0" algn="ctr">
              <a:buNone/>
            </a:pPr>
            <a:r>
              <a:rPr lang="en-US" sz="800" b="1" dirty="0">
                <a:solidFill>
                  <a:srgbClr val="111111"/>
                </a:solidFill>
                <a:latin typeface="Arial" pitchFamily="34" charset="0"/>
                <a:ea typeface="Arial" pitchFamily="34" charset="-122"/>
                <a:cs typeface="Arial" pitchFamily="34" charset="-120"/>
              </a:rPr>
              <a:t>Claude</a:t>
            </a:r>
            <a:r>
              <a:rPr lang="ko-KR" altLang="en-US" sz="800" b="1" dirty="0">
                <a:solidFill>
                  <a:srgbClr val="111111"/>
                </a:solidFill>
                <a:latin typeface="Arial" pitchFamily="34" charset="0"/>
                <a:ea typeface="Arial" pitchFamily="34" charset="-122"/>
                <a:cs typeface="Arial" pitchFamily="34" charset="-120"/>
              </a:rPr>
              <a:t xml:space="preserve"> </a:t>
            </a:r>
            <a:r>
              <a:rPr lang="en-US" altLang="ko-KR" sz="800" b="1" dirty="0" err="1">
                <a:solidFill>
                  <a:srgbClr val="111111"/>
                </a:solidFill>
                <a:latin typeface="Arial" pitchFamily="34" charset="0"/>
                <a:ea typeface="Arial" pitchFamily="34" charset="-122"/>
                <a:cs typeface="Arial" pitchFamily="34" charset="-120"/>
              </a:rPr>
              <a:t>Cowork</a:t>
            </a:r>
            <a:r>
              <a:rPr lang="en-US" sz="800" b="1" dirty="0">
                <a:solidFill>
                  <a:srgbClr val="111111"/>
                </a:solidFill>
                <a:latin typeface="Arial" pitchFamily="34" charset="0"/>
                <a:ea typeface="Arial" pitchFamily="34" charset="-122"/>
                <a:cs typeface="Arial" pitchFamily="34" charset="-120"/>
              </a:rPr>
              <a:t xml:space="preserve"> / </a:t>
            </a:r>
            <a:r>
              <a:rPr lang="en-US" sz="800" b="1" dirty="0" err="1">
                <a:solidFill>
                  <a:srgbClr val="111111"/>
                </a:solidFill>
                <a:latin typeface="Arial" pitchFamily="34" charset="0"/>
                <a:ea typeface="Arial" pitchFamily="34" charset="-122"/>
                <a:cs typeface="Arial" pitchFamily="34" charset="-120"/>
              </a:rPr>
              <a:t>Genspark</a:t>
            </a:r>
            <a:endParaRPr lang="en-US" sz="800" b="1" dirty="0">
              <a:solidFill>
                <a:srgbClr val="111111"/>
              </a:solidFill>
              <a:latin typeface="Arial" pitchFamily="34" charset="0"/>
              <a:ea typeface="Arial" pitchFamily="34" charset="-122"/>
              <a:cs typeface="Arial" pitchFamily="34" charset="-12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457200"/>
            <a:ext cx="3657600" cy="274320"/>
          </a:xfrm>
          <a:prstGeom prst="rect">
            <a:avLst/>
          </a:prstGeom>
          <a:noFill/>
          <a:ln/>
        </p:spPr>
        <p:txBody>
          <a:bodyPr wrap="square" lIns="0" tIns="0" rIns="0" bIns="0" rtlCol="0" anchor="ctr"/>
          <a:lstStyle/>
          <a:p>
            <a:pPr marL="0" indent="0">
              <a:buNone/>
            </a:pPr>
            <a:r>
              <a:rPr lang="en-US" sz="1100" b="1" dirty="0">
                <a:solidFill>
                  <a:srgbClr val="E8985E"/>
                </a:solidFill>
                <a:latin typeface="Arial" pitchFamily="34" charset="0"/>
                <a:ea typeface="Arial" pitchFamily="34" charset="-122"/>
                <a:cs typeface="Arial" pitchFamily="34" charset="-120"/>
              </a:rPr>
              <a:t>Market</a:t>
            </a:r>
            <a:endParaRPr lang="en-US" sz="1100" dirty="0"/>
          </a:p>
        </p:txBody>
      </p:sp>
      <p:sp>
        <p:nvSpPr>
          <p:cNvPr id="3" name="Text 1"/>
          <p:cNvSpPr/>
          <p:nvPr/>
        </p:nvSpPr>
        <p:spPr>
          <a:xfrm>
            <a:off x="685800" y="777240"/>
            <a:ext cx="7772400" cy="640080"/>
          </a:xfrm>
          <a:prstGeom prst="rect">
            <a:avLst/>
          </a:prstGeom>
          <a:noFill/>
          <a:ln/>
        </p:spPr>
        <p:txBody>
          <a:bodyPr wrap="square" lIns="0" tIns="0" rIns="0" bIns="0" rtlCol="0" anchor="ctr"/>
          <a:lstStyle/>
          <a:p>
            <a:pPr marL="0" indent="0">
              <a:buNone/>
            </a:pPr>
            <a:r>
              <a:rPr lang="en-US" sz="2400" b="1" dirty="0">
                <a:solidFill>
                  <a:srgbClr val="111111"/>
                </a:solidFill>
                <a:latin typeface="Arial" pitchFamily="34" charset="0"/>
                <a:ea typeface="Arial" pitchFamily="34" charset="-122"/>
                <a:cs typeface="Arial" pitchFamily="34" charset="-120"/>
              </a:rPr>
              <a:t>Starting with solo consultants. Expanding from there.</a:t>
            </a:r>
            <a:endParaRPr lang="en-US" sz="2400" dirty="0"/>
          </a:p>
        </p:txBody>
      </p:sp>
      <p:sp>
        <p:nvSpPr>
          <p:cNvPr id="4" name="Text 2"/>
          <p:cNvSpPr/>
          <p:nvPr/>
        </p:nvSpPr>
        <p:spPr>
          <a:xfrm>
            <a:off x="685800" y="1463040"/>
            <a:ext cx="7772400" cy="228600"/>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Entry wedge: Solo consultants with recurring client obligations</a:t>
            </a:r>
            <a:endParaRPr lang="en-US" sz="1200" dirty="0"/>
          </a:p>
        </p:txBody>
      </p:sp>
      <p:sp>
        <p:nvSpPr>
          <p:cNvPr id="5" name="Shape 3"/>
          <p:cNvSpPr/>
          <p:nvPr/>
        </p:nvSpPr>
        <p:spPr>
          <a:xfrm>
            <a:off x="685800" y="1828800"/>
            <a:ext cx="2606040" cy="914400"/>
          </a:xfrm>
          <a:prstGeom prst="rect">
            <a:avLst/>
          </a:prstGeom>
          <a:solidFill>
            <a:srgbClr val="F8F8F8"/>
          </a:solidFill>
          <a:ln/>
        </p:spPr>
        <p:txBody>
          <a:bodyPr/>
          <a:lstStyle/>
          <a:p>
            <a:endParaRPr lang="en-KR"/>
          </a:p>
        </p:txBody>
      </p:sp>
      <p:sp>
        <p:nvSpPr>
          <p:cNvPr id="6" name="Text 4"/>
          <p:cNvSpPr/>
          <p:nvPr/>
        </p:nvSpPr>
        <p:spPr>
          <a:xfrm>
            <a:off x="822960" y="1874520"/>
            <a:ext cx="2331720" cy="182880"/>
          </a:xfrm>
          <a:prstGeom prst="rect">
            <a:avLst/>
          </a:prstGeom>
          <a:noFill/>
          <a:ln/>
        </p:spPr>
        <p:txBody>
          <a:bodyPr wrap="square" lIns="0" tIns="0" rIns="0" bIns="0" rtlCol="0" anchor="ctr"/>
          <a:lstStyle/>
          <a:p>
            <a:pPr marL="0" indent="0">
              <a:buNone/>
            </a:pPr>
            <a:r>
              <a:rPr lang="en-US" sz="1000" b="1" dirty="0">
                <a:solidFill>
                  <a:srgbClr val="E8985E"/>
                </a:solidFill>
                <a:latin typeface="Arial" pitchFamily="34" charset="0"/>
                <a:ea typeface="Arial" pitchFamily="34" charset="-122"/>
                <a:cs typeface="Arial" pitchFamily="34" charset="-120"/>
              </a:rPr>
              <a:t>TAM</a:t>
            </a:r>
            <a:endParaRPr lang="en-US" sz="1000" dirty="0"/>
          </a:p>
        </p:txBody>
      </p:sp>
      <p:sp>
        <p:nvSpPr>
          <p:cNvPr id="7" name="Text 5"/>
          <p:cNvSpPr/>
          <p:nvPr/>
        </p:nvSpPr>
        <p:spPr>
          <a:xfrm>
            <a:off x="822960" y="2057400"/>
            <a:ext cx="2331720" cy="320040"/>
          </a:xfrm>
          <a:prstGeom prst="rect">
            <a:avLst/>
          </a:prstGeom>
          <a:noFill/>
          <a:ln/>
        </p:spPr>
        <p:txBody>
          <a:bodyPr wrap="square" lIns="0" tIns="0" rIns="0" bIns="0" rtlCol="0" anchor="ctr"/>
          <a:lstStyle/>
          <a:p>
            <a:pPr marL="0" indent="0">
              <a:buNone/>
            </a:pPr>
            <a:r>
              <a:rPr lang="en-US" sz="2200" b="1" dirty="0">
                <a:solidFill>
                  <a:srgbClr val="111111"/>
                </a:solidFill>
                <a:latin typeface="Arial" pitchFamily="34" charset="0"/>
                <a:ea typeface="Arial" pitchFamily="34" charset="-122"/>
                <a:cs typeface="Arial" pitchFamily="34" charset="-120"/>
              </a:rPr>
              <a:t>$4.35B</a:t>
            </a:r>
            <a:endParaRPr lang="en-US" sz="2200" dirty="0"/>
          </a:p>
        </p:txBody>
      </p:sp>
      <p:sp>
        <p:nvSpPr>
          <p:cNvPr id="8" name="Text 6"/>
          <p:cNvSpPr/>
          <p:nvPr/>
        </p:nvSpPr>
        <p:spPr>
          <a:xfrm>
            <a:off x="822960" y="2395728"/>
            <a:ext cx="2331720" cy="274320"/>
          </a:xfrm>
          <a:prstGeom prst="rect">
            <a:avLst/>
          </a:prstGeom>
          <a:noFill/>
          <a:ln/>
        </p:spPr>
        <p:txBody>
          <a:bodyPr wrap="square" lIns="0" tIns="0" rIns="0" bIns="0" rtlCol="0" anchor="ctr"/>
          <a:lstStyle/>
          <a:p>
            <a:pPr marL="0" indent="0">
              <a:buNone/>
            </a:pPr>
            <a:r>
              <a:rPr lang="en-US" sz="900" dirty="0">
                <a:solidFill>
                  <a:srgbClr val="666666"/>
                </a:solidFill>
                <a:latin typeface="Arial" pitchFamily="34" charset="0"/>
                <a:ea typeface="Arial" pitchFamily="34" charset="-122"/>
                <a:cs typeface="Arial" pitchFamily="34" charset="-120"/>
              </a:rPr>
              <a:t>AI productivity tools market (31% CAGR)</a:t>
            </a:r>
            <a:endParaRPr lang="en-US" sz="900" dirty="0"/>
          </a:p>
        </p:txBody>
      </p:sp>
      <p:sp>
        <p:nvSpPr>
          <p:cNvPr id="9" name="Shape 7"/>
          <p:cNvSpPr/>
          <p:nvPr/>
        </p:nvSpPr>
        <p:spPr>
          <a:xfrm>
            <a:off x="3520440" y="1828800"/>
            <a:ext cx="2606040" cy="914400"/>
          </a:xfrm>
          <a:prstGeom prst="rect">
            <a:avLst/>
          </a:prstGeom>
          <a:solidFill>
            <a:srgbClr val="F8F8F8"/>
          </a:solidFill>
          <a:ln/>
        </p:spPr>
        <p:txBody>
          <a:bodyPr/>
          <a:lstStyle/>
          <a:p>
            <a:endParaRPr lang="en-KR"/>
          </a:p>
        </p:txBody>
      </p:sp>
      <p:sp>
        <p:nvSpPr>
          <p:cNvPr id="10" name="Text 8"/>
          <p:cNvSpPr/>
          <p:nvPr/>
        </p:nvSpPr>
        <p:spPr>
          <a:xfrm>
            <a:off x="3657600" y="1874520"/>
            <a:ext cx="2331720" cy="182880"/>
          </a:xfrm>
          <a:prstGeom prst="rect">
            <a:avLst/>
          </a:prstGeom>
          <a:noFill/>
          <a:ln/>
        </p:spPr>
        <p:txBody>
          <a:bodyPr wrap="square" lIns="0" tIns="0" rIns="0" bIns="0" rtlCol="0" anchor="ctr"/>
          <a:lstStyle/>
          <a:p>
            <a:pPr marL="0" indent="0">
              <a:buNone/>
            </a:pPr>
            <a:r>
              <a:rPr lang="en-US" sz="1000" b="1" dirty="0">
                <a:solidFill>
                  <a:srgbClr val="E8985E"/>
                </a:solidFill>
                <a:latin typeface="Arial" pitchFamily="34" charset="0"/>
                <a:ea typeface="Arial" pitchFamily="34" charset="-122"/>
                <a:cs typeface="Arial" pitchFamily="34" charset="-120"/>
              </a:rPr>
              <a:t>SAM</a:t>
            </a:r>
            <a:endParaRPr lang="en-US" sz="1000" dirty="0"/>
          </a:p>
        </p:txBody>
      </p:sp>
      <p:sp>
        <p:nvSpPr>
          <p:cNvPr id="11" name="Text 9"/>
          <p:cNvSpPr/>
          <p:nvPr/>
        </p:nvSpPr>
        <p:spPr>
          <a:xfrm>
            <a:off x="3657600" y="2057400"/>
            <a:ext cx="2331720" cy="320040"/>
          </a:xfrm>
          <a:prstGeom prst="rect">
            <a:avLst/>
          </a:prstGeom>
          <a:noFill/>
          <a:ln/>
        </p:spPr>
        <p:txBody>
          <a:bodyPr wrap="square" lIns="0" tIns="0" rIns="0" bIns="0" rtlCol="0" anchor="ctr"/>
          <a:lstStyle/>
          <a:p>
            <a:pPr marL="0" indent="0">
              <a:buNone/>
            </a:pPr>
            <a:r>
              <a:rPr lang="en-US" sz="2200" b="1" dirty="0">
                <a:solidFill>
                  <a:srgbClr val="111111"/>
                </a:solidFill>
                <a:latin typeface="Arial" pitchFamily="34" charset="0"/>
                <a:ea typeface="Arial" pitchFamily="34" charset="-122"/>
                <a:cs typeface="Arial" pitchFamily="34" charset="-120"/>
              </a:rPr>
              <a:t>$1.14B</a:t>
            </a:r>
            <a:endParaRPr lang="en-US" sz="2200" dirty="0"/>
          </a:p>
        </p:txBody>
      </p:sp>
      <p:sp>
        <p:nvSpPr>
          <p:cNvPr id="12" name="Text 10"/>
          <p:cNvSpPr/>
          <p:nvPr/>
        </p:nvSpPr>
        <p:spPr>
          <a:xfrm>
            <a:off x="3657600" y="2395728"/>
            <a:ext cx="2331720" cy="274320"/>
          </a:xfrm>
          <a:prstGeom prst="rect">
            <a:avLst/>
          </a:prstGeom>
          <a:noFill/>
          <a:ln/>
        </p:spPr>
        <p:txBody>
          <a:bodyPr wrap="square" lIns="0" tIns="0" rIns="0" bIns="0" rtlCol="0" anchor="ctr"/>
          <a:lstStyle/>
          <a:p>
            <a:pPr marL="0" indent="0">
              <a:buNone/>
            </a:pPr>
            <a:r>
              <a:rPr lang="en-US" sz="900" dirty="0">
                <a:solidFill>
                  <a:srgbClr val="666666"/>
                </a:solidFill>
                <a:latin typeface="Arial" pitchFamily="34" charset="0"/>
                <a:ea typeface="Arial" pitchFamily="34" charset="-122"/>
                <a:cs typeface="Arial" pitchFamily="34" charset="-120"/>
              </a:rPr>
              <a:t>~5M solo consultants globally × $228/yr (Pro annual)</a:t>
            </a:r>
            <a:endParaRPr lang="en-US" sz="900" dirty="0"/>
          </a:p>
        </p:txBody>
      </p:sp>
      <p:sp>
        <p:nvSpPr>
          <p:cNvPr id="13" name="Shape 11"/>
          <p:cNvSpPr/>
          <p:nvPr/>
        </p:nvSpPr>
        <p:spPr>
          <a:xfrm>
            <a:off x="6355080" y="1828800"/>
            <a:ext cx="2606040" cy="914400"/>
          </a:xfrm>
          <a:prstGeom prst="rect">
            <a:avLst/>
          </a:prstGeom>
          <a:solidFill>
            <a:srgbClr val="E8985E"/>
          </a:solidFill>
          <a:ln/>
        </p:spPr>
        <p:txBody>
          <a:bodyPr/>
          <a:lstStyle/>
          <a:p>
            <a:endParaRPr lang="en-KR"/>
          </a:p>
        </p:txBody>
      </p:sp>
      <p:sp>
        <p:nvSpPr>
          <p:cNvPr id="14" name="Text 12"/>
          <p:cNvSpPr/>
          <p:nvPr/>
        </p:nvSpPr>
        <p:spPr>
          <a:xfrm>
            <a:off x="6492240" y="1874520"/>
            <a:ext cx="2331720" cy="182880"/>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Entry SOM</a:t>
            </a:r>
            <a:endParaRPr lang="en-US" sz="1000" dirty="0"/>
          </a:p>
        </p:txBody>
      </p:sp>
      <p:sp>
        <p:nvSpPr>
          <p:cNvPr id="15" name="Text 13"/>
          <p:cNvSpPr/>
          <p:nvPr/>
        </p:nvSpPr>
        <p:spPr>
          <a:xfrm>
            <a:off x="6492240" y="2057400"/>
            <a:ext cx="2331720" cy="320040"/>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$4.6M</a:t>
            </a:r>
            <a:endParaRPr lang="en-US" sz="2200" dirty="0"/>
          </a:p>
        </p:txBody>
      </p:sp>
      <p:sp>
        <p:nvSpPr>
          <p:cNvPr id="16" name="Text 14"/>
          <p:cNvSpPr/>
          <p:nvPr/>
        </p:nvSpPr>
        <p:spPr>
          <a:xfrm>
            <a:off x="6492240" y="2395728"/>
            <a:ext cx="2331720" cy="274320"/>
          </a:xfrm>
          <a:prstGeom prst="rect">
            <a:avLst/>
          </a:prstGeom>
          <a:noFill/>
          <a:ln/>
        </p:spPr>
        <p:txBody>
          <a:bodyPr wrap="square" lIns="0" tIns="0" rIns="0" bIns="0" rtlCol="0" anchor="ctr"/>
          <a:lstStyle/>
          <a:p>
            <a:pPr marL="0" indent="0">
              <a:buNone/>
            </a:pPr>
            <a:r>
              <a:rPr lang="en-US" sz="900" dirty="0">
                <a:solidFill>
                  <a:srgbClr val="FFFFFF"/>
                </a:solidFill>
                <a:latin typeface="Arial" pitchFamily="34" charset="0"/>
                <a:ea typeface="Arial" pitchFamily="34" charset="-122"/>
                <a:cs typeface="Arial" pitchFamily="34" charset="-120"/>
              </a:rPr>
              <a:t>20K consultants in first 3 years</a:t>
            </a:r>
            <a:endParaRPr lang="en-US" sz="900" dirty="0"/>
          </a:p>
        </p:txBody>
      </p:sp>
      <p:sp>
        <p:nvSpPr>
          <p:cNvPr id="17" name="Text 15"/>
          <p:cNvSpPr/>
          <p:nvPr/>
        </p:nvSpPr>
        <p:spPr>
          <a:xfrm>
            <a:off x="685800" y="2971800"/>
            <a:ext cx="7315200" cy="228600"/>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Expansion path:</a:t>
            </a:r>
            <a:endParaRPr lang="en-US" sz="1200" dirty="0"/>
          </a:p>
        </p:txBody>
      </p:sp>
      <p:sp>
        <p:nvSpPr>
          <p:cNvPr id="18" name="Text 16"/>
          <p:cNvSpPr/>
          <p:nvPr/>
        </p:nvSpPr>
        <p:spPr>
          <a:xfrm>
            <a:off x="868680" y="3291840"/>
            <a:ext cx="640080" cy="228600"/>
          </a:xfrm>
          <a:prstGeom prst="rect">
            <a:avLst/>
          </a:prstGeom>
          <a:noFill/>
          <a:ln/>
        </p:spPr>
        <p:txBody>
          <a:bodyPr wrap="square" lIns="0" tIns="0" rIns="0" bIns="0" rtlCol="0" anchor="ctr"/>
          <a:lstStyle/>
          <a:p>
            <a:pPr marL="0" indent="0">
              <a:buNone/>
            </a:pPr>
            <a:r>
              <a:rPr lang="en-US" sz="1000" b="1" dirty="0">
                <a:solidFill>
                  <a:srgbClr val="E8985E"/>
                </a:solidFill>
                <a:latin typeface="Arial" pitchFamily="34" charset="0"/>
                <a:ea typeface="Arial" pitchFamily="34" charset="-122"/>
                <a:cs typeface="Arial" pitchFamily="34" charset="-120"/>
              </a:rPr>
              <a:t>Now</a:t>
            </a:r>
            <a:endParaRPr lang="en-US" sz="1000" dirty="0"/>
          </a:p>
        </p:txBody>
      </p:sp>
      <p:sp>
        <p:nvSpPr>
          <p:cNvPr id="19" name="Text 17"/>
          <p:cNvSpPr/>
          <p:nvPr/>
        </p:nvSpPr>
        <p:spPr>
          <a:xfrm>
            <a:off x="1600200" y="3291840"/>
            <a:ext cx="2286000" cy="228600"/>
          </a:xfrm>
          <a:prstGeom prst="rect">
            <a:avLst/>
          </a:prstGeom>
          <a:noFill/>
          <a:ln/>
        </p:spPr>
        <p:txBody>
          <a:bodyPr wrap="square" lIns="0" tIns="0" rIns="0" bIns="0" rtlCol="0" anchor="ctr"/>
          <a:lstStyle/>
          <a:p>
            <a:pPr marL="0" indent="0">
              <a:buNone/>
            </a:pPr>
            <a:r>
              <a:rPr lang="en-US" sz="1000" b="1" dirty="0">
                <a:solidFill>
                  <a:srgbClr val="111111"/>
                </a:solidFill>
                <a:latin typeface="Arial" pitchFamily="34" charset="0"/>
                <a:ea typeface="Arial" pitchFamily="34" charset="-122"/>
                <a:cs typeface="Arial" pitchFamily="34" charset="-120"/>
              </a:rPr>
              <a:t>Solo consultants</a:t>
            </a:r>
            <a:endParaRPr lang="en-US" sz="1000" dirty="0"/>
          </a:p>
        </p:txBody>
      </p:sp>
      <p:sp>
        <p:nvSpPr>
          <p:cNvPr id="20" name="Text 18"/>
          <p:cNvSpPr/>
          <p:nvPr/>
        </p:nvSpPr>
        <p:spPr>
          <a:xfrm>
            <a:off x="4114800" y="3291840"/>
            <a:ext cx="4389120" cy="228600"/>
          </a:xfrm>
          <a:prstGeom prst="rect">
            <a:avLst/>
          </a:prstGeom>
          <a:noFill/>
          <a:ln/>
        </p:spPr>
        <p:txBody>
          <a:bodyPr wrap="square" lIns="0" tIns="0" rIns="0" bIns="0" rtlCol="0" anchor="ctr"/>
          <a:lstStyle/>
          <a:p>
            <a:pPr marL="0" indent="0">
              <a:buNone/>
            </a:pPr>
            <a:r>
              <a:rPr lang="en-US" sz="1000" dirty="0">
                <a:solidFill>
                  <a:srgbClr val="666666"/>
                </a:solidFill>
                <a:latin typeface="Arial" pitchFamily="34" charset="0"/>
                <a:ea typeface="Arial" pitchFamily="34" charset="-122"/>
                <a:cs typeface="Arial" pitchFamily="34" charset="-120"/>
              </a:rPr>
              <a:t>Recurring reports, clear pain, willing to pay</a:t>
            </a:r>
            <a:endParaRPr lang="en-US" sz="1000" dirty="0"/>
          </a:p>
        </p:txBody>
      </p:sp>
      <p:sp>
        <p:nvSpPr>
          <p:cNvPr id="21" name="Shape 19"/>
          <p:cNvSpPr/>
          <p:nvPr/>
        </p:nvSpPr>
        <p:spPr>
          <a:xfrm>
            <a:off x="868680" y="3566160"/>
            <a:ext cx="7589520" cy="4572"/>
          </a:xfrm>
          <a:prstGeom prst="rect">
            <a:avLst/>
          </a:prstGeom>
          <a:solidFill>
            <a:srgbClr val="E5E5E5"/>
          </a:solidFill>
          <a:ln/>
        </p:spPr>
        <p:txBody>
          <a:bodyPr/>
          <a:lstStyle/>
          <a:p>
            <a:endParaRPr lang="en-KR"/>
          </a:p>
        </p:txBody>
      </p:sp>
      <p:sp>
        <p:nvSpPr>
          <p:cNvPr id="22" name="Text 20"/>
          <p:cNvSpPr/>
          <p:nvPr/>
        </p:nvSpPr>
        <p:spPr>
          <a:xfrm>
            <a:off x="868680" y="3639312"/>
            <a:ext cx="640080" cy="228600"/>
          </a:xfrm>
          <a:prstGeom prst="rect">
            <a:avLst/>
          </a:prstGeom>
          <a:noFill/>
          <a:ln/>
        </p:spPr>
        <p:txBody>
          <a:bodyPr wrap="square" lIns="0" tIns="0" rIns="0" bIns="0" rtlCol="0" anchor="ctr"/>
          <a:lstStyle/>
          <a:p>
            <a:pPr marL="0" indent="0">
              <a:buNone/>
            </a:pPr>
            <a:r>
              <a:rPr lang="en-US" sz="1000" b="1" dirty="0">
                <a:solidFill>
                  <a:srgbClr val="E8985E"/>
                </a:solidFill>
                <a:latin typeface="Arial" pitchFamily="34" charset="0"/>
                <a:ea typeface="Arial" pitchFamily="34" charset="-122"/>
                <a:cs typeface="Arial" pitchFamily="34" charset="-120"/>
              </a:rPr>
              <a:t>Next</a:t>
            </a:r>
            <a:endParaRPr lang="en-US" sz="1000" dirty="0"/>
          </a:p>
        </p:txBody>
      </p:sp>
      <p:sp>
        <p:nvSpPr>
          <p:cNvPr id="23" name="Text 21"/>
          <p:cNvSpPr/>
          <p:nvPr/>
        </p:nvSpPr>
        <p:spPr>
          <a:xfrm>
            <a:off x="1600200" y="3639312"/>
            <a:ext cx="2286000" cy="228600"/>
          </a:xfrm>
          <a:prstGeom prst="rect">
            <a:avLst/>
          </a:prstGeom>
          <a:noFill/>
          <a:ln/>
        </p:spPr>
        <p:txBody>
          <a:bodyPr wrap="square" lIns="0" tIns="0" rIns="0" bIns="0" rtlCol="0" anchor="ctr"/>
          <a:lstStyle/>
          <a:p>
            <a:pPr marL="0" indent="0">
              <a:buNone/>
            </a:pPr>
            <a:r>
              <a:rPr lang="en-US" sz="1000" b="1" dirty="0">
                <a:solidFill>
                  <a:srgbClr val="111111"/>
                </a:solidFill>
                <a:latin typeface="Arial" pitchFamily="34" charset="0"/>
                <a:ea typeface="Arial" pitchFamily="34" charset="-122"/>
                <a:cs typeface="Arial" pitchFamily="34" charset="-120"/>
              </a:rPr>
              <a:t>Founders &amp; executives</a:t>
            </a:r>
            <a:endParaRPr lang="en-US" sz="1000" dirty="0"/>
          </a:p>
        </p:txBody>
      </p:sp>
      <p:sp>
        <p:nvSpPr>
          <p:cNvPr id="24" name="Text 22"/>
          <p:cNvSpPr/>
          <p:nvPr/>
        </p:nvSpPr>
        <p:spPr>
          <a:xfrm>
            <a:off x="4114800" y="3639312"/>
            <a:ext cx="4389120" cy="228600"/>
          </a:xfrm>
          <a:prstGeom prst="rect">
            <a:avLst/>
          </a:prstGeom>
          <a:noFill/>
          <a:ln/>
        </p:spPr>
        <p:txBody>
          <a:bodyPr wrap="square" lIns="0" tIns="0" rIns="0" bIns="0" rtlCol="0" anchor="ctr"/>
          <a:lstStyle/>
          <a:p>
            <a:pPr marL="0" indent="0">
              <a:buNone/>
            </a:pPr>
            <a:r>
              <a:rPr lang="en-US" sz="1000" dirty="0">
                <a:solidFill>
                  <a:srgbClr val="666666"/>
                </a:solidFill>
                <a:latin typeface="Arial" pitchFamily="34" charset="0"/>
                <a:ea typeface="Arial" pitchFamily="34" charset="-122"/>
                <a:cs typeface="Arial" pitchFamily="34" charset="-120"/>
              </a:rPr>
              <a:t>Investor updates, board prep, strategic briefs</a:t>
            </a:r>
            <a:endParaRPr lang="en-US" sz="1000" dirty="0"/>
          </a:p>
        </p:txBody>
      </p:sp>
      <p:sp>
        <p:nvSpPr>
          <p:cNvPr id="25" name="Shape 23"/>
          <p:cNvSpPr/>
          <p:nvPr/>
        </p:nvSpPr>
        <p:spPr>
          <a:xfrm>
            <a:off x="868680" y="3913632"/>
            <a:ext cx="7589520" cy="4572"/>
          </a:xfrm>
          <a:prstGeom prst="rect">
            <a:avLst/>
          </a:prstGeom>
          <a:solidFill>
            <a:srgbClr val="E5E5E5"/>
          </a:solidFill>
          <a:ln/>
        </p:spPr>
        <p:txBody>
          <a:bodyPr/>
          <a:lstStyle/>
          <a:p>
            <a:endParaRPr lang="en-KR"/>
          </a:p>
        </p:txBody>
      </p:sp>
      <p:sp>
        <p:nvSpPr>
          <p:cNvPr id="26" name="Text 24"/>
          <p:cNvSpPr/>
          <p:nvPr/>
        </p:nvSpPr>
        <p:spPr>
          <a:xfrm>
            <a:off x="868680" y="3986784"/>
            <a:ext cx="640080" cy="228600"/>
          </a:xfrm>
          <a:prstGeom prst="rect">
            <a:avLst/>
          </a:prstGeom>
          <a:noFill/>
          <a:ln/>
        </p:spPr>
        <p:txBody>
          <a:bodyPr wrap="square" lIns="0" tIns="0" rIns="0" bIns="0" rtlCol="0" anchor="ctr"/>
          <a:lstStyle/>
          <a:p>
            <a:pPr marL="0" indent="0">
              <a:buNone/>
            </a:pPr>
            <a:r>
              <a:rPr lang="en-US" sz="1000" b="1" dirty="0">
                <a:solidFill>
                  <a:srgbClr val="E8985E"/>
                </a:solidFill>
                <a:latin typeface="Arial" pitchFamily="34" charset="0"/>
                <a:ea typeface="Arial" pitchFamily="34" charset="-122"/>
                <a:cs typeface="Arial" pitchFamily="34" charset="-120"/>
              </a:rPr>
              <a:t>Then</a:t>
            </a:r>
            <a:endParaRPr lang="en-US" sz="1000" dirty="0"/>
          </a:p>
        </p:txBody>
      </p:sp>
      <p:sp>
        <p:nvSpPr>
          <p:cNvPr id="27" name="Text 25"/>
          <p:cNvSpPr/>
          <p:nvPr/>
        </p:nvSpPr>
        <p:spPr>
          <a:xfrm>
            <a:off x="1600200" y="3986784"/>
            <a:ext cx="2286000" cy="228600"/>
          </a:xfrm>
          <a:prstGeom prst="rect">
            <a:avLst/>
          </a:prstGeom>
          <a:noFill/>
          <a:ln/>
        </p:spPr>
        <p:txBody>
          <a:bodyPr wrap="square" lIns="0" tIns="0" rIns="0" bIns="0" rtlCol="0" anchor="ctr"/>
          <a:lstStyle/>
          <a:p>
            <a:pPr marL="0" indent="0">
              <a:buNone/>
            </a:pPr>
            <a:r>
              <a:rPr lang="en-US" sz="1000" b="1" dirty="0">
                <a:solidFill>
                  <a:srgbClr val="111111"/>
                </a:solidFill>
                <a:latin typeface="Arial" pitchFamily="34" charset="0"/>
                <a:ea typeface="Arial" pitchFamily="34" charset="-122"/>
                <a:cs typeface="Arial" pitchFamily="34" charset="-120"/>
              </a:rPr>
              <a:t>Teams &amp; ops leads</a:t>
            </a:r>
            <a:endParaRPr lang="en-US" sz="1000" dirty="0"/>
          </a:p>
        </p:txBody>
      </p:sp>
      <p:sp>
        <p:nvSpPr>
          <p:cNvPr id="28" name="Text 26"/>
          <p:cNvSpPr/>
          <p:nvPr/>
        </p:nvSpPr>
        <p:spPr>
          <a:xfrm>
            <a:off x="4114800" y="3986784"/>
            <a:ext cx="4389120" cy="228600"/>
          </a:xfrm>
          <a:prstGeom prst="rect">
            <a:avLst/>
          </a:prstGeom>
          <a:noFill/>
          <a:ln/>
        </p:spPr>
        <p:txBody>
          <a:bodyPr wrap="square" lIns="0" tIns="0" rIns="0" bIns="0" rtlCol="0" anchor="ctr"/>
          <a:lstStyle/>
          <a:p>
            <a:pPr marL="0" indent="0">
              <a:buNone/>
            </a:pPr>
            <a:r>
              <a:rPr lang="en-US" sz="1000" dirty="0">
                <a:solidFill>
                  <a:srgbClr val="666666"/>
                </a:solidFill>
                <a:latin typeface="Arial" pitchFamily="34" charset="0"/>
                <a:ea typeface="Arial" pitchFamily="34" charset="-122"/>
                <a:cs typeface="Arial" pitchFamily="34" charset="-120"/>
              </a:rPr>
              <a:t>Standups, project reports, cross-team synthesis</a:t>
            </a:r>
            <a:endParaRPr lang="en-US" sz="1000" dirty="0"/>
          </a:p>
        </p:txBody>
      </p:sp>
      <p:sp>
        <p:nvSpPr>
          <p:cNvPr id="29" name="Shape 27"/>
          <p:cNvSpPr/>
          <p:nvPr/>
        </p:nvSpPr>
        <p:spPr>
          <a:xfrm>
            <a:off x="868680" y="4261104"/>
            <a:ext cx="7589520" cy="4572"/>
          </a:xfrm>
          <a:prstGeom prst="rect">
            <a:avLst/>
          </a:prstGeom>
          <a:solidFill>
            <a:srgbClr val="E5E5E5"/>
          </a:solidFill>
          <a:ln/>
        </p:spPr>
        <p:txBody>
          <a:bodyPr/>
          <a:lstStyle/>
          <a:p>
            <a:endParaRPr lang="en-KR"/>
          </a:p>
        </p:txBody>
      </p:sp>
      <p:sp>
        <p:nvSpPr>
          <p:cNvPr id="30" name="Text 28"/>
          <p:cNvSpPr/>
          <p:nvPr/>
        </p:nvSpPr>
        <p:spPr>
          <a:xfrm>
            <a:off x="868680" y="4334256"/>
            <a:ext cx="640080" cy="228600"/>
          </a:xfrm>
          <a:prstGeom prst="rect">
            <a:avLst/>
          </a:prstGeom>
          <a:noFill/>
          <a:ln/>
        </p:spPr>
        <p:txBody>
          <a:bodyPr wrap="square" lIns="0" tIns="0" rIns="0" bIns="0" rtlCol="0" anchor="ctr"/>
          <a:lstStyle/>
          <a:p>
            <a:pPr marL="0" indent="0">
              <a:buNone/>
            </a:pPr>
            <a:r>
              <a:rPr lang="en-US" sz="1000" b="1" dirty="0">
                <a:solidFill>
                  <a:srgbClr val="E8985E"/>
                </a:solidFill>
                <a:latin typeface="Arial" pitchFamily="34" charset="0"/>
                <a:ea typeface="Arial" pitchFamily="34" charset="-122"/>
                <a:cs typeface="Arial" pitchFamily="34" charset="-120"/>
              </a:rPr>
              <a:t>Scale</a:t>
            </a:r>
            <a:endParaRPr lang="en-US" sz="1000" dirty="0"/>
          </a:p>
        </p:txBody>
      </p:sp>
      <p:sp>
        <p:nvSpPr>
          <p:cNvPr id="31" name="Text 29"/>
          <p:cNvSpPr/>
          <p:nvPr/>
        </p:nvSpPr>
        <p:spPr>
          <a:xfrm>
            <a:off x="1600200" y="4334256"/>
            <a:ext cx="2286000" cy="228600"/>
          </a:xfrm>
          <a:prstGeom prst="rect">
            <a:avLst/>
          </a:prstGeom>
          <a:noFill/>
          <a:ln/>
        </p:spPr>
        <p:txBody>
          <a:bodyPr wrap="square" lIns="0" tIns="0" rIns="0" bIns="0" rtlCol="0" anchor="ctr"/>
          <a:lstStyle/>
          <a:p>
            <a:pPr marL="0" indent="0">
              <a:buNone/>
            </a:pPr>
            <a:r>
              <a:rPr lang="en-US" sz="1000" b="1" dirty="0">
                <a:solidFill>
                  <a:srgbClr val="111111"/>
                </a:solidFill>
                <a:latin typeface="Arial" pitchFamily="34" charset="0"/>
                <a:ea typeface="Arial" pitchFamily="34" charset="-122"/>
                <a:cs typeface="Arial" pitchFamily="34" charset="-120"/>
              </a:rPr>
              <a:t>All knowledge workers</a:t>
            </a:r>
            <a:endParaRPr lang="en-US" sz="1000" dirty="0"/>
          </a:p>
        </p:txBody>
      </p:sp>
      <p:sp>
        <p:nvSpPr>
          <p:cNvPr id="32" name="Text 30"/>
          <p:cNvSpPr/>
          <p:nvPr/>
        </p:nvSpPr>
        <p:spPr>
          <a:xfrm>
            <a:off x="4114800" y="4334256"/>
            <a:ext cx="4389120" cy="228600"/>
          </a:xfrm>
          <a:prstGeom prst="rect">
            <a:avLst/>
          </a:prstGeom>
          <a:noFill/>
          <a:ln/>
        </p:spPr>
        <p:txBody>
          <a:bodyPr wrap="square" lIns="0" tIns="0" rIns="0" bIns="0" rtlCol="0" anchor="ctr"/>
          <a:lstStyle/>
          <a:p>
            <a:pPr marL="0" indent="0">
              <a:buNone/>
            </a:pPr>
            <a:r>
              <a:rPr lang="en-US" sz="1000" dirty="0">
                <a:solidFill>
                  <a:srgbClr val="666666"/>
                </a:solidFill>
                <a:latin typeface="Arial" pitchFamily="34" charset="0"/>
                <a:ea typeface="Arial" pitchFamily="34" charset="-122"/>
                <a:cs typeface="Arial" pitchFamily="34" charset="-120"/>
              </a:rPr>
              <a:t>Any professional with recurring work obligations</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457200"/>
            <a:ext cx="3657600" cy="274320"/>
          </a:xfrm>
          <a:prstGeom prst="rect">
            <a:avLst/>
          </a:prstGeom>
          <a:noFill/>
          <a:ln/>
        </p:spPr>
        <p:txBody>
          <a:bodyPr wrap="square" lIns="0" tIns="0" rIns="0" bIns="0" rtlCol="0" anchor="ctr"/>
          <a:lstStyle/>
          <a:p>
            <a:pPr marL="0" indent="0">
              <a:buNone/>
            </a:pPr>
            <a:r>
              <a:rPr lang="en-US" sz="1100" b="1" dirty="0">
                <a:solidFill>
                  <a:srgbClr val="E8985E"/>
                </a:solidFill>
                <a:latin typeface="Arial" pitchFamily="34" charset="0"/>
                <a:ea typeface="Arial" pitchFamily="34" charset="-122"/>
                <a:cs typeface="Arial" pitchFamily="34" charset="-120"/>
              </a:rPr>
              <a:t>Pricing Model</a:t>
            </a:r>
            <a:endParaRPr lang="en-US" sz="1100" dirty="0"/>
          </a:p>
        </p:txBody>
      </p:sp>
      <p:sp>
        <p:nvSpPr>
          <p:cNvPr id="3" name="Text 1"/>
          <p:cNvSpPr/>
          <p:nvPr/>
        </p:nvSpPr>
        <p:spPr>
          <a:xfrm>
            <a:off x="685800" y="777240"/>
            <a:ext cx="7772400" cy="640080"/>
          </a:xfrm>
          <a:prstGeom prst="rect">
            <a:avLst/>
          </a:prstGeom>
          <a:noFill/>
          <a:ln/>
        </p:spPr>
        <p:txBody>
          <a:bodyPr wrap="square" lIns="0" tIns="0" rIns="0" bIns="0" rtlCol="0" anchor="ctr"/>
          <a:lstStyle/>
          <a:p>
            <a:pPr marL="0" indent="0">
              <a:buNone/>
            </a:pPr>
            <a:r>
              <a:rPr lang="en-US" sz="2600" b="1" dirty="0">
                <a:solidFill>
                  <a:srgbClr val="111111"/>
                </a:solidFill>
                <a:latin typeface="Arial" pitchFamily="34" charset="0"/>
                <a:ea typeface="Arial" pitchFamily="34" charset="-122"/>
                <a:cs typeface="Arial" pitchFamily="34" charset="-120"/>
              </a:rPr>
              <a:t>Two tiers. Knowledge depth is the lever.</a:t>
            </a:r>
            <a:endParaRPr lang="en-US" sz="2600" dirty="0"/>
          </a:p>
        </p:txBody>
      </p:sp>
      <p:sp>
        <p:nvSpPr>
          <p:cNvPr id="4" name="Shape 2"/>
          <p:cNvSpPr/>
          <p:nvPr/>
        </p:nvSpPr>
        <p:spPr>
          <a:xfrm>
            <a:off x="685800" y="1554480"/>
            <a:ext cx="2606040" cy="2377440"/>
          </a:xfrm>
          <a:prstGeom prst="rect">
            <a:avLst/>
          </a:prstGeom>
          <a:solidFill>
            <a:srgbClr val="F8F8F8"/>
          </a:solidFill>
          <a:ln/>
        </p:spPr>
        <p:txBody>
          <a:bodyPr/>
          <a:lstStyle/>
          <a:p>
            <a:endParaRPr lang="en-KR"/>
          </a:p>
        </p:txBody>
      </p:sp>
      <p:sp>
        <p:nvSpPr>
          <p:cNvPr id="5" name="Text 3"/>
          <p:cNvSpPr/>
          <p:nvPr/>
        </p:nvSpPr>
        <p:spPr>
          <a:xfrm>
            <a:off x="868680" y="1645920"/>
            <a:ext cx="2194560" cy="228600"/>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Free</a:t>
            </a:r>
            <a:endParaRPr lang="en-US" sz="1400" dirty="0"/>
          </a:p>
        </p:txBody>
      </p:sp>
      <p:sp>
        <p:nvSpPr>
          <p:cNvPr id="6" name="Text 4"/>
          <p:cNvSpPr/>
          <p:nvPr/>
        </p:nvSpPr>
        <p:spPr>
          <a:xfrm>
            <a:off x="868680" y="1874520"/>
            <a:ext cx="1097280" cy="365760"/>
          </a:xfrm>
          <a:prstGeom prst="rect">
            <a:avLst/>
          </a:prstGeom>
          <a:noFill/>
          <a:ln/>
        </p:spPr>
        <p:txBody>
          <a:bodyPr wrap="square" lIns="0" tIns="0" rIns="0" bIns="0" rtlCol="0" anchor="ctr"/>
          <a:lstStyle/>
          <a:p>
            <a:pPr marL="0" indent="0">
              <a:buNone/>
            </a:pPr>
            <a:r>
              <a:rPr lang="en-US" sz="2000" b="1" dirty="0">
                <a:solidFill>
                  <a:srgbClr val="111111"/>
                </a:solidFill>
                <a:latin typeface="Arial" pitchFamily="34" charset="0"/>
                <a:ea typeface="Arial" pitchFamily="34" charset="-122"/>
                <a:cs typeface="Arial" pitchFamily="34" charset="-120"/>
              </a:rPr>
              <a:t>$0</a:t>
            </a:r>
            <a:endParaRPr lang="en-US" sz="2000" dirty="0"/>
          </a:p>
        </p:txBody>
      </p:sp>
      <p:sp>
        <p:nvSpPr>
          <p:cNvPr id="7" name="Text 5"/>
          <p:cNvSpPr/>
          <p:nvPr/>
        </p:nvSpPr>
        <p:spPr>
          <a:xfrm>
            <a:off x="1600200" y="1938528"/>
            <a:ext cx="914400" cy="228600"/>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/mo</a:t>
            </a:r>
            <a:endParaRPr lang="en-US" sz="1100" dirty="0"/>
          </a:p>
        </p:txBody>
      </p:sp>
      <p:sp>
        <p:nvSpPr>
          <p:cNvPr id="8" name="Shape 6"/>
          <p:cNvSpPr/>
          <p:nvPr/>
        </p:nvSpPr>
        <p:spPr>
          <a:xfrm>
            <a:off x="868680" y="2304288"/>
            <a:ext cx="2194560" cy="4572"/>
          </a:xfrm>
          <a:prstGeom prst="rect">
            <a:avLst/>
          </a:prstGeom>
          <a:solidFill>
            <a:srgbClr val="E5E5E5"/>
          </a:solidFill>
          <a:ln/>
        </p:spPr>
        <p:txBody>
          <a:bodyPr/>
          <a:lstStyle/>
          <a:p>
            <a:endParaRPr lang="en-KR"/>
          </a:p>
        </p:txBody>
      </p:sp>
      <p:sp>
        <p:nvSpPr>
          <p:cNvPr id="9" name="Text 7"/>
          <p:cNvSpPr/>
          <p:nvPr/>
        </p:nvSpPr>
        <p:spPr>
          <a:xfrm>
            <a:off x="868680" y="2395728"/>
            <a:ext cx="2194560" cy="237744"/>
          </a:xfrm>
          <a:prstGeom prst="rect">
            <a:avLst/>
          </a:prstGeom>
          <a:noFill/>
          <a:ln/>
        </p:spPr>
        <p:txBody>
          <a:bodyPr wrap="square" lIns="0" tIns="0" rIns="0" bIns="0" rtlCol="0" anchor="ctr"/>
          <a:lstStyle/>
          <a:p>
            <a:pPr marL="0" indent="0">
              <a:buNone/>
            </a:pPr>
            <a:r>
              <a:rPr lang="en-US" sz="1000" dirty="0">
                <a:solidFill>
                  <a:srgbClr val="666666"/>
                </a:solidFill>
                <a:latin typeface="Arial" pitchFamily="34" charset="0"/>
                <a:ea typeface="Arial" pitchFamily="34" charset="-122"/>
                <a:cs typeface="Arial" pitchFamily="34" charset="-120"/>
              </a:rPr>
              <a:t>•  2 platforms connected</a:t>
            </a:r>
            <a:endParaRPr lang="en-US" sz="1000" dirty="0"/>
          </a:p>
        </p:txBody>
      </p:sp>
      <p:sp>
        <p:nvSpPr>
          <p:cNvPr id="10" name="Text 8"/>
          <p:cNvSpPr/>
          <p:nvPr/>
        </p:nvSpPr>
        <p:spPr>
          <a:xfrm>
            <a:off x="868680" y="2670048"/>
            <a:ext cx="2194560" cy="237744"/>
          </a:xfrm>
          <a:prstGeom prst="rect">
            <a:avLst/>
          </a:prstGeom>
          <a:noFill/>
          <a:ln/>
        </p:spPr>
        <p:txBody>
          <a:bodyPr wrap="square" lIns="0" tIns="0" rIns="0" bIns="0" rtlCol="0" anchor="ctr"/>
          <a:lstStyle/>
          <a:p>
            <a:pPr marL="0" indent="0">
              <a:buNone/>
            </a:pPr>
            <a:r>
              <a:rPr lang="en-US" sz="1000" dirty="0">
                <a:solidFill>
                  <a:srgbClr val="666666"/>
                </a:solidFill>
                <a:latin typeface="Arial" pitchFamily="34" charset="0"/>
                <a:ea typeface="Arial" pitchFamily="34" charset="-122"/>
                <a:cs typeface="Arial" pitchFamily="34" charset="-120"/>
              </a:rPr>
              <a:t>•  5 sources per platform</a:t>
            </a:r>
            <a:endParaRPr lang="en-US" sz="1000" dirty="0"/>
          </a:p>
        </p:txBody>
      </p:sp>
      <p:sp>
        <p:nvSpPr>
          <p:cNvPr id="11" name="Text 9"/>
          <p:cNvSpPr/>
          <p:nvPr/>
        </p:nvSpPr>
        <p:spPr>
          <a:xfrm>
            <a:off x="868680" y="2944368"/>
            <a:ext cx="2194560" cy="237744"/>
          </a:xfrm>
          <a:prstGeom prst="rect">
            <a:avLst/>
          </a:prstGeom>
          <a:noFill/>
          <a:ln/>
        </p:spPr>
        <p:txBody>
          <a:bodyPr wrap="square" lIns="0" tIns="0" rIns="0" bIns="0" rtlCol="0" anchor="ctr"/>
          <a:lstStyle/>
          <a:p>
            <a:pPr marL="0" indent="0">
              <a:buNone/>
            </a:pPr>
            <a:r>
              <a:rPr lang="en-US" sz="1000" dirty="0">
                <a:solidFill>
                  <a:srgbClr val="666666"/>
                </a:solidFill>
                <a:latin typeface="Arial" pitchFamily="34" charset="0"/>
                <a:ea typeface="Arial" pitchFamily="34" charset="-122"/>
                <a:cs typeface="Arial" pitchFamily="34" charset="-120"/>
              </a:rPr>
              <a:t>•  Sync 2x/day</a:t>
            </a:r>
            <a:endParaRPr lang="en-US" sz="1000" dirty="0"/>
          </a:p>
        </p:txBody>
      </p:sp>
      <p:sp>
        <p:nvSpPr>
          <p:cNvPr id="12" name="Text 10"/>
          <p:cNvSpPr/>
          <p:nvPr/>
        </p:nvSpPr>
        <p:spPr>
          <a:xfrm>
            <a:off x="868680" y="3218688"/>
            <a:ext cx="2194560" cy="237744"/>
          </a:xfrm>
          <a:prstGeom prst="rect">
            <a:avLst/>
          </a:prstGeom>
          <a:noFill/>
          <a:ln/>
        </p:spPr>
        <p:txBody>
          <a:bodyPr wrap="square" lIns="0" tIns="0" rIns="0" bIns="0" rtlCol="0" anchor="ctr"/>
          <a:lstStyle/>
          <a:p>
            <a:pPr marL="0" indent="0">
              <a:buNone/>
            </a:pPr>
            <a:r>
              <a:rPr lang="en-US" sz="1000" dirty="0">
                <a:solidFill>
                  <a:srgbClr val="666666"/>
                </a:solidFill>
                <a:latin typeface="Arial" pitchFamily="34" charset="0"/>
                <a:ea typeface="Arial" pitchFamily="34" charset="-122"/>
                <a:cs typeface="Arial" pitchFamily="34" charset="-120"/>
              </a:rPr>
              <a:t>•  50 orchestrator messages/mo</a:t>
            </a:r>
            <a:endParaRPr lang="en-US" sz="1000" dirty="0"/>
          </a:p>
        </p:txBody>
      </p:sp>
      <p:sp>
        <p:nvSpPr>
          <p:cNvPr id="13" name="Text 11"/>
          <p:cNvSpPr/>
          <p:nvPr/>
        </p:nvSpPr>
        <p:spPr>
          <a:xfrm>
            <a:off x="868680" y="3493008"/>
            <a:ext cx="2194560" cy="237744"/>
          </a:xfrm>
          <a:prstGeom prst="rect">
            <a:avLst/>
          </a:prstGeom>
          <a:noFill/>
          <a:ln/>
        </p:spPr>
        <p:txBody>
          <a:bodyPr wrap="square" lIns="0" tIns="0" rIns="0" bIns="0" rtlCol="0" anchor="ctr"/>
          <a:lstStyle/>
          <a:p>
            <a:pPr marL="0" indent="0">
              <a:buNone/>
            </a:pPr>
            <a:r>
              <a:rPr lang="en-US" sz="1000" dirty="0">
                <a:solidFill>
                  <a:srgbClr val="666666"/>
                </a:solidFill>
                <a:latin typeface="Arial" pitchFamily="34" charset="0"/>
                <a:ea typeface="Arial" pitchFamily="34" charset="-122"/>
                <a:cs typeface="Arial" pitchFamily="34" charset="-120"/>
              </a:rPr>
              <a:t>•  2 active agents</a:t>
            </a:r>
            <a:endParaRPr lang="en-US" sz="1000" dirty="0"/>
          </a:p>
        </p:txBody>
      </p:sp>
      <p:sp>
        <p:nvSpPr>
          <p:cNvPr id="14" name="Shape 12"/>
          <p:cNvSpPr/>
          <p:nvPr/>
        </p:nvSpPr>
        <p:spPr>
          <a:xfrm>
            <a:off x="3520440" y="1554480"/>
            <a:ext cx="2606040" cy="2377440"/>
          </a:xfrm>
          <a:prstGeom prst="rect">
            <a:avLst/>
          </a:prstGeom>
          <a:solidFill>
            <a:srgbClr val="F8F8F8"/>
          </a:solidFill>
          <a:ln/>
        </p:spPr>
        <p:txBody>
          <a:bodyPr/>
          <a:lstStyle/>
          <a:p>
            <a:endParaRPr lang="en-KR"/>
          </a:p>
        </p:txBody>
      </p:sp>
      <p:sp>
        <p:nvSpPr>
          <p:cNvPr id="15" name="Text 13"/>
          <p:cNvSpPr/>
          <p:nvPr/>
        </p:nvSpPr>
        <p:spPr>
          <a:xfrm>
            <a:off x="3703320" y="1645920"/>
            <a:ext cx="2194560" cy="228600"/>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Pro</a:t>
            </a:r>
            <a:endParaRPr lang="en-US" sz="1400" dirty="0"/>
          </a:p>
        </p:txBody>
      </p:sp>
      <p:sp>
        <p:nvSpPr>
          <p:cNvPr id="16" name="Text 14"/>
          <p:cNvSpPr/>
          <p:nvPr/>
        </p:nvSpPr>
        <p:spPr>
          <a:xfrm>
            <a:off x="3703320" y="1874520"/>
            <a:ext cx="1097280" cy="365760"/>
          </a:xfrm>
          <a:prstGeom prst="rect">
            <a:avLst/>
          </a:prstGeom>
          <a:noFill/>
          <a:ln/>
        </p:spPr>
        <p:txBody>
          <a:bodyPr wrap="square" lIns="0" tIns="0" rIns="0" bIns="0" rtlCol="0" anchor="ctr"/>
          <a:lstStyle/>
          <a:p>
            <a:pPr marL="0" indent="0">
              <a:buNone/>
            </a:pPr>
            <a:r>
              <a:rPr lang="en-US" sz="2000" b="1" dirty="0">
                <a:solidFill>
                  <a:srgbClr val="111111"/>
                </a:solidFill>
                <a:latin typeface="Arial" pitchFamily="34" charset="0"/>
                <a:ea typeface="Arial" pitchFamily="34" charset="-122"/>
                <a:cs typeface="Arial" pitchFamily="34" charset="-120"/>
              </a:rPr>
              <a:t>$19</a:t>
            </a:r>
            <a:endParaRPr lang="en-US" sz="2000" dirty="0"/>
          </a:p>
        </p:txBody>
      </p:sp>
      <p:sp>
        <p:nvSpPr>
          <p:cNvPr id="17" name="Text 15"/>
          <p:cNvSpPr/>
          <p:nvPr/>
        </p:nvSpPr>
        <p:spPr>
          <a:xfrm>
            <a:off x="4434840" y="1938528"/>
            <a:ext cx="914400" cy="228600"/>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/mo</a:t>
            </a:r>
            <a:endParaRPr lang="en-US" sz="1100" dirty="0"/>
          </a:p>
        </p:txBody>
      </p:sp>
      <p:sp>
        <p:nvSpPr>
          <p:cNvPr id="18" name="Shape 16"/>
          <p:cNvSpPr/>
          <p:nvPr/>
        </p:nvSpPr>
        <p:spPr>
          <a:xfrm>
            <a:off x="3703320" y="2304288"/>
            <a:ext cx="2194560" cy="4572"/>
          </a:xfrm>
          <a:prstGeom prst="rect">
            <a:avLst/>
          </a:prstGeom>
          <a:solidFill>
            <a:srgbClr val="E5E5E5"/>
          </a:solidFill>
          <a:ln/>
        </p:spPr>
        <p:txBody>
          <a:bodyPr/>
          <a:lstStyle/>
          <a:p>
            <a:endParaRPr lang="en-KR"/>
          </a:p>
        </p:txBody>
      </p:sp>
      <p:sp>
        <p:nvSpPr>
          <p:cNvPr id="19" name="Text 17"/>
          <p:cNvSpPr/>
          <p:nvPr/>
        </p:nvSpPr>
        <p:spPr>
          <a:xfrm>
            <a:off x="3703320" y="2395728"/>
            <a:ext cx="2194560" cy="237744"/>
          </a:xfrm>
          <a:prstGeom prst="rect">
            <a:avLst/>
          </a:prstGeom>
          <a:noFill/>
          <a:ln/>
        </p:spPr>
        <p:txBody>
          <a:bodyPr wrap="square" lIns="0" tIns="0" rIns="0" bIns="0" rtlCol="0" anchor="ctr"/>
          <a:lstStyle/>
          <a:p>
            <a:pPr marL="0" indent="0">
              <a:buNone/>
            </a:pPr>
            <a:r>
              <a:rPr lang="en-US" sz="1000" dirty="0">
                <a:solidFill>
                  <a:srgbClr val="666666"/>
                </a:solidFill>
                <a:latin typeface="Arial" pitchFamily="34" charset="0"/>
                <a:ea typeface="Arial" pitchFamily="34" charset="-122"/>
                <a:cs typeface="Arial" pitchFamily="34" charset="-120"/>
              </a:rPr>
              <a:t>•  4 platforms connected</a:t>
            </a:r>
            <a:endParaRPr lang="en-US" sz="1000" dirty="0"/>
          </a:p>
        </p:txBody>
      </p:sp>
      <p:sp>
        <p:nvSpPr>
          <p:cNvPr id="20" name="Text 18"/>
          <p:cNvSpPr/>
          <p:nvPr/>
        </p:nvSpPr>
        <p:spPr>
          <a:xfrm>
            <a:off x="3703320" y="2670048"/>
            <a:ext cx="2194560" cy="237744"/>
          </a:xfrm>
          <a:prstGeom prst="rect">
            <a:avLst/>
          </a:prstGeom>
          <a:noFill/>
          <a:ln/>
        </p:spPr>
        <p:txBody>
          <a:bodyPr wrap="square" lIns="0" tIns="0" rIns="0" bIns="0" rtlCol="0" anchor="ctr"/>
          <a:lstStyle/>
          <a:p>
            <a:pPr marL="0" indent="0">
              <a:buNone/>
            </a:pPr>
            <a:r>
              <a:rPr lang="en-US" sz="1000" dirty="0">
                <a:solidFill>
                  <a:srgbClr val="666666"/>
                </a:solidFill>
                <a:latin typeface="Arial" pitchFamily="34" charset="0"/>
                <a:ea typeface="Arial" pitchFamily="34" charset="-122"/>
                <a:cs typeface="Arial" pitchFamily="34" charset="-120"/>
              </a:rPr>
              <a:t>•  Unlimited sources</a:t>
            </a:r>
            <a:endParaRPr lang="en-US" sz="1000" dirty="0"/>
          </a:p>
        </p:txBody>
      </p:sp>
      <p:sp>
        <p:nvSpPr>
          <p:cNvPr id="21" name="Text 19"/>
          <p:cNvSpPr/>
          <p:nvPr/>
        </p:nvSpPr>
        <p:spPr>
          <a:xfrm>
            <a:off x="3703320" y="2944368"/>
            <a:ext cx="2194560" cy="237744"/>
          </a:xfrm>
          <a:prstGeom prst="rect">
            <a:avLst/>
          </a:prstGeom>
          <a:noFill/>
          <a:ln/>
        </p:spPr>
        <p:txBody>
          <a:bodyPr wrap="square" lIns="0" tIns="0" rIns="0" bIns="0" rtlCol="0" anchor="ctr"/>
          <a:lstStyle/>
          <a:p>
            <a:pPr marL="0" indent="0">
              <a:buNone/>
            </a:pPr>
            <a:r>
              <a:rPr lang="en-US" sz="1000" dirty="0">
                <a:solidFill>
                  <a:srgbClr val="666666"/>
                </a:solidFill>
                <a:latin typeface="Arial" pitchFamily="34" charset="0"/>
                <a:ea typeface="Arial" pitchFamily="34" charset="-122"/>
                <a:cs typeface="Arial" pitchFamily="34" charset="-120"/>
              </a:rPr>
              <a:t>•  Hourly sync</a:t>
            </a:r>
            <a:endParaRPr lang="en-US" sz="1000" dirty="0"/>
          </a:p>
        </p:txBody>
      </p:sp>
      <p:sp>
        <p:nvSpPr>
          <p:cNvPr id="22" name="Text 20"/>
          <p:cNvSpPr/>
          <p:nvPr/>
        </p:nvSpPr>
        <p:spPr>
          <a:xfrm>
            <a:off x="3703320" y="3218688"/>
            <a:ext cx="2194560" cy="237744"/>
          </a:xfrm>
          <a:prstGeom prst="rect">
            <a:avLst/>
          </a:prstGeom>
          <a:noFill/>
          <a:ln/>
        </p:spPr>
        <p:txBody>
          <a:bodyPr wrap="square" lIns="0" tIns="0" rIns="0" bIns="0" rtlCol="0" anchor="ctr"/>
          <a:lstStyle/>
          <a:p>
            <a:pPr marL="0" indent="0">
              <a:buNone/>
            </a:pPr>
            <a:r>
              <a:rPr lang="en-US" sz="1000" dirty="0">
                <a:solidFill>
                  <a:srgbClr val="666666"/>
                </a:solidFill>
                <a:latin typeface="Arial" pitchFamily="34" charset="0"/>
                <a:ea typeface="Arial" pitchFamily="34" charset="-122"/>
                <a:cs typeface="Arial" pitchFamily="34" charset="-120"/>
              </a:rPr>
              <a:t>•  Unlimited orchestrator messages</a:t>
            </a:r>
            <a:endParaRPr lang="en-US" sz="1000" dirty="0"/>
          </a:p>
        </p:txBody>
      </p:sp>
      <p:sp>
        <p:nvSpPr>
          <p:cNvPr id="23" name="Text 21"/>
          <p:cNvSpPr/>
          <p:nvPr/>
        </p:nvSpPr>
        <p:spPr>
          <a:xfrm>
            <a:off x="3703320" y="3493008"/>
            <a:ext cx="2194560" cy="237744"/>
          </a:xfrm>
          <a:prstGeom prst="rect">
            <a:avLst/>
          </a:prstGeom>
          <a:noFill/>
          <a:ln/>
        </p:spPr>
        <p:txBody>
          <a:bodyPr wrap="square" lIns="0" tIns="0" rIns="0" bIns="0" rtlCol="0" anchor="ctr"/>
          <a:lstStyle/>
          <a:p>
            <a:pPr marL="0" indent="0">
              <a:buNone/>
            </a:pPr>
            <a:r>
              <a:rPr lang="en-US" sz="1000" dirty="0">
                <a:solidFill>
                  <a:srgbClr val="666666"/>
                </a:solidFill>
                <a:latin typeface="Arial" pitchFamily="34" charset="0"/>
                <a:ea typeface="Arial" pitchFamily="34" charset="-122"/>
                <a:cs typeface="Arial" pitchFamily="34" charset="-120"/>
              </a:rPr>
              <a:t>•  Unlimited agents</a:t>
            </a:r>
            <a:endParaRPr lang="en-US" sz="1000" dirty="0"/>
          </a:p>
        </p:txBody>
      </p:sp>
      <p:sp>
        <p:nvSpPr>
          <p:cNvPr id="24" name="Shape 22"/>
          <p:cNvSpPr/>
          <p:nvPr/>
        </p:nvSpPr>
        <p:spPr>
          <a:xfrm>
            <a:off x="6355080" y="1554480"/>
            <a:ext cx="2606040" cy="2377440"/>
          </a:xfrm>
          <a:prstGeom prst="rect">
            <a:avLst/>
          </a:prstGeom>
          <a:solidFill>
            <a:srgbClr val="E8985E"/>
          </a:solidFill>
          <a:ln/>
        </p:spPr>
        <p:txBody>
          <a:bodyPr/>
          <a:lstStyle/>
          <a:p>
            <a:endParaRPr lang="en-KR"/>
          </a:p>
        </p:txBody>
      </p:sp>
      <p:sp>
        <p:nvSpPr>
          <p:cNvPr id="25" name="Text 23"/>
          <p:cNvSpPr/>
          <p:nvPr/>
        </p:nvSpPr>
        <p:spPr>
          <a:xfrm>
            <a:off x="6537960" y="1645920"/>
            <a:ext cx="2194560" cy="228600"/>
          </a:xfrm>
          <a:prstGeom prst="rect">
            <a:avLst/>
          </a:prstGeom>
          <a:noFill/>
          <a:ln/>
        </p:spPr>
        <p:txBody>
          <a:bodyPr wrap="square" lIns="0" tIns="0" rIns="0" bIns="0" rtlCol="0" anchor="ctr"/>
          <a:lstStyle/>
          <a:p>
            <a:pPr marL="0" indent="0">
              <a:buNone/>
            </a:pPr>
            <a:r>
              <a:rPr lang="en-US" sz="1400" b="1" dirty="0">
                <a:solidFill>
                  <a:srgbClr val="FFFFFF"/>
                </a:solidFill>
                <a:latin typeface="Arial" pitchFamily="34" charset="0"/>
                <a:ea typeface="Arial" pitchFamily="34" charset="-122"/>
                <a:cs typeface="Arial" pitchFamily="34" charset="-120"/>
              </a:rPr>
              <a:t>Enterprise</a:t>
            </a:r>
            <a:endParaRPr lang="en-US" sz="1400" dirty="0"/>
          </a:p>
        </p:txBody>
      </p:sp>
      <p:sp>
        <p:nvSpPr>
          <p:cNvPr id="26" name="Text 24"/>
          <p:cNvSpPr/>
          <p:nvPr/>
        </p:nvSpPr>
        <p:spPr>
          <a:xfrm>
            <a:off x="6537960" y="1874520"/>
            <a:ext cx="1097280" cy="365760"/>
          </a:xfrm>
          <a:prstGeom prst="rect">
            <a:avLst/>
          </a:prstGeom>
          <a:noFill/>
          <a:ln/>
        </p:spPr>
        <p:txBody>
          <a:bodyPr wrap="square" lIns="0" tIns="0" rIns="0" bIns="0" rtlCol="0" anchor="ctr"/>
          <a:lstStyle/>
          <a:p>
            <a:pPr marL="0" indent="0">
              <a:buNone/>
            </a:pPr>
            <a:r>
              <a:rPr lang="en-US" sz="2000" b="1" dirty="0">
                <a:solidFill>
                  <a:srgbClr val="FFFFFF"/>
                </a:solidFill>
                <a:latin typeface="Arial" pitchFamily="34" charset="0"/>
                <a:ea typeface="Arial" pitchFamily="34" charset="-122"/>
                <a:cs typeface="Arial" pitchFamily="34" charset="-120"/>
              </a:rPr>
              <a:t>TBD</a:t>
            </a:r>
            <a:endParaRPr lang="en-US" sz="2000" dirty="0"/>
          </a:p>
        </p:txBody>
      </p:sp>
      <p:sp>
        <p:nvSpPr>
          <p:cNvPr id="27" name="Text 25"/>
          <p:cNvSpPr/>
          <p:nvPr/>
        </p:nvSpPr>
        <p:spPr>
          <a:xfrm>
            <a:off x="7269480" y="1938528"/>
            <a:ext cx="914400" cy="228600"/>
          </a:xfrm>
          <a:prstGeom prst="rect">
            <a:avLst/>
          </a:prstGeom>
          <a:noFill/>
          <a:ln/>
        </p:spPr>
        <p:txBody>
          <a:bodyPr wrap="square" lIns="0" tIns="0" rIns="0" bIns="0" rtlCol="0" anchor="ctr"/>
          <a:lstStyle/>
          <a:p>
            <a:pPr marL="0" indent="0">
              <a:buNone/>
            </a:pPr>
            <a:r>
              <a:rPr lang="en-US" sz="1100" dirty="0">
                <a:solidFill>
                  <a:srgbClr val="FFFFFF"/>
                </a:solidFill>
                <a:latin typeface="Arial" pitchFamily="34" charset="0"/>
                <a:ea typeface="Arial" pitchFamily="34" charset="-122"/>
                <a:cs typeface="Arial" pitchFamily="34" charset="-120"/>
              </a:rPr>
              <a:t>/mo</a:t>
            </a:r>
            <a:endParaRPr lang="en-US" sz="1100" dirty="0"/>
          </a:p>
        </p:txBody>
      </p:sp>
      <p:sp>
        <p:nvSpPr>
          <p:cNvPr id="28" name="Shape 26"/>
          <p:cNvSpPr/>
          <p:nvPr/>
        </p:nvSpPr>
        <p:spPr>
          <a:xfrm>
            <a:off x="6537960" y="2304288"/>
            <a:ext cx="2194560" cy="4572"/>
          </a:xfrm>
          <a:prstGeom prst="rect">
            <a:avLst/>
          </a:prstGeom>
          <a:solidFill>
            <a:srgbClr val="FFFFFF"/>
          </a:solidFill>
          <a:ln/>
        </p:spPr>
        <p:txBody>
          <a:bodyPr/>
          <a:lstStyle/>
          <a:p>
            <a:endParaRPr lang="en-KR"/>
          </a:p>
        </p:txBody>
      </p:sp>
      <p:sp>
        <p:nvSpPr>
          <p:cNvPr id="29" name="Text 27"/>
          <p:cNvSpPr/>
          <p:nvPr/>
        </p:nvSpPr>
        <p:spPr>
          <a:xfrm>
            <a:off x="6537960" y="2395728"/>
            <a:ext cx="2194560" cy="237744"/>
          </a:xfrm>
          <a:prstGeom prst="rect">
            <a:avLst/>
          </a:prstGeom>
          <a:noFill/>
          <a:ln/>
        </p:spPr>
        <p:txBody>
          <a:bodyPr wrap="square" lIns="0" tIns="0" rIns="0" bIns="0" rtlCol="0" anchor="ctr"/>
          <a:lstStyle/>
          <a:p>
            <a:pPr marL="0" indent="0">
              <a:buNone/>
            </a:pPr>
            <a:r>
              <a:rPr lang="en-US" sz="1000" dirty="0">
                <a:solidFill>
                  <a:srgbClr val="FFFFFF"/>
                </a:solidFill>
                <a:latin typeface="Arial" pitchFamily="34" charset="0"/>
                <a:ea typeface="Arial" pitchFamily="34" charset="-122"/>
                <a:cs typeface="Arial" pitchFamily="34" charset="-120"/>
              </a:rPr>
              <a:t>•  Everything in Pro</a:t>
            </a:r>
            <a:endParaRPr lang="en-US" sz="1000" dirty="0"/>
          </a:p>
        </p:txBody>
      </p:sp>
      <p:sp>
        <p:nvSpPr>
          <p:cNvPr id="30" name="Text 28"/>
          <p:cNvSpPr/>
          <p:nvPr/>
        </p:nvSpPr>
        <p:spPr>
          <a:xfrm>
            <a:off x="6537960" y="2670048"/>
            <a:ext cx="2194560" cy="237744"/>
          </a:xfrm>
          <a:prstGeom prst="rect">
            <a:avLst/>
          </a:prstGeom>
          <a:noFill/>
          <a:ln/>
        </p:spPr>
        <p:txBody>
          <a:bodyPr wrap="square" lIns="0" tIns="0" rIns="0" bIns="0" rtlCol="0" anchor="ctr"/>
          <a:lstStyle/>
          <a:p>
            <a:pPr marL="0" indent="0">
              <a:buNone/>
            </a:pPr>
            <a:r>
              <a:rPr lang="en-US" sz="1000" dirty="0">
                <a:solidFill>
                  <a:srgbClr val="FFFFFF"/>
                </a:solidFill>
                <a:latin typeface="Arial" pitchFamily="34" charset="0"/>
                <a:ea typeface="Arial" pitchFamily="34" charset="-122"/>
                <a:cs typeface="Arial" pitchFamily="34" charset="-120"/>
              </a:rPr>
              <a:t>•  Team workspaces</a:t>
            </a:r>
            <a:endParaRPr lang="en-US" sz="1000" dirty="0"/>
          </a:p>
        </p:txBody>
      </p:sp>
      <p:sp>
        <p:nvSpPr>
          <p:cNvPr id="31" name="Text 29"/>
          <p:cNvSpPr/>
          <p:nvPr/>
        </p:nvSpPr>
        <p:spPr>
          <a:xfrm>
            <a:off x="6537960" y="2944368"/>
            <a:ext cx="2194560" cy="237744"/>
          </a:xfrm>
          <a:prstGeom prst="rect">
            <a:avLst/>
          </a:prstGeom>
          <a:noFill/>
          <a:ln/>
        </p:spPr>
        <p:txBody>
          <a:bodyPr wrap="square" lIns="0" tIns="0" rIns="0" bIns="0" rtlCol="0" anchor="ctr"/>
          <a:lstStyle/>
          <a:p>
            <a:pPr marL="0" indent="0">
              <a:buNone/>
            </a:pPr>
            <a:r>
              <a:rPr lang="en-US" sz="1000" dirty="0">
                <a:solidFill>
                  <a:srgbClr val="FFFFFF"/>
                </a:solidFill>
                <a:latin typeface="Arial" pitchFamily="34" charset="0"/>
                <a:ea typeface="Arial" pitchFamily="34" charset="-122"/>
                <a:cs typeface="Arial" pitchFamily="34" charset="-120"/>
              </a:rPr>
              <a:t>•  Priority support</a:t>
            </a:r>
            <a:endParaRPr lang="en-US" sz="1000" dirty="0"/>
          </a:p>
        </p:txBody>
      </p:sp>
      <p:sp>
        <p:nvSpPr>
          <p:cNvPr id="32" name="Text 30"/>
          <p:cNvSpPr/>
          <p:nvPr/>
        </p:nvSpPr>
        <p:spPr>
          <a:xfrm>
            <a:off x="6537960" y="3218688"/>
            <a:ext cx="2194560" cy="237744"/>
          </a:xfrm>
          <a:prstGeom prst="rect">
            <a:avLst/>
          </a:prstGeom>
          <a:noFill/>
          <a:ln/>
        </p:spPr>
        <p:txBody>
          <a:bodyPr wrap="square" lIns="0" tIns="0" rIns="0" bIns="0" rtlCol="0" anchor="ctr"/>
          <a:lstStyle/>
          <a:p>
            <a:pPr marL="0" indent="0">
              <a:buNone/>
            </a:pPr>
            <a:r>
              <a:rPr lang="en-US" sz="1000" dirty="0">
                <a:solidFill>
                  <a:srgbClr val="FFFFFF"/>
                </a:solidFill>
                <a:latin typeface="Arial" pitchFamily="34" charset="0"/>
                <a:ea typeface="Arial" pitchFamily="34" charset="-122"/>
                <a:cs typeface="Arial" pitchFamily="34" charset="-120"/>
              </a:rPr>
              <a:t>•  Custom integrations</a:t>
            </a:r>
            <a:endParaRPr lang="en-US" sz="1000" dirty="0"/>
          </a:p>
        </p:txBody>
      </p:sp>
      <p:sp>
        <p:nvSpPr>
          <p:cNvPr id="33" name="Text 31"/>
          <p:cNvSpPr/>
          <p:nvPr/>
        </p:nvSpPr>
        <p:spPr>
          <a:xfrm>
            <a:off x="6537960" y="3493008"/>
            <a:ext cx="2194560" cy="237744"/>
          </a:xfrm>
          <a:prstGeom prst="rect">
            <a:avLst/>
          </a:prstGeom>
          <a:noFill/>
          <a:ln/>
        </p:spPr>
        <p:txBody>
          <a:bodyPr wrap="square" lIns="0" tIns="0" rIns="0" bIns="0" rtlCol="0" anchor="ctr"/>
          <a:lstStyle/>
          <a:p>
            <a:pPr marL="0" indent="0">
              <a:buNone/>
            </a:pPr>
            <a:r>
              <a:rPr lang="en-US" sz="1000" dirty="0">
                <a:solidFill>
                  <a:srgbClr val="FFFFFF"/>
                </a:solidFill>
                <a:latin typeface="Arial" pitchFamily="34" charset="0"/>
                <a:ea typeface="Arial" pitchFamily="34" charset="-122"/>
                <a:cs typeface="Arial" pitchFamily="34" charset="-120"/>
              </a:rPr>
              <a:t>•  Agent-to-agent protocol</a:t>
            </a:r>
            <a:endParaRPr lang="en-US" sz="1000" dirty="0"/>
          </a:p>
        </p:txBody>
      </p:sp>
      <p:sp>
        <p:nvSpPr>
          <p:cNvPr id="34" name="Text 32"/>
          <p:cNvSpPr/>
          <p:nvPr/>
        </p:nvSpPr>
        <p:spPr>
          <a:xfrm>
            <a:off x="685800" y="4160520"/>
            <a:ext cx="7772400" cy="182880"/>
          </a:xfrm>
          <a:prstGeom prst="rect">
            <a:avLst/>
          </a:prstGeom>
          <a:noFill/>
          <a:ln/>
        </p:spPr>
        <p:txBody>
          <a:bodyPr wrap="square" lIns="0" tIns="0" rIns="0" bIns="0" rtlCol="0" anchor="ctr"/>
          <a:lstStyle/>
          <a:p>
            <a:pPr marL="0" indent="0">
              <a:buNone/>
            </a:pPr>
            <a:r>
              <a:rPr lang="en-US" sz="900" dirty="0">
                <a:solidFill>
                  <a:srgbClr val="999999"/>
                </a:solidFill>
                <a:latin typeface="Arial" pitchFamily="34" charset="0"/>
                <a:ea typeface="Arial" pitchFamily="34" charset="-122"/>
                <a:cs typeface="Arial" pitchFamily="34" charset="-120"/>
              </a:rPr>
              <a:t>Unit economics: Target 70%+ gross margin at scale. Batched sync and cached knowledge reduce per-user API cost as context accumulates.</a:t>
            </a:r>
            <a:endParaRPr lang="en-US" sz="900" dirty="0"/>
          </a:p>
        </p:txBody>
      </p:sp>
      <p:sp>
        <p:nvSpPr>
          <p:cNvPr id="35" name="Text 33"/>
          <p:cNvSpPr/>
          <p:nvPr/>
        </p:nvSpPr>
        <p:spPr>
          <a:xfrm>
            <a:off x="685800" y="4389120"/>
            <a:ext cx="7315200" cy="182880"/>
          </a:xfrm>
          <a:prstGeom prst="rect">
            <a:avLst/>
          </a:prstGeom>
          <a:noFill/>
          <a:ln/>
        </p:spPr>
        <p:txBody>
          <a:bodyPr wrap="square" lIns="0" tIns="0" rIns="0" bIns="0" rtlCol="0" anchor="ctr"/>
          <a:lstStyle/>
          <a:p>
            <a:pPr marL="0" indent="0">
              <a:buNone/>
            </a:pPr>
            <a:r>
              <a:rPr lang="en-US" sz="900" i="1" dirty="0">
                <a:solidFill>
                  <a:srgbClr val="999999"/>
                </a:solidFill>
                <a:latin typeface="Arial" pitchFamily="34" charset="0"/>
                <a:ea typeface="Arial" pitchFamily="34" charset="-122"/>
                <a:cs typeface="Arial" pitchFamily="34" charset="-120"/>
              </a:rPr>
              <a:t>Yearly plan: 2 months free (17% off). Pro $190/yr.</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Bent Arrow 19">
            <a:extLst>
              <a:ext uri="{FF2B5EF4-FFF2-40B4-BE49-F238E27FC236}">
                <a16:creationId xmlns:a16="http://schemas.microsoft.com/office/drawing/2014/main" id="{13998D2B-1942-D5BA-B755-5156EE05315E}"/>
              </a:ext>
            </a:extLst>
          </p:cNvPr>
          <p:cNvSpPr/>
          <p:nvPr/>
        </p:nvSpPr>
        <p:spPr>
          <a:xfrm>
            <a:off x="0" y="1936000"/>
            <a:ext cx="9144000" cy="3207500"/>
          </a:xfrm>
          <a:prstGeom prst="bentArrow">
            <a:avLst>
              <a:gd name="adj1" fmla="val 21314"/>
              <a:gd name="adj2" fmla="val 16348"/>
              <a:gd name="adj3" fmla="val 18407"/>
              <a:gd name="adj4" fmla="val 17474"/>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KR">
              <a:solidFill>
                <a:schemeClr val="tx1"/>
              </a:solidFill>
            </a:endParaRPr>
          </a:p>
        </p:txBody>
      </p:sp>
      <p:sp>
        <p:nvSpPr>
          <p:cNvPr id="2" name="SectionLabel"/>
          <p:cNvSpPr/>
          <p:nvPr/>
        </p:nvSpPr>
        <p:spPr>
          <a:xfrm>
            <a:off x="685800" y="457200"/>
            <a:ext cx="2000000" cy="274320"/>
          </a:xfrm>
          <a:prstGeom prst="rect">
            <a:avLst/>
          </a:prstGeom>
          <a:noFill/>
          <a:ln/>
        </p:spPr>
        <p:txBody>
          <a:bodyPr wrap="square" lIns="0" tIns="0" rIns="0" bIns="0" rtlCol="0" anchor="ctr"/>
          <a:lstStyle/>
          <a:p>
            <a:pPr marL="0" indent="0">
              <a:buNone/>
            </a:pPr>
            <a:r>
              <a:rPr lang="en-US" sz="1100" b="1" dirty="0">
                <a:solidFill>
                  <a:srgbClr val="E8985E"/>
                </a:solidFill>
                <a:latin typeface="Arial" pitchFamily="34" charset="0"/>
                <a:ea typeface="Arial" pitchFamily="34" charset="-122"/>
                <a:cs typeface="Arial" pitchFamily="34" charset="-120"/>
              </a:rPr>
              <a:t>Product Roadmap</a:t>
            </a:r>
          </a:p>
        </p:txBody>
      </p:sp>
      <p:sp>
        <p:nvSpPr>
          <p:cNvPr id="3" name="Title"/>
          <p:cNvSpPr/>
          <p:nvPr/>
        </p:nvSpPr>
        <p:spPr>
          <a:xfrm>
            <a:off x="685800" y="777240"/>
            <a:ext cx="7772400" cy="640080"/>
          </a:xfrm>
          <a:prstGeom prst="rect">
            <a:avLst/>
          </a:prstGeom>
          <a:noFill/>
          <a:ln/>
        </p:spPr>
        <p:txBody>
          <a:bodyPr wrap="square" lIns="0" tIns="0" rIns="0" bIns="0" rtlCol="0" anchor="ctr"/>
          <a:lstStyle/>
          <a:p>
            <a:pPr marL="0" indent="0">
              <a:buNone/>
            </a:pPr>
            <a:r>
              <a:rPr lang="en-US" sz="2400" b="1" dirty="0">
                <a:solidFill>
                  <a:srgbClr val="111111"/>
                </a:solidFill>
                <a:latin typeface="Arial" pitchFamily="34" charset="0"/>
                <a:ea typeface="Arial" pitchFamily="34" charset="-122"/>
                <a:cs typeface="Arial" pitchFamily="34" charset="-120"/>
              </a:rPr>
              <a:t>Autonomous Agent Network (shipped) → Cross-Platform Intelligence → Agent Protocol</a:t>
            </a:r>
          </a:p>
        </p:txBody>
      </p:sp>
      <p:sp>
        <p:nvSpPr>
          <p:cNvPr id="4" name="Subtitle"/>
          <p:cNvSpPr/>
          <p:nvPr/>
        </p:nvSpPr>
        <p:spPr>
          <a:xfrm>
            <a:off x="685800" y="1463040"/>
            <a:ext cx="7772400" cy="274320"/>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Each phase deepens the value chain. Shipped work compounds into the next layer of capability.</a:t>
            </a:r>
          </a:p>
        </p:txBody>
      </p:sp>
      <p:sp>
        <p:nvSpPr>
          <p:cNvPr id="5" name="DividerLine"/>
          <p:cNvSpPr/>
          <p:nvPr/>
        </p:nvSpPr>
        <p:spPr>
          <a:xfrm>
            <a:off x="685800" y="1900000"/>
            <a:ext cx="1371600" cy="18000"/>
          </a:xfrm>
          <a:prstGeom prst="rect">
            <a:avLst/>
          </a:prstGeom>
          <a:solidFill>
            <a:srgbClr val="E8985E"/>
          </a:solidFill>
          <a:ln/>
        </p:spPr>
        <p:txBody>
          <a:bodyPr/>
          <a:lstStyle/>
          <a:p>
            <a:endParaRPr lang="en-KR"/>
          </a:p>
        </p:txBody>
      </p:sp>
      <p:sp>
        <p:nvSpPr>
          <p:cNvPr id="7" name="Phase1Label"/>
          <p:cNvSpPr/>
          <p:nvPr/>
        </p:nvSpPr>
        <p:spPr>
          <a:xfrm>
            <a:off x="868680" y="2150000"/>
            <a:ext cx="2034240" cy="200000"/>
          </a:xfrm>
          <a:prstGeom prst="rect">
            <a:avLst/>
          </a:prstGeom>
          <a:noFill/>
          <a:ln/>
        </p:spPr>
        <p:txBody>
          <a:bodyPr wrap="square" lIns="0" tIns="0" rIns="0" bIns="0" rtlCol="0" anchor="ctr"/>
          <a:lstStyle/>
          <a:p>
            <a:pPr marL="0" indent="0">
              <a:buNone/>
            </a:pPr>
            <a:r>
              <a:rPr lang="en-US" sz="900" b="1" dirty="0">
                <a:solidFill>
                  <a:sysClr val="windowText" lastClr="000000"/>
                </a:solidFill>
                <a:latin typeface="Arial" pitchFamily="34" charset="0"/>
              </a:rPr>
              <a:t>SHIPPED ✓</a:t>
            </a:r>
          </a:p>
        </p:txBody>
      </p:sp>
      <p:sp>
        <p:nvSpPr>
          <p:cNvPr id="8" name="Phase1Heading"/>
          <p:cNvSpPr/>
          <p:nvPr/>
        </p:nvSpPr>
        <p:spPr>
          <a:xfrm>
            <a:off x="868680" y="2350000"/>
            <a:ext cx="2034240" cy="300000"/>
          </a:xfrm>
          <a:prstGeom prst="rect">
            <a:avLst/>
          </a:prstGeom>
          <a:noFill/>
          <a:ln/>
        </p:spPr>
        <p:txBody>
          <a:bodyPr wrap="square" lIns="0" tIns="0" rIns="0" bIns="0" rtlCol="0" anchor="t"/>
          <a:lstStyle/>
          <a:p>
            <a:pPr marL="0" indent="0">
              <a:buNone/>
            </a:pPr>
            <a:r>
              <a:rPr lang="en-US" sz="1400" b="1" dirty="0">
                <a:solidFill>
                  <a:srgbClr val="111111"/>
                </a:solidFill>
                <a:latin typeface="Arial" pitchFamily="34" charset="0"/>
              </a:rPr>
              <a:t>Autonomous Agent Network</a:t>
            </a:r>
          </a:p>
        </p:txBody>
      </p:sp>
      <p:sp>
        <p:nvSpPr>
          <p:cNvPr id="9" name="Phase1Content"/>
          <p:cNvSpPr/>
          <p:nvPr/>
        </p:nvSpPr>
        <p:spPr>
          <a:xfrm>
            <a:off x="868680" y="2900000"/>
            <a:ext cx="2034240" cy="1600000"/>
          </a:xfrm>
          <a:prstGeom prst="rect">
            <a:avLst/>
          </a:prstGeom>
          <a:noFill/>
          <a:ln/>
        </p:spPr>
        <p:txBody>
          <a:bodyPr wrap="square" lIns="0" tIns="0" rIns="0" bIns="0" rtlCol="0" anchor="t"/>
          <a:lstStyle/>
          <a:p>
            <a:pPr marL="0" indent="0">
              <a:buNone/>
            </a:pPr>
            <a:r>
              <a:rPr lang="en-US" sz="900" dirty="0">
                <a:solidFill>
                  <a:srgbClr val="666666"/>
                </a:solidFill>
                <a:latin typeface="Arial" pitchFamily="34" charset="0"/>
              </a:rPr>
              <a:t>Auto-bootstrap + Composer agents. 4 platform integrations.</a:t>
            </a:r>
          </a:p>
          <a:p>
            <a:pPr marL="0" indent="0">
              <a:buNone/>
            </a:pPr>
            <a:r>
              <a:rPr lang="en-US" sz="900" dirty="0">
                <a:solidFill>
                  <a:srgbClr val="666666"/>
                </a:solidFill>
                <a:latin typeface="Arial" pitchFamily="34" charset="0"/>
              </a:rPr>
              <a:t>Output gateway: agents produce PPTX, PDF, XLSX, charts.</a:t>
            </a:r>
          </a:p>
          <a:p>
            <a:pPr marL="0" indent="0">
              <a:buNone/>
            </a:pPr>
            <a:r>
              <a:rPr lang="en-US" sz="900" dirty="0">
                <a:solidFill>
                  <a:srgbClr val="666666"/>
                </a:solidFill>
                <a:latin typeface="Arial" pitchFamily="34" charset="0"/>
              </a:rPr>
              <a:t>Feedback substrate: edit distillation + agent self-reflection.</a:t>
            </a:r>
          </a:p>
          <a:p>
            <a:pPr marL="0" indent="0">
              <a:buNone/>
            </a:pPr>
            <a:r>
              <a:rPr lang="en-US" sz="900" dirty="0">
                <a:solidFill>
                  <a:srgbClr val="666666"/>
                </a:solidFill>
                <a:latin typeface="Arial" pitchFamily="34" charset="0"/>
              </a:rPr>
              <a:t>Workspace filesystem + cross-agent collaboration.</a:t>
            </a:r>
          </a:p>
        </p:txBody>
      </p:sp>
      <p:sp>
        <p:nvSpPr>
          <p:cNvPr id="10" name="Arrow1"/>
          <p:cNvSpPr/>
          <p:nvPr/>
        </p:nvSpPr>
        <p:spPr>
          <a:xfrm>
            <a:off x="3200000" y="2348661"/>
            <a:ext cx="200000" cy="200000"/>
          </a:xfrm>
          <a:prstGeom prst="rightArrow">
            <a:avLst/>
          </a:prstGeom>
          <a:solidFill>
            <a:srgbClr val="E8985E"/>
          </a:solidFill>
          <a:ln>
            <a:noFill/>
          </a:ln>
        </p:spPr>
        <p:txBody>
          <a:bodyPr/>
          <a:lstStyle/>
          <a:p>
            <a:endParaRPr lang="en-KR"/>
          </a:p>
        </p:txBody>
      </p:sp>
      <p:sp>
        <p:nvSpPr>
          <p:cNvPr id="12" name="Phase2Label"/>
          <p:cNvSpPr/>
          <p:nvPr/>
        </p:nvSpPr>
        <p:spPr>
          <a:xfrm>
            <a:off x="3682880" y="2150000"/>
            <a:ext cx="2034240" cy="200000"/>
          </a:xfrm>
          <a:prstGeom prst="rect">
            <a:avLst/>
          </a:prstGeom>
          <a:noFill/>
          <a:ln/>
        </p:spPr>
        <p:txBody>
          <a:bodyPr wrap="square" lIns="0" tIns="0" rIns="0" bIns="0" rtlCol="0" anchor="ctr"/>
          <a:lstStyle/>
          <a:p>
            <a:pPr marL="0" indent="0">
              <a:buNone/>
            </a:pPr>
            <a:r>
              <a:rPr lang="en-US" sz="900" b="1" dirty="0">
                <a:solidFill>
                  <a:sysClr val="windowText" lastClr="000000"/>
                </a:solidFill>
                <a:latin typeface="Arial" pitchFamily="34" charset="0"/>
              </a:rPr>
              <a:t>NEXT 6-12mo.</a:t>
            </a:r>
          </a:p>
        </p:txBody>
      </p:sp>
      <p:sp>
        <p:nvSpPr>
          <p:cNvPr id="13" name="Phase2Heading"/>
          <p:cNvSpPr/>
          <p:nvPr/>
        </p:nvSpPr>
        <p:spPr>
          <a:xfrm>
            <a:off x="3682880" y="2350000"/>
            <a:ext cx="2034240" cy="300000"/>
          </a:xfrm>
          <a:prstGeom prst="rect">
            <a:avLst/>
          </a:prstGeom>
          <a:noFill/>
          <a:ln/>
        </p:spPr>
        <p:txBody>
          <a:bodyPr wrap="square" lIns="0" tIns="0" rIns="0" bIns="0" rtlCol="0" anchor="t"/>
          <a:lstStyle/>
          <a:p>
            <a:pPr marL="0" indent="0">
              <a:buNone/>
            </a:pPr>
            <a:r>
              <a:rPr lang="en-US" sz="1400" b="1" dirty="0">
                <a:solidFill>
                  <a:srgbClr val="111111"/>
                </a:solidFill>
                <a:latin typeface="Arial" pitchFamily="34" charset="0"/>
              </a:rPr>
              <a:t>Cross-Platform Intelligence</a:t>
            </a:r>
          </a:p>
        </p:txBody>
      </p:sp>
      <p:sp>
        <p:nvSpPr>
          <p:cNvPr id="14" name="Phase2Content"/>
          <p:cNvSpPr/>
          <p:nvPr/>
        </p:nvSpPr>
        <p:spPr>
          <a:xfrm>
            <a:off x="3682880" y="2900000"/>
            <a:ext cx="2034240" cy="1600000"/>
          </a:xfrm>
          <a:prstGeom prst="rect">
            <a:avLst/>
          </a:prstGeom>
          <a:noFill/>
          <a:ln/>
        </p:spPr>
        <p:txBody>
          <a:bodyPr wrap="square" lIns="0" tIns="0" rIns="0" bIns="0" rtlCol="0" anchor="t"/>
          <a:lstStyle/>
          <a:p>
            <a:pPr marL="0" indent="0">
              <a:buNone/>
            </a:pPr>
            <a:r>
              <a:rPr lang="en-US" sz="900" dirty="0">
                <a:solidFill>
                  <a:srgbClr val="666666"/>
                </a:solidFill>
                <a:latin typeface="Arial" pitchFamily="34" charset="0"/>
              </a:rPr>
              <a:t>Projects: multi-agent assembled deliverables (decks, reports, briefs).</a:t>
            </a:r>
          </a:p>
          <a:p>
            <a:pPr marL="0" indent="0">
              <a:buNone/>
            </a:pPr>
            <a:r>
              <a:rPr lang="en-US" sz="900" dirty="0">
                <a:solidFill>
                  <a:srgbClr val="666666"/>
                </a:solidFill>
                <a:latin typeface="Arial" pitchFamily="34" charset="0"/>
              </a:rPr>
              <a:t>Composer-driven assembly from agent contributions.</a:t>
            </a:r>
          </a:p>
          <a:p>
            <a:pPr marL="0" indent="0">
              <a:buNone/>
            </a:pPr>
            <a:r>
              <a:rPr lang="en-US" sz="900" dirty="0">
                <a:solidFill>
                  <a:srgbClr val="666666"/>
                </a:solidFill>
                <a:latin typeface="Arial" pitchFamily="34" charset="0"/>
              </a:rPr>
              <a:t>Deeper platform coverage: 365, Google Drive, Social.</a:t>
            </a:r>
          </a:p>
        </p:txBody>
      </p:sp>
      <p:sp>
        <p:nvSpPr>
          <p:cNvPr id="15" name="Arrow2"/>
          <p:cNvSpPr/>
          <p:nvPr/>
        </p:nvSpPr>
        <p:spPr>
          <a:xfrm>
            <a:off x="6014000" y="2348661"/>
            <a:ext cx="200000" cy="200000"/>
          </a:xfrm>
          <a:prstGeom prst="rightArrow">
            <a:avLst/>
          </a:prstGeom>
          <a:solidFill>
            <a:srgbClr val="E8985E"/>
          </a:solidFill>
          <a:ln>
            <a:noFill/>
          </a:ln>
        </p:spPr>
        <p:txBody>
          <a:bodyPr/>
          <a:lstStyle/>
          <a:p>
            <a:endParaRPr lang="en-KR"/>
          </a:p>
        </p:txBody>
      </p:sp>
      <p:sp>
        <p:nvSpPr>
          <p:cNvPr id="17" name="Phase3Label"/>
          <p:cNvSpPr/>
          <p:nvPr/>
        </p:nvSpPr>
        <p:spPr>
          <a:xfrm>
            <a:off x="6497080" y="2150000"/>
            <a:ext cx="2034240" cy="200000"/>
          </a:xfrm>
          <a:prstGeom prst="rect">
            <a:avLst/>
          </a:prstGeom>
          <a:noFill/>
          <a:ln/>
        </p:spPr>
        <p:txBody>
          <a:bodyPr wrap="square" lIns="0" tIns="0" rIns="0" bIns="0" rtlCol="0" anchor="ctr"/>
          <a:lstStyle/>
          <a:p>
            <a:pPr marL="0" indent="0">
              <a:buNone/>
            </a:pPr>
            <a:r>
              <a:rPr lang="en-US" sz="900" b="1" dirty="0">
                <a:solidFill>
                  <a:sysClr val="windowText" lastClr="000000"/>
                </a:solidFill>
                <a:latin typeface="Arial" pitchFamily="34" charset="0"/>
              </a:rPr>
              <a:t>VISION +12mo.</a:t>
            </a:r>
          </a:p>
        </p:txBody>
      </p:sp>
      <p:sp>
        <p:nvSpPr>
          <p:cNvPr id="18" name="Phase3Heading"/>
          <p:cNvSpPr/>
          <p:nvPr/>
        </p:nvSpPr>
        <p:spPr>
          <a:xfrm>
            <a:off x="6497080" y="2350000"/>
            <a:ext cx="2034240" cy="300000"/>
          </a:xfrm>
          <a:prstGeom prst="rect">
            <a:avLst/>
          </a:prstGeom>
          <a:noFill/>
          <a:ln/>
        </p:spPr>
        <p:txBody>
          <a:bodyPr wrap="square" lIns="0" tIns="0" rIns="0" bIns="0" rtlCol="0" anchor="t"/>
          <a:lstStyle/>
          <a:p>
            <a:pPr marL="0" indent="0">
              <a:buNone/>
            </a:pPr>
            <a:r>
              <a:rPr lang="en-US" sz="1400" b="1" dirty="0">
                <a:solidFill>
                  <a:srgbClr val="111111"/>
                </a:solidFill>
                <a:latin typeface="Arial" pitchFamily="34" charset="0"/>
              </a:rPr>
              <a:t>Agent-to-Agent Protocol</a:t>
            </a:r>
          </a:p>
        </p:txBody>
      </p:sp>
      <p:sp>
        <p:nvSpPr>
          <p:cNvPr id="19" name="Phase3Content"/>
          <p:cNvSpPr/>
          <p:nvPr/>
        </p:nvSpPr>
        <p:spPr>
          <a:xfrm>
            <a:off x="6497080" y="2900000"/>
            <a:ext cx="2034240" cy="1600000"/>
          </a:xfrm>
          <a:prstGeom prst="rect">
            <a:avLst/>
          </a:prstGeom>
          <a:noFill/>
          <a:ln/>
        </p:spPr>
        <p:txBody>
          <a:bodyPr wrap="square" lIns="0" tIns="0" rIns="0" bIns="0" rtlCol="0" anchor="t"/>
          <a:lstStyle/>
          <a:p>
            <a:pPr marL="0" indent="0">
              <a:buNone/>
            </a:pPr>
            <a:r>
              <a:rPr lang="en-US" sz="900" dirty="0">
                <a:solidFill>
                  <a:srgbClr val="666666"/>
                </a:solidFill>
                <a:latin typeface="Arial" pitchFamily="34" charset="0"/>
              </a:rPr>
              <a:t>MCP protocol interop. External agents consume YARNNN context.</a:t>
            </a:r>
          </a:p>
          <a:p>
            <a:pPr marL="0" indent="0">
              <a:buNone/>
            </a:pPr>
            <a:r>
              <a:rPr lang="en-US" sz="900" dirty="0">
                <a:solidFill>
                  <a:srgbClr val="666666"/>
                </a:solidFill>
                <a:latin typeface="Arial" pitchFamily="34" charset="0"/>
              </a:rPr>
              <a:t>Agent-to-agent coordination across systems.</a:t>
            </a:r>
          </a:p>
          <a:p>
            <a:pPr marL="0" indent="0">
              <a:buNone/>
            </a:pPr>
            <a:r>
              <a:rPr lang="en-US" sz="900" dirty="0">
                <a:solidFill>
                  <a:srgbClr val="666666"/>
                </a:solidFill>
                <a:latin typeface="Arial" pitchFamily="34" charset="0"/>
              </a:rPr>
              <a:t>Platform play: own the work context graph.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ection Label"/>
          <p:cNvSpPr/>
          <p:nvPr/>
        </p:nvSpPr>
        <p:spPr>
          <a:xfrm>
            <a:off x="685800" y="457200"/>
            <a:ext cx="3657600" cy="274320"/>
          </a:xfrm>
          <a:prstGeom prst="rect">
            <a:avLst/>
          </a:prstGeom>
          <a:noFill/>
          <a:ln/>
        </p:spPr>
        <p:txBody>
          <a:bodyPr wrap="square" lIns="0" tIns="0" rIns="0" bIns="0" rtlCol="0" anchor="ctr"/>
          <a:lstStyle/>
          <a:p>
            <a:pPr marL="0" indent="0">
              <a:buNone/>
            </a:pPr>
            <a:r>
              <a:rPr lang="en-US" sz="1100" b="1" dirty="0">
                <a:solidFill>
                  <a:srgbClr val="E8985E"/>
                </a:solidFill>
                <a:latin typeface="Arial" pitchFamily="34" charset="0"/>
                <a:ea typeface="Arial" pitchFamily="34" charset="-122"/>
                <a:cs typeface="Arial" pitchFamily="34" charset="-120"/>
              </a:rPr>
              <a:t>(Pre) Seed - The Ask</a:t>
            </a:r>
            <a:endParaRPr lang="en-US" sz="1100" dirty="0"/>
          </a:p>
        </p:txBody>
      </p:sp>
      <p:sp>
        <p:nvSpPr>
          <p:cNvPr id="3" name="Title"/>
          <p:cNvSpPr/>
          <p:nvPr/>
        </p:nvSpPr>
        <p:spPr>
          <a:xfrm>
            <a:off x="685800" y="777240"/>
            <a:ext cx="7772400" cy="640080"/>
          </a:xfrm>
          <a:prstGeom prst="rect">
            <a:avLst/>
          </a:prstGeom>
          <a:noFill/>
          <a:ln/>
        </p:spPr>
        <p:txBody>
          <a:bodyPr wrap="square" lIns="0" tIns="0" rIns="0" bIns="0" rtlCol="0" anchor="ctr"/>
          <a:lstStyle/>
          <a:p>
            <a:pPr marL="0" indent="0">
              <a:buNone/>
            </a:pPr>
            <a:r>
              <a:rPr lang="en-US" sz="2600" b="1" dirty="0">
                <a:solidFill>
                  <a:srgbClr val="111111"/>
                </a:solidFill>
                <a:latin typeface="Arial" pitchFamily="34" charset="0"/>
                <a:ea typeface="Arial" pitchFamily="34" charset="-122"/>
                <a:cs typeface="Arial" pitchFamily="34" charset="-120"/>
              </a:rPr>
              <a:t>$500K at $5M post-money valuation.</a:t>
            </a:r>
            <a:endParaRPr lang="en-US" sz="2600" dirty="0"/>
          </a:p>
        </p:txBody>
      </p:sp>
      <p:sp>
        <p:nvSpPr>
          <p:cNvPr id="4" name="Column 1 Heading"/>
          <p:cNvSpPr/>
          <p:nvPr/>
        </p:nvSpPr>
        <p:spPr>
          <a:xfrm>
            <a:off x="685800" y="1842559"/>
            <a:ext cx="2606040" cy="228600"/>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Use of funds:</a:t>
            </a:r>
            <a:endParaRPr lang="en-US" sz="1200" dirty="0"/>
          </a:p>
        </p:txBody>
      </p:sp>
      <p:sp>
        <p:nvSpPr>
          <p:cNvPr id="5" name="Col1 Bullet 1"/>
          <p:cNvSpPr/>
          <p:nvPr/>
        </p:nvSpPr>
        <p:spPr>
          <a:xfrm>
            <a:off x="685800" y="2116879"/>
            <a:ext cx="2423160" cy="228600"/>
          </a:xfrm>
          <a:prstGeom prst="rect">
            <a:avLst/>
          </a:prstGeom>
          <a:noFill/>
          <a:ln/>
        </p:spPr>
        <p:txBody>
          <a:bodyPr wrap="square" lIns="0" tIns="0" rIns="0" bIns="0" rtlCol="0" anchor="ctr"/>
          <a:lstStyle/>
          <a:p>
            <a:pPr marL="0" indent="0">
              <a:buNone/>
            </a:pPr>
            <a:r>
              <a:rPr lang="en-US" sz="1000" dirty="0">
                <a:solidFill>
                  <a:srgbClr val="666666"/>
                </a:solidFill>
                <a:latin typeface="Arial" pitchFamily="34" charset="0"/>
                <a:ea typeface="Arial" pitchFamily="34" charset="-122"/>
                <a:cs typeface="Arial" pitchFamily="34" charset="-120"/>
              </a:rPr>
              <a:t>→  Tech Lead (memory/ML)</a:t>
            </a:r>
            <a:endParaRPr lang="en-US" sz="1000" dirty="0"/>
          </a:p>
        </p:txBody>
      </p:sp>
      <p:sp>
        <p:nvSpPr>
          <p:cNvPr id="6" name="Col1 Bullet 2"/>
          <p:cNvSpPr/>
          <p:nvPr/>
        </p:nvSpPr>
        <p:spPr>
          <a:xfrm>
            <a:off x="685800" y="2345479"/>
            <a:ext cx="2423160" cy="228600"/>
          </a:xfrm>
          <a:prstGeom prst="rect">
            <a:avLst/>
          </a:prstGeom>
          <a:noFill/>
          <a:ln/>
        </p:spPr>
        <p:txBody>
          <a:bodyPr wrap="square" lIns="0" tIns="0" rIns="0" bIns="0" rtlCol="0" anchor="ctr"/>
          <a:lstStyle/>
          <a:p>
            <a:pPr marL="0" indent="0">
              <a:buNone/>
            </a:pPr>
            <a:r>
              <a:rPr lang="en-US" sz="1000" dirty="0">
                <a:solidFill>
                  <a:srgbClr val="666666"/>
                </a:solidFill>
                <a:latin typeface="Arial" pitchFamily="34" charset="0"/>
                <a:ea typeface="Arial" pitchFamily="34" charset="-122"/>
                <a:cs typeface="Arial" pitchFamily="34" charset="-120"/>
              </a:rPr>
              <a:t>→  GTM Lead (creator community)</a:t>
            </a:r>
            <a:endParaRPr lang="en-US" sz="1000" dirty="0"/>
          </a:p>
        </p:txBody>
      </p:sp>
      <p:sp>
        <p:nvSpPr>
          <p:cNvPr id="7" name="Col1 Bullet 3"/>
          <p:cNvSpPr/>
          <p:nvPr/>
        </p:nvSpPr>
        <p:spPr>
          <a:xfrm>
            <a:off x="685800" y="2574079"/>
            <a:ext cx="2423160" cy="228600"/>
          </a:xfrm>
          <a:prstGeom prst="rect">
            <a:avLst/>
          </a:prstGeom>
          <a:noFill/>
          <a:ln/>
        </p:spPr>
        <p:txBody>
          <a:bodyPr wrap="square" lIns="0" tIns="0" rIns="0" bIns="0" rtlCol="0" anchor="ctr"/>
          <a:lstStyle/>
          <a:p>
            <a:pPr marL="0" indent="0">
              <a:buNone/>
            </a:pPr>
            <a:r>
              <a:rPr lang="en-US" sz="1000" dirty="0">
                <a:solidFill>
                  <a:srgbClr val="666666"/>
                </a:solidFill>
                <a:latin typeface="Arial" pitchFamily="34" charset="0"/>
                <a:ea typeface="Arial" pitchFamily="34" charset="-122"/>
                <a:cs typeface="Arial" pitchFamily="34" charset="-120"/>
              </a:rPr>
              <a:t>→  12 months runway</a:t>
            </a:r>
            <a:endParaRPr lang="en-US" sz="1000" dirty="0"/>
          </a:p>
        </p:txBody>
      </p:sp>
      <p:sp>
        <p:nvSpPr>
          <p:cNvPr id="8" name="Column 2 Heading"/>
          <p:cNvSpPr/>
          <p:nvPr/>
        </p:nvSpPr>
        <p:spPr>
          <a:xfrm>
            <a:off x="685800" y="3486705"/>
            <a:ext cx="2606040" cy="228600"/>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Priority 0: Team-Building</a:t>
            </a:r>
            <a:endParaRPr lang="en-US" sz="1200" dirty="0"/>
          </a:p>
        </p:txBody>
      </p:sp>
      <p:sp>
        <p:nvSpPr>
          <p:cNvPr id="9" name="Col2 Bullet 1"/>
          <p:cNvSpPr/>
          <p:nvPr/>
        </p:nvSpPr>
        <p:spPr>
          <a:xfrm>
            <a:off x="685800" y="3761025"/>
            <a:ext cx="2423160" cy="228600"/>
          </a:xfrm>
          <a:prstGeom prst="rect">
            <a:avLst/>
          </a:prstGeom>
          <a:noFill/>
          <a:ln/>
        </p:spPr>
        <p:txBody>
          <a:bodyPr wrap="square" lIns="0" tIns="0" rIns="0" bIns="0" rtlCol="0" anchor="ctr"/>
          <a:lstStyle/>
          <a:p>
            <a:pPr marL="0" indent="0">
              <a:buNone/>
            </a:pPr>
            <a:r>
              <a:rPr lang="en-US" sz="1000" dirty="0">
                <a:solidFill>
                  <a:srgbClr val="666666"/>
                </a:solidFill>
                <a:latin typeface="Arial" pitchFamily="34" charset="0"/>
                <a:ea typeface="Arial" pitchFamily="34" charset="-122"/>
                <a:cs typeface="Arial" pitchFamily="34" charset="-120"/>
              </a:rPr>
              <a:t>→  ML engineer for memory extraction</a:t>
            </a:r>
            <a:endParaRPr lang="en-US" sz="1000" dirty="0"/>
          </a:p>
        </p:txBody>
      </p:sp>
      <p:sp>
        <p:nvSpPr>
          <p:cNvPr id="10" name="Col2 Bullet 2"/>
          <p:cNvSpPr/>
          <p:nvPr/>
        </p:nvSpPr>
        <p:spPr>
          <a:xfrm>
            <a:off x="685800" y="3989625"/>
            <a:ext cx="2423160" cy="228600"/>
          </a:xfrm>
          <a:prstGeom prst="rect">
            <a:avLst/>
          </a:prstGeom>
          <a:noFill/>
          <a:ln/>
        </p:spPr>
        <p:txBody>
          <a:bodyPr wrap="square" lIns="0" tIns="0" rIns="0" bIns="0" rtlCol="0" anchor="ctr"/>
          <a:lstStyle/>
          <a:p>
            <a:pPr marL="0" indent="0">
              <a:buNone/>
            </a:pPr>
            <a:r>
              <a:rPr lang="en-US" sz="1000" dirty="0">
                <a:solidFill>
                  <a:srgbClr val="666666"/>
                </a:solidFill>
                <a:latin typeface="Arial" pitchFamily="34" charset="0"/>
                <a:ea typeface="Arial" pitchFamily="34" charset="-122"/>
                <a:cs typeface="Arial" pitchFamily="34" charset="-120"/>
              </a:rPr>
              <a:t>→  Community builder for creator GTM</a:t>
            </a:r>
            <a:endParaRPr lang="en-US" sz="1000" dirty="0"/>
          </a:p>
        </p:txBody>
      </p:sp>
      <p:sp>
        <p:nvSpPr>
          <p:cNvPr id="11" name="Col2 Bullet 3"/>
          <p:cNvSpPr/>
          <p:nvPr/>
        </p:nvSpPr>
        <p:spPr>
          <a:xfrm>
            <a:off x="685800" y="4218225"/>
            <a:ext cx="2423160" cy="228600"/>
          </a:xfrm>
          <a:prstGeom prst="rect">
            <a:avLst/>
          </a:prstGeom>
          <a:noFill/>
          <a:ln/>
        </p:spPr>
        <p:txBody>
          <a:bodyPr wrap="square" lIns="0" tIns="0" rIns="0" bIns="0" rtlCol="0" anchor="ctr"/>
          <a:lstStyle/>
          <a:p>
            <a:pPr marL="0" indent="0">
              <a:buNone/>
            </a:pPr>
            <a:r>
              <a:rPr lang="en-US" sz="1000" dirty="0">
                <a:solidFill>
                  <a:srgbClr val="666666"/>
                </a:solidFill>
                <a:latin typeface="Arial" pitchFamily="34" charset="0"/>
                <a:ea typeface="Arial" pitchFamily="34" charset="-122"/>
                <a:cs typeface="Arial" pitchFamily="34" charset="-120"/>
              </a:rPr>
              <a:t>→  Seed funds → team of 3</a:t>
            </a:r>
            <a:endParaRPr lang="en-US" sz="1000" dirty="0"/>
          </a:p>
        </p:txBody>
      </p:sp>
      <p:sp>
        <p:nvSpPr>
          <p:cNvPr id="12" name="Column 3 Heading"/>
          <p:cNvSpPr/>
          <p:nvPr/>
        </p:nvSpPr>
        <p:spPr>
          <a:xfrm>
            <a:off x="3318911" y="1842559"/>
            <a:ext cx="2606040" cy="228600"/>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Why now:</a:t>
            </a:r>
            <a:endParaRPr lang="en-US" sz="1200" dirty="0"/>
          </a:p>
        </p:txBody>
      </p:sp>
      <p:sp>
        <p:nvSpPr>
          <p:cNvPr id="13" name="Col3 Bullet 1"/>
          <p:cNvSpPr/>
          <p:nvPr/>
        </p:nvSpPr>
        <p:spPr>
          <a:xfrm>
            <a:off x="3318911" y="2116879"/>
            <a:ext cx="2423160" cy="228600"/>
          </a:xfrm>
          <a:prstGeom prst="rect">
            <a:avLst/>
          </a:prstGeom>
          <a:noFill/>
          <a:ln/>
        </p:spPr>
        <p:txBody>
          <a:bodyPr wrap="square" lIns="0" tIns="0" rIns="0" bIns="0" rtlCol="0" anchor="ctr"/>
          <a:lstStyle/>
          <a:p>
            <a:pPr marL="0" indent="0">
              <a:buNone/>
            </a:pPr>
            <a:r>
              <a:rPr lang="en-US" sz="1000" dirty="0">
                <a:solidFill>
                  <a:srgbClr val="666666"/>
                </a:solidFill>
                <a:latin typeface="Arial" pitchFamily="34" charset="0"/>
                <a:ea typeface="Arial" pitchFamily="34" charset="-122"/>
                <a:cs typeface="Arial" pitchFamily="34" charset="-120"/>
              </a:rPr>
              <a:t>→  ClawdBot: 17,830 stars / 24hrs</a:t>
            </a:r>
            <a:endParaRPr lang="en-US" sz="1000" dirty="0"/>
          </a:p>
        </p:txBody>
      </p:sp>
      <p:sp>
        <p:nvSpPr>
          <p:cNvPr id="14" name="Col3 Bullet 2"/>
          <p:cNvSpPr/>
          <p:nvPr/>
        </p:nvSpPr>
        <p:spPr>
          <a:xfrm>
            <a:off x="3318911" y="2345479"/>
            <a:ext cx="2423160" cy="228600"/>
          </a:xfrm>
          <a:prstGeom prst="rect">
            <a:avLst/>
          </a:prstGeom>
          <a:noFill/>
          <a:ln/>
        </p:spPr>
        <p:txBody>
          <a:bodyPr wrap="square" lIns="0" tIns="0" rIns="0" bIns="0" rtlCol="0" anchor="ctr"/>
          <a:lstStyle/>
          <a:p>
            <a:pPr marL="0" indent="0">
              <a:buNone/>
            </a:pPr>
            <a:r>
              <a:rPr lang="en-US" sz="1000" dirty="0">
                <a:solidFill>
                  <a:srgbClr val="666666"/>
                </a:solidFill>
                <a:latin typeface="Arial" pitchFamily="34" charset="0"/>
                <a:ea typeface="Arial" pitchFamily="34" charset="-122"/>
                <a:cs typeface="Arial" pitchFamily="34" charset="-120"/>
              </a:rPr>
              <a:t>→  No one owns the context layer</a:t>
            </a:r>
            <a:endParaRPr lang="en-US" sz="1000" dirty="0"/>
          </a:p>
        </p:txBody>
      </p:sp>
      <p:sp>
        <p:nvSpPr>
          <p:cNvPr id="15" name="Col3 Bullet 3"/>
          <p:cNvSpPr/>
          <p:nvPr/>
        </p:nvSpPr>
        <p:spPr>
          <a:xfrm>
            <a:off x="3318911" y="2574079"/>
            <a:ext cx="2423160" cy="228600"/>
          </a:xfrm>
          <a:prstGeom prst="rect">
            <a:avLst/>
          </a:prstGeom>
          <a:noFill/>
          <a:ln/>
        </p:spPr>
        <p:txBody>
          <a:bodyPr wrap="square" lIns="0" tIns="0" rIns="0" bIns="0" rtlCol="0" anchor="ctr"/>
          <a:lstStyle/>
          <a:p>
            <a:pPr marL="0" indent="0">
              <a:buNone/>
            </a:pPr>
            <a:r>
              <a:rPr lang="en-US" sz="1000" dirty="0">
                <a:solidFill>
                  <a:srgbClr val="666666"/>
                </a:solidFill>
                <a:latin typeface="Arial" pitchFamily="34" charset="0"/>
                <a:ea typeface="Arial" pitchFamily="34" charset="-122"/>
                <a:cs typeface="Arial" pitchFamily="34" charset="-120"/>
              </a:rPr>
              <a:t>→  Architecture built, need team</a:t>
            </a:r>
            <a:endParaRPr lang="en-US" sz="1000" dirty="0"/>
          </a:p>
        </p:txBody>
      </p:sp>
      <p:sp>
        <p:nvSpPr>
          <p:cNvPr id="16" name="Divider Line"/>
          <p:cNvSpPr/>
          <p:nvPr/>
        </p:nvSpPr>
        <p:spPr>
          <a:xfrm>
            <a:off x="685800" y="1463040"/>
            <a:ext cx="1371600" cy="32004"/>
          </a:xfrm>
          <a:prstGeom prst="rect">
            <a:avLst/>
          </a:prstGeom>
          <a:solidFill>
            <a:srgbClr val="E8985E"/>
          </a:solidFill>
          <a:ln/>
        </p:spPr>
        <p:txBody>
          <a:bodyPr/>
          <a:lstStyle/>
          <a:p>
            <a:endParaRPr lang="en-KR"/>
          </a:p>
        </p:txBody>
      </p:sp>
      <p:sp>
        <p:nvSpPr>
          <p:cNvPr id="17" name="Column 3 Heading">
            <a:extLst>
              <a:ext uri="{FF2B5EF4-FFF2-40B4-BE49-F238E27FC236}">
                <a16:creationId xmlns:a16="http://schemas.microsoft.com/office/drawing/2014/main" id="{44479857-56B0-10D6-65A7-227DCF3397A4}"/>
              </a:ext>
            </a:extLst>
          </p:cNvPr>
          <p:cNvSpPr/>
          <p:nvPr/>
        </p:nvSpPr>
        <p:spPr>
          <a:xfrm>
            <a:off x="3318911" y="3486705"/>
            <a:ext cx="2606040" cy="228600"/>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Betting on an agent-first future:</a:t>
            </a:r>
            <a:endParaRPr lang="en-US" sz="1200" dirty="0"/>
          </a:p>
        </p:txBody>
      </p:sp>
      <p:sp>
        <p:nvSpPr>
          <p:cNvPr id="18" name="Col3 Bullet 1">
            <a:extLst>
              <a:ext uri="{FF2B5EF4-FFF2-40B4-BE49-F238E27FC236}">
                <a16:creationId xmlns:a16="http://schemas.microsoft.com/office/drawing/2014/main" id="{95DFF53C-D704-7D38-3F2B-BDC1756CC42E}"/>
              </a:ext>
            </a:extLst>
          </p:cNvPr>
          <p:cNvSpPr/>
          <p:nvPr/>
        </p:nvSpPr>
        <p:spPr>
          <a:xfrm>
            <a:off x="3318911" y="3761025"/>
            <a:ext cx="2423160" cy="228600"/>
          </a:xfrm>
          <a:prstGeom prst="rect">
            <a:avLst/>
          </a:prstGeom>
          <a:noFill/>
          <a:ln/>
        </p:spPr>
        <p:txBody>
          <a:bodyPr wrap="square" lIns="0" tIns="0" rIns="0" bIns="0" rtlCol="0" anchor="ctr"/>
          <a:lstStyle/>
          <a:p>
            <a:pPr marL="0" indent="0">
              <a:buNone/>
            </a:pPr>
            <a:r>
              <a:rPr lang="en-US" sz="1000" dirty="0">
                <a:solidFill>
                  <a:srgbClr val="666666"/>
                </a:solidFill>
                <a:latin typeface="Arial" pitchFamily="34" charset="0"/>
                <a:ea typeface="Arial" pitchFamily="34" charset="-122"/>
                <a:cs typeface="Arial" pitchFamily="34" charset="-120"/>
              </a:rPr>
              <a:t>→  LLM readiness moving towards Agents</a:t>
            </a:r>
            <a:endParaRPr lang="en-US" sz="1000" dirty="0"/>
          </a:p>
        </p:txBody>
      </p:sp>
      <p:sp>
        <p:nvSpPr>
          <p:cNvPr id="22" name="Col3 Bullet 2">
            <a:extLst>
              <a:ext uri="{FF2B5EF4-FFF2-40B4-BE49-F238E27FC236}">
                <a16:creationId xmlns:a16="http://schemas.microsoft.com/office/drawing/2014/main" id="{1A2F697E-B701-20E4-109E-6B005E96A48A}"/>
              </a:ext>
            </a:extLst>
          </p:cNvPr>
          <p:cNvSpPr/>
          <p:nvPr/>
        </p:nvSpPr>
        <p:spPr>
          <a:xfrm>
            <a:off x="3318911" y="3989625"/>
            <a:ext cx="2423160" cy="228600"/>
          </a:xfrm>
          <a:prstGeom prst="rect">
            <a:avLst/>
          </a:prstGeom>
          <a:noFill/>
          <a:ln/>
        </p:spPr>
        <p:txBody>
          <a:bodyPr wrap="square" lIns="0" tIns="0" rIns="0" bIns="0" rtlCol="0" anchor="ctr"/>
          <a:lstStyle/>
          <a:p>
            <a:r>
              <a:rPr lang="en-US" sz="1000" dirty="0">
                <a:solidFill>
                  <a:srgbClr val="666666"/>
                </a:solidFill>
                <a:latin typeface="Arial" pitchFamily="34" charset="0"/>
                <a:ea typeface="Arial" pitchFamily="34" charset="-122"/>
                <a:cs typeface="Arial" pitchFamily="34" charset="-120"/>
              </a:rPr>
              <a:t>→  Thesis is the work economy will shift</a:t>
            </a:r>
            <a:endParaRPr lang="en-US" sz="1000" dirty="0"/>
          </a:p>
        </p:txBody>
      </p:sp>
      <p:sp>
        <p:nvSpPr>
          <p:cNvPr id="24" name="Column 3 Heading">
            <a:extLst>
              <a:ext uri="{FF2B5EF4-FFF2-40B4-BE49-F238E27FC236}">
                <a16:creationId xmlns:a16="http://schemas.microsoft.com/office/drawing/2014/main" id="{DC311793-3676-54EE-23C1-C4CACBF0ADAE}"/>
              </a:ext>
            </a:extLst>
          </p:cNvPr>
          <p:cNvSpPr/>
          <p:nvPr/>
        </p:nvSpPr>
        <p:spPr>
          <a:xfrm>
            <a:off x="6355080" y="1831129"/>
            <a:ext cx="2606040" cy="228600"/>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Positioning:</a:t>
            </a:r>
            <a:endParaRPr lang="en-US" sz="1200" dirty="0"/>
          </a:p>
        </p:txBody>
      </p:sp>
      <p:sp>
        <p:nvSpPr>
          <p:cNvPr id="25" name="Col3 Bullet 1">
            <a:extLst>
              <a:ext uri="{FF2B5EF4-FFF2-40B4-BE49-F238E27FC236}">
                <a16:creationId xmlns:a16="http://schemas.microsoft.com/office/drawing/2014/main" id="{3B264F69-2732-0C6D-00B3-D2EEF6FB6B1A}"/>
              </a:ext>
            </a:extLst>
          </p:cNvPr>
          <p:cNvSpPr/>
          <p:nvPr/>
        </p:nvSpPr>
        <p:spPr>
          <a:xfrm>
            <a:off x="6355080" y="2105449"/>
            <a:ext cx="2423160" cy="228600"/>
          </a:xfrm>
          <a:prstGeom prst="rect">
            <a:avLst/>
          </a:prstGeom>
          <a:noFill/>
          <a:ln/>
        </p:spPr>
        <p:txBody>
          <a:bodyPr wrap="square" lIns="0" tIns="0" rIns="0" bIns="0" rtlCol="0" anchor="ctr"/>
          <a:lstStyle/>
          <a:p>
            <a:pPr marL="0" indent="0">
              <a:buNone/>
            </a:pPr>
            <a:r>
              <a:rPr lang="en-US" sz="1000" dirty="0">
                <a:solidFill>
                  <a:srgbClr val="666666"/>
                </a:solidFill>
                <a:latin typeface="Arial" pitchFamily="34" charset="0"/>
                <a:ea typeface="Arial" pitchFamily="34" charset="-122"/>
                <a:cs typeface="Arial" pitchFamily="34" charset="-120"/>
              </a:rPr>
              <a:t>→  Application layer sill pre-mature</a:t>
            </a:r>
            <a:endParaRPr lang="en-US" sz="1000" dirty="0"/>
          </a:p>
        </p:txBody>
      </p:sp>
      <p:sp>
        <p:nvSpPr>
          <p:cNvPr id="26" name="Col3 Bullet 2">
            <a:extLst>
              <a:ext uri="{FF2B5EF4-FFF2-40B4-BE49-F238E27FC236}">
                <a16:creationId xmlns:a16="http://schemas.microsoft.com/office/drawing/2014/main" id="{20C51AB1-3282-0099-46F4-1A028834CC6B}"/>
              </a:ext>
            </a:extLst>
          </p:cNvPr>
          <p:cNvSpPr/>
          <p:nvPr/>
        </p:nvSpPr>
        <p:spPr>
          <a:xfrm>
            <a:off x="6355080" y="2334049"/>
            <a:ext cx="2423160" cy="228600"/>
          </a:xfrm>
          <a:prstGeom prst="rect">
            <a:avLst/>
          </a:prstGeom>
          <a:noFill/>
          <a:ln/>
        </p:spPr>
        <p:txBody>
          <a:bodyPr wrap="square" lIns="0" tIns="0" rIns="0" bIns="0" rtlCol="0" anchor="ctr"/>
          <a:lstStyle/>
          <a:p>
            <a:pPr marL="0" indent="0">
              <a:buNone/>
            </a:pPr>
            <a:r>
              <a:rPr lang="en-US" sz="1000" dirty="0">
                <a:solidFill>
                  <a:srgbClr val="666666"/>
                </a:solidFill>
                <a:latin typeface="Arial" pitchFamily="34" charset="0"/>
                <a:ea typeface="Arial" pitchFamily="34" charset="-122"/>
                <a:cs typeface="Arial" pitchFamily="34" charset="-120"/>
              </a:rPr>
              <a:t>→  True Agent-native architecture</a:t>
            </a:r>
            <a:endParaRPr lang="en-US" sz="1000" dirty="0"/>
          </a:p>
        </p:txBody>
      </p:sp>
      <p:sp>
        <p:nvSpPr>
          <p:cNvPr id="28" name="Column 3 Heading">
            <a:extLst>
              <a:ext uri="{FF2B5EF4-FFF2-40B4-BE49-F238E27FC236}">
                <a16:creationId xmlns:a16="http://schemas.microsoft.com/office/drawing/2014/main" id="{B85AE604-FD8F-4CC2-5349-DC6CE8F15261}"/>
              </a:ext>
            </a:extLst>
          </p:cNvPr>
          <p:cNvSpPr/>
          <p:nvPr/>
        </p:nvSpPr>
        <p:spPr>
          <a:xfrm>
            <a:off x="6355080" y="3475275"/>
            <a:ext cx="2606040" cy="228600"/>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Differentiation:</a:t>
            </a:r>
            <a:endParaRPr lang="en-US" sz="1200" dirty="0"/>
          </a:p>
        </p:txBody>
      </p:sp>
      <p:sp>
        <p:nvSpPr>
          <p:cNvPr id="29" name="Col3 Bullet 1">
            <a:extLst>
              <a:ext uri="{FF2B5EF4-FFF2-40B4-BE49-F238E27FC236}">
                <a16:creationId xmlns:a16="http://schemas.microsoft.com/office/drawing/2014/main" id="{2B14803B-EC1A-B045-314A-7AE2A5F2C587}"/>
              </a:ext>
            </a:extLst>
          </p:cNvPr>
          <p:cNvSpPr/>
          <p:nvPr/>
        </p:nvSpPr>
        <p:spPr>
          <a:xfrm>
            <a:off x="6355080" y="3749595"/>
            <a:ext cx="2423160" cy="228600"/>
          </a:xfrm>
          <a:prstGeom prst="rect">
            <a:avLst/>
          </a:prstGeom>
          <a:noFill/>
          <a:ln/>
        </p:spPr>
        <p:txBody>
          <a:bodyPr wrap="square" lIns="0" tIns="0" rIns="0" bIns="0" rtlCol="0" anchor="ctr"/>
          <a:lstStyle/>
          <a:p>
            <a:pPr marL="0" indent="0">
              <a:buNone/>
            </a:pPr>
            <a:r>
              <a:rPr lang="en-US" sz="1000" dirty="0">
                <a:solidFill>
                  <a:srgbClr val="666666"/>
                </a:solidFill>
                <a:latin typeface="Arial" pitchFamily="34" charset="0"/>
                <a:ea typeface="Arial" pitchFamily="34" charset="-122"/>
                <a:cs typeface="Arial" pitchFamily="34" charset="-120"/>
              </a:rPr>
              <a:t>→  Cross-platform, LLM agnostic</a:t>
            </a:r>
            <a:endParaRPr lang="en-US" sz="1000" dirty="0"/>
          </a:p>
        </p:txBody>
      </p:sp>
      <p:sp>
        <p:nvSpPr>
          <p:cNvPr id="30" name="Col3 Bullet 2">
            <a:extLst>
              <a:ext uri="{FF2B5EF4-FFF2-40B4-BE49-F238E27FC236}">
                <a16:creationId xmlns:a16="http://schemas.microsoft.com/office/drawing/2014/main" id="{309504BE-F172-A791-5031-DDC5627C1CF8}"/>
              </a:ext>
            </a:extLst>
          </p:cNvPr>
          <p:cNvSpPr/>
          <p:nvPr/>
        </p:nvSpPr>
        <p:spPr>
          <a:xfrm>
            <a:off x="6355080" y="4035345"/>
            <a:ext cx="2423160" cy="228600"/>
          </a:xfrm>
          <a:prstGeom prst="rect">
            <a:avLst/>
          </a:prstGeom>
          <a:noFill/>
          <a:ln/>
        </p:spPr>
        <p:txBody>
          <a:bodyPr wrap="square" lIns="0" tIns="0" rIns="0" bIns="0" rtlCol="0" anchor="ctr"/>
          <a:lstStyle/>
          <a:p>
            <a:pPr marL="0" indent="0">
              <a:buNone/>
            </a:pPr>
            <a:r>
              <a:rPr lang="en-US" sz="1000" dirty="0">
                <a:solidFill>
                  <a:srgbClr val="666666"/>
                </a:solidFill>
                <a:latin typeface="Arial" pitchFamily="34" charset="0"/>
                <a:ea typeface="Arial" pitchFamily="34" charset="-122"/>
                <a:cs typeface="Arial" pitchFamily="34" charset="-120"/>
              </a:rPr>
              <a:t>→  Big players can’t do cross data accumulations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CD3972-D4E8-3BBD-CBCA-53AC7B28F6A4}"/>
            </a:ext>
          </a:extLst>
        </p:cNvPr>
        <p:cNvGrpSpPr/>
        <p:nvPr/>
      </p:nvGrpSpPr>
      <p:grpSpPr>
        <a:xfrm>
          <a:off x="0" y="0"/>
          <a:ext cx="0" cy="0"/>
          <a:chOff x="0" y="0"/>
          <a:chExt cx="0" cy="0"/>
        </a:xfrm>
      </p:grpSpPr>
      <p:pic>
        <p:nvPicPr>
          <p:cNvPr id="4" name="Picture 3" descr="A ball of yarn with a black background  AI-generated content may be incorrect.">
            <a:extLst>
              <a:ext uri="{FF2B5EF4-FFF2-40B4-BE49-F238E27FC236}">
                <a16:creationId xmlns:a16="http://schemas.microsoft.com/office/drawing/2014/main" id="{5D71C99A-C2FE-84DF-3BDB-16D910F8CCEE}"/>
              </a:ext>
            </a:extLst>
          </p:cNvPr>
          <p:cNvPicPr>
            <a:picLocks noChangeAspect="1"/>
          </p:cNvPicPr>
          <p:nvPr/>
        </p:nvPicPr>
        <p:blipFill>
          <a:blip r:embed="rId2"/>
          <a:stretch>
            <a:fillRect/>
          </a:stretch>
        </p:blipFill>
        <p:spPr>
          <a:xfrm>
            <a:off x="4243527" y="1961967"/>
            <a:ext cx="674702" cy="674702"/>
          </a:xfrm>
          <a:prstGeom prst="rect">
            <a:avLst/>
          </a:prstGeom>
        </p:spPr>
      </p:pic>
      <p:sp>
        <p:nvSpPr>
          <p:cNvPr id="6" name="Contact Line">
            <a:extLst>
              <a:ext uri="{FF2B5EF4-FFF2-40B4-BE49-F238E27FC236}">
                <a16:creationId xmlns:a16="http://schemas.microsoft.com/office/drawing/2014/main" id="{6C989BC5-3F86-0324-C1B5-B82645D8852E}"/>
              </a:ext>
            </a:extLst>
          </p:cNvPr>
          <p:cNvSpPr/>
          <p:nvPr/>
        </p:nvSpPr>
        <p:spPr>
          <a:xfrm>
            <a:off x="685800" y="4686300"/>
            <a:ext cx="7772400" cy="182880"/>
          </a:xfrm>
          <a:prstGeom prst="rect">
            <a:avLst/>
          </a:prstGeom>
          <a:noFill/>
          <a:ln/>
        </p:spPr>
        <p:txBody>
          <a:bodyPr wrap="square" lIns="0" tIns="0" rIns="0" bIns="0" rtlCol="0" anchor="ctr"/>
          <a:lstStyle/>
          <a:p>
            <a:pPr algn="r"/>
            <a:r>
              <a:rPr lang="en-US" sz="800" dirty="0">
                <a:solidFill>
                  <a:srgbClr val="999999"/>
                </a:solidFill>
                <a:latin typeface="Arial" pitchFamily="34" charset="0"/>
                <a:ea typeface="Arial" pitchFamily="34" charset="-122"/>
                <a:cs typeface="Arial" pitchFamily="34" charset="-120"/>
              </a:rPr>
              <a:t>yarnnn.com  · Kevin Kim  ·  kvkthecreator@gmail.com</a:t>
            </a:r>
            <a:endParaRPr lang="en-US" sz="800" dirty="0"/>
          </a:p>
        </p:txBody>
      </p:sp>
      <p:pic>
        <p:nvPicPr>
          <p:cNvPr id="7" name="Picture 6">
            <a:extLst>
              <a:ext uri="{FF2B5EF4-FFF2-40B4-BE49-F238E27FC236}">
                <a16:creationId xmlns:a16="http://schemas.microsoft.com/office/drawing/2014/main" id="{9BBF47C0-24C1-1792-59B8-99C400CF97FA}"/>
              </a:ext>
            </a:extLst>
          </p:cNvPr>
          <p:cNvPicPr>
            <a:picLocks noChangeAspect="1"/>
          </p:cNvPicPr>
          <p:nvPr/>
        </p:nvPicPr>
        <p:blipFill>
          <a:blip r:embed="rId3"/>
          <a:stretch>
            <a:fillRect/>
          </a:stretch>
        </p:blipFill>
        <p:spPr>
          <a:xfrm>
            <a:off x="4013200" y="2552147"/>
            <a:ext cx="1117600" cy="419100"/>
          </a:xfrm>
          <a:prstGeom prst="rect">
            <a:avLst/>
          </a:prstGeom>
        </p:spPr>
      </p:pic>
    </p:spTree>
    <p:extLst>
      <p:ext uri="{BB962C8B-B14F-4D97-AF65-F5344CB8AC3E}">
        <p14:creationId xmlns:p14="http://schemas.microsoft.com/office/powerpoint/2010/main" val="35375321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ctionLabel"/>
          <p:cNvSpPr/>
          <p:nvPr/>
        </p:nvSpPr>
        <p:spPr>
          <a:xfrm>
            <a:off x="685800" y="457200"/>
            <a:ext cx="2000000" cy="274320"/>
          </a:xfrm>
          <a:prstGeom prst="rect">
            <a:avLst/>
          </a:prstGeom>
          <a:noFill/>
          <a:ln/>
        </p:spPr>
        <p:txBody>
          <a:bodyPr wrap="square" lIns="0" tIns="0" rIns="0" bIns="0" rtlCol="0" anchor="ctr"/>
          <a:lstStyle/>
          <a:p>
            <a:pPr marL="0" indent="0">
              <a:buNone/>
            </a:pPr>
            <a:r>
              <a:rPr lang="en-US" sz="1100" b="1" dirty="0">
                <a:solidFill>
                  <a:srgbClr val="E8985E"/>
                </a:solidFill>
                <a:latin typeface="Arial" pitchFamily="34" charset="0"/>
                <a:ea typeface="Arial" pitchFamily="34" charset="-122"/>
                <a:cs typeface="Arial" pitchFamily="34" charset="-120"/>
              </a:rPr>
              <a:t>Appendix</a:t>
            </a:r>
          </a:p>
        </p:txBody>
      </p:sp>
      <p:sp>
        <p:nvSpPr>
          <p:cNvPr id="3" name="FounderName"/>
          <p:cNvSpPr/>
          <p:nvPr/>
        </p:nvSpPr>
        <p:spPr>
          <a:xfrm>
            <a:off x="685800" y="777240"/>
            <a:ext cx="7772400" cy="640080"/>
          </a:xfrm>
          <a:prstGeom prst="rect">
            <a:avLst/>
          </a:prstGeom>
          <a:noFill/>
          <a:ln/>
        </p:spPr>
        <p:txBody>
          <a:bodyPr wrap="square" lIns="0" tIns="0" rIns="0" bIns="0" rtlCol="0" anchor="ctr"/>
          <a:lstStyle/>
          <a:p>
            <a:pPr marL="0" indent="0">
              <a:buNone/>
            </a:pPr>
            <a:r>
              <a:rPr lang="en-US" sz="2400" b="1" dirty="0">
                <a:solidFill>
                  <a:srgbClr val="111111"/>
                </a:solidFill>
                <a:latin typeface="Arial" pitchFamily="34" charset="0"/>
                <a:ea typeface="Arial" pitchFamily="34" charset="-122"/>
                <a:cs typeface="Arial" pitchFamily="34" charset="-120"/>
              </a:rPr>
              <a:t>Kevin Kim</a:t>
            </a:r>
          </a:p>
        </p:txBody>
      </p:sp>
      <p:sp>
        <p:nvSpPr>
          <p:cNvPr id="4" name="FounderTitle"/>
          <p:cNvSpPr/>
          <p:nvPr/>
        </p:nvSpPr>
        <p:spPr>
          <a:xfrm>
            <a:off x="685800" y="1371600"/>
            <a:ext cx="7772400" cy="274320"/>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Founder &amp; CEO, KVK Labs (yarnnn)</a:t>
            </a:r>
          </a:p>
        </p:txBody>
      </p:sp>
      <p:sp>
        <p:nvSpPr>
          <p:cNvPr id="5" name="DividerLine"/>
          <p:cNvSpPr/>
          <p:nvPr/>
        </p:nvSpPr>
        <p:spPr>
          <a:xfrm>
            <a:off x="685800" y="2148397"/>
            <a:ext cx="1371600" cy="18000"/>
          </a:xfrm>
          <a:prstGeom prst="rect">
            <a:avLst/>
          </a:prstGeom>
          <a:solidFill>
            <a:srgbClr val="E8985E"/>
          </a:solidFill>
          <a:ln/>
        </p:spPr>
        <p:txBody>
          <a:bodyPr/>
          <a:lstStyle/>
          <a:p>
            <a:endParaRPr lang="en-KR"/>
          </a:p>
        </p:txBody>
      </p:sp>
      <p:sp>
        <p:nvSpPr>
          <p:cNvPr id="6" name="BioBlock"/>
          <p:cNvSpPr/>
          <p:nvPr/>
        </p:nvSpPr>
        <p:spPr>
          <a:xfrm>
            <a:off x="685799" y="2369597"/>
            <a:ext cx="7312981" cy="1800000"/>
          </a:xfrm>
          <a:prstGeom prst="rect">
            <a:avLst/>
          </a:prstGeom>
          <a:noFill/>
          <a:ln/>
        </p:spPr>
        <p:txBody>
          <a:bodyPr wrap="square" lIns="0" tIns="0" rIns="0" bIns="0" rtlCol="0" anchor="t"/>
          <a:lstStyle/>
          <a:p>
            <a:pPr marL="0" indent="0">
              <a:buNone/>
            </a:pPr>
            <a:r>
              <a:rPr lang="en-US" sz="1100" dirty="0">
                <a:solidFill>
                  <a:srgbClr val="444444"/>
                </a:solidFill>
                <a:latin typeface="Arial" pitchFamily="34" charset="0"/>
              </a:rPr>
              <a:t>B.S. Industrial and Systems Engineering, Virginia Tech</a:t>
            </a:r>
          </a:p>
          <a:p>
            <a:pPr marL="0" indent="0">
              <a:buNone/>
            </a:pPr>
            <a:endParaRPr lang="en-US" sz="1100" dirty="0">
              <a:solidFill>
                <a:srgbClr val="444444"/>
              </a:solidFill>
              <a:latin typeface="Arial" pitchFamily="34" charset="0"/>
            </a:endParaRPr>
          </a:p>
          <a:p>
            <a:pPr marL="0" indent="0">
              <a:buNone/>
            </a:pPr>
            <a:r>
              <a:rPr lang="en-US" sz="1100" dirty="0">
                <a:solidFill>
                  <a:srgbClr val="444444"/>
                </a:solidFill>
                <a:latin typeface="Arial" pitchFamily="34" charset="0"/>
              </a:rPr>
              <a:t xml:space="preserve">+10 years designing CRM and GTM systems in FMCG. </a:t>
            </a:r>
          </a:p>
          <a:p>
            <a:pPr marL="0" indent="0">
              <a:buNone/>
            </a:pPr>
            <a:br>
              <a:rPr lang="en-US" sz="1100" dirty="0">
                <a:solidFill>
                  <a:srgbClr val="444444"/>
                </a:solidFill>
                <a:latin typeface="Arial" pitchFamily="34" charset="0"/>
              </a:rPr>
            </a:br>
            <a:r>
              <a:rPr lang="en-US" sz="1100" dirty="0">
                <a:solidFill>
                  <a:srgbClr val="444444"/>
                </a:solidFill>
                <a:latin typeface="Arial" pitchFamily="34" charset="0"/>
              </a:rPr>
              <a:t xml:space="preserve">CMO, CPO positions in Korea based startups, Ran e-commerce fashion brand for 5 years, </a:t>
            </a:r>
          </a:p>
          <a:p>
            <a:pPr marL="0" indent="0">
              <a:buNone/>
            </a:pPr>
            <a:br>
              <a:rPr lang="en-US" sz="1100" dirty="0">
                <a:solidFill>
                  <a:srgbClr val="444444"/>
                </a:solidFill>
                <a:latin typeface="Arial" pitchFamily="34" charset="0"/>
              </a:rPr>
            </a:br>
            <a:r>
              <a:rPr lang="en-US" sz="1100" dirty="0">
                <a:solidFill>
                  <a:srgbClr val="444444"/>
                </a:solidFill>
                <a:latin typeface="Arial" pitchFamily="34" charset="0"/>
              </a:rPr>
              <a:t>Full-stack application for yarnnn, (</a:t>
            </a:r>
            <a:r>
              <a:rPr lang="en-US" sz="1100" dirty="0" err="1">
                <a:solidFill>
                  <a:srgbClr val="444444"/>
                </a:solidFill>
                <a:latin typeface="Arial" pitchFamily="34" charset="0"/>
              </a:rPr>
              <a:t>Next.js</a:t>
            </a:r>
            <a:r>
              <a:rPr lang="en-US" sz="1100" dirty="0">
                <a:solidFill>
                  <a:srgbClr val="444444"/>
                </a:solidFill>
                <a:latin typeface="Arial" pitchFamily="34" charset="0"/>
              </a:rPr>
              <a:t xml:space="preserve"> + </a:t>
            </a:r>
            <a:r>
              <a:rPr lang="en-US" sz="1100" dirty="0" err="1">
                <a:solidFill>
                  <a:srgbClr val="444444"/>
                </a:solidFill>
                <a:latin typeface="Arial" pitchFamily="34" charset="0"/>
              </a:rPr>
              <a:t>FastAPI</a:t>
            </a:r>
            <a:r>
              <a:rPr lang="en-US" sz="1100" dirty="0">
                <a:solidFill>
                  <a:srgbClr val="444444"/>
                </a:solidFill>
                <a:latin typeface="Arial" pitchFamily="34" charset="0"/>
              </a:rPr>
              <a:t xml:space="preserve"> + </a:t>
            </a:r>
            <a:r>
              <a:rPr lang="en-US" sz="1100" dirty="0" err="1">
                <a:solidFill>
                  <a:srgbClr val="444444"/>
                </a:solidFill>
                <a:latin typeface="Arial" pitchFamily="34" charset="0"/>
              </a:rPr>
              <a:t>Supabase</a:t>
            </a:r>
            <a:r>
              <a:rPr lang="en-US" sz="1100" dirty="0">
                <a:solidFill>
                  <a:srgbClr val="444444"/>
                </a:solidFill>
                <a:latin typeface="Arial" pitchFamily="34" charset="0"/>
              </a:rPr>
              <a:t>), four platform integrations, unified agent architecture documented across 115+ Architecture Decision Records.</a:t>
            </a:r>
          </a:p>
          <a:p>
            <a:pPr marL="0" indent="0">
              <a:buNone/>
            </a:pPr>
            <a:endParaRPr lang="en-US" sz="1100" dirty="0">
              <a:solidFill>
                <a:srgbClr val="444444"/>
              </a:solidFill>
              <a:latin typeface="Arial" pitchFamily="34" charset="0"/>
            </a:endParaRPr>
          </a:p>
          <a:p>
            <a:pPr marL="0" indent="0">
              <a:buNone/>
            </a:pPr>
            <a:r>
              <a:rPr lang="en-US" sz="1100" dirty="0">
                <a:solidFill>
                  <a:srgbClr val="444444"/>
                </a:solidFill>
                <a:latin typeface="Arial" pitchFamily="34" charset="0"/>
              </a:rPr>
              <a:t>Targeting US market; execute GTM and team-building as priority next step.</a:t>
            </a:r>
          </a:p>
        </p:txBody>
      </p:sp>
      <p:sp>
        <p:nvSpPr>
          <p:cNvPr id="7" name="LinkedInLabel"/>
          <p:cNvSpPr/>
          <p:nvPr/>
        </p:nvSpPr>
        <p:spPr>
          <a:xfrm>
            <a:off x="685799" y="1691640"/>
            <a:ext cx="5400000" cy="274320"/>
          </a:xfrm>
          <a:prstGeom prst="rect">
            <a:avLst/>
          </a:prstGeom>
          <a:noFill/>
          <a:ln/>
        </p:spPr>
        <p:txBody>
          <a:bodyPr wrap="square" lIns="0" tIns="0" rIns="0" bIns="0" rtlCol="0" anchor="ctr"/>
          <a:lstStyle/>
          <a:p>
            <a:pPr marL="0" marR="0">
              <a:buNone/>
            </a:pPr>
            <a:r>
              <a:rPr lang="en-US" sz="1000" dirty="0">
                <a:effectLst/>
                <a:latin typeface="Calibri" panose="020F0502020204030204" pitchFamily="34" charset="0"/>
                <a:hlinkClick r:id="rId3"/>
              </a:rPr>
              <a:t>https://www.linkedin.com/in/kimseulki0727/</a:t>
            </a:r>
            <a:endParaRPr lang="en-US" sz="1000" dirty="0">
              <a:effectLst/>
              <a:latin typeface="Calibri" panose="020F0502020204030204" pitchFamily="34" charset="0"/>
            </a:endParaRPr>
          </a:p>
        </p:txBody>
      </p:sp>
      <p:sp>
        <p:nvSpPr>
          <p:cNvPr id="8" name="ContactLine"/>
          <p:cNvSpPr/>
          <p:nvPr/>
        </p:nvSpPr>
        <p:spPr>
          <a:xfrm>
            <a:off x="685800" y="4400000"/>
            <a:ext cx="5400000" cy="274320"/>
          </a:xfrm>
          <a:prstGeom prst="rect">
            <a:avLst/>
          </a:prstGeom>
          <a:noFill/>
          <a:ln/>
        </p:spPr>
        <p:txBody>
          <a:bodyPr wrap="square" lIns="0" tIns="0" rIns="0" bIns="0" rtlCol="0" anchor="ctr"/>
          <a:lstStyle/>
          <a:p>
            <a:pPr marL="0" indent="0">
              <a:buNone/>
            </a:pPr>
            <a:r>
              <a:rPr lang="en-US" sz="1000" dirty="0">
                <a:solidFill>
                  <a:srgbClr val="999999"/>
                </a:solidFill>
                <a:latin typeface="Arial" pitchFamily="34" charset="0"/>
              </a:rPr>
              <a:t>kvkthecreator@gmail.com  ·  yarnnn.com</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Label"/>
          <p:cNvSpPr/>
          <p:nvPr/>
        </p:nvSpPr>
        <p:spPr>
          <a:xfrm>
            <a:off x="685800" y="457200"/>
            <a:ext cx="3657600" cy="274320"/>
          </a:xfrm>
          <a:prstGeom prst="rect">
            <a:avLst/>
          </a:prstGeom>
          <a:noFill/>
          <a:ln/>
        </p:spPr>
        <p:txBody>
          <a:bodyPr wrap="square" lIns="0" tIns="0" rIns="0" bIns="0" rtlCol="0" anchor="ctr"/>
          <a:lstStyle/>
          <a:p>
            <a:pPr marL="0" indent="0">
              <a:buNone/>
            </a:pPr>
            <a:r>
              <a:rPr lang="en-US" sz="1100" b="1" dirty="0">
                <a:solidFill>
                  <a:srgbClr val="E8985E"/>
                </a:solidFill>
                <a:latin typeface="Arial" pitchFamily="34" charset="0"/>
              </a:rPr>
              <a:t>Appendix: Value Realization Chain</a:t>
            </a:r>
          </a:p>
        </p:txBody>
      </p:sp>
      <p:sp>
        <p:nvSpPr>
          <p:cNvPr id="3" name="Title"/>
          <p:cNvSpPr/>
          <p:nvPr/>
        </p:nvSpPr>
        <p:spPr>
          <a:xfrm>
            <a:off x="685800" y="777240"/>
            <a:ext cx="7772400" cy="457200"/>
          </a:xfrm>
          <a:prstGeom prst="rect">
            <a:avLst/>
          </a:prstGeom>
          <a:noFill/>
          <a:ln/>
        </p:spPr>
        <p:txBody>
          <a:bodyPr wrap="square" lIns="0" tIns="0" rIns="0" bIns="0" rtlCol="0" anchor="ctr"/>
          <a:lstStyle/>
          <a:p>
            <a:pPr marL="0" indent="0">
              <a:buNone/>
            </a:pPr>
            <a:r>
              <a:rPr lang="en-US" sz="2000" b="1" dirty="0">
                <a:solidFill>
                  <a:srgbClr val="111111"/>
                </a:solidFill>
                <a:latin typeface="Arial" pitchFamily="34" charset="0"/>
              </a:rPr>
              <a:t>What the User Experiences: Connect to Compound</a:t>
            </a:r>
          </a:p>
        </p:txBody>
      </p:sp>
      <p:sp>
        <p:nvSpPr>
          <p:cNvPr id="4" name="ChainFlow"/>
          <p:cNvSpPr/>
          <p:nvPr/>
        </p:nvSpPr>
        <p:spPr>
          <a:xfrm>
            <a:off x="685800" y="1280160"/>
            <a:ext cx="7772400" cy="228600"/>
          </a:xfrm>
          <a:prstGeom prst="rect">
            <a:avLst/>
          </a:prstGeom>
          <a:noFill/>
          <a:ln/>
        </p:spPr>
        <p:txBody>
          <a:bodyPr wrap="square" lIns="0" tIns="0" rIns="0" bIns="0" rtlCol="0" anchor="ctr"/>
          <a:lstStyle/>
          <a:p>
            <a:pPr marL="0" indent="0" algn="ctr">
              <a:buNone/>
            </a:pPr>
            <a:r>
              <a:rPr lang="en-US" sz="900" b="1" dirty="0">
                <a:solidFill>
                  <a:srgbClr val="E8985E"/>
                </a:solidFill>
                <a:latin typeface="Arial" pitchFamily="34" charset="0"/>
              </a:rPr>
              <a:t>Connect → Perceive → Bootstrap → First Value → Accumulate → Compose → Compound ↻</a:t>
            </a:r>
          </a:p>
        </p:txBody>
      </p:sp>
      <p:sp>
        <p:nvSpPr>
          <p:cNvPr id="10" name="HeaderRow"/>
          <p:cNvSpPr/>
          <p:nvPr/>
        </p:nvSpPr>
        <p:spPr>
          <a:xfrm>
            <a:off x="685800" y="1645920"/>
            <a:ext cx="7772400" cy="274320"/>
          </a:xfrm>
          <a:prstGeom prst="rect">
            <a:avLst/>
          </a:prstGeom>
          <a:solidFill>
            <a:srgbClr val="333333"/>
          </a:solidFill>
          <a:ln/>
        </p:spPr>
        <p:txBody>
          <a:bodyPr wrap="square" lIns="91440" tIns="0" rIns="0" bIns="0" rtlCol="0" anchor="ctr"/>
          <a:lstStyle/>
          <a:p>
            <a:pPr marL="0" indent="0">
              <a:buNone/>
              <a:tabLst>
                <a:tab pos="1828800" algn="l"/>
                <a:tab pos="4572000" algn="l"/>
              </a:tabLst>
            </a:pPr>
            <a:r>
              <a:rPr lang="en-US" sz="900" b="1" dirty="0">
                <a:solidFill>
                  <a:srgbClr val="FFFFFF"/>
                </a:solidFill>
                <a:latin typeface="Arial" pitchFamily="34" charset="0"/>
              </a:rPr>
              <a:t>Time	What happens	What the user sees</a:t>
            </a:r>
          </a:p>
        </p:txBody>
      </p:sp>
      <p:sp>
        <p:nvSpPr>
          <p:cNvPr id="11" name="Row1"/>
          <p:cNvSpPr/>
          <p:nvPr/>
        </p:nvSpPr>
        <p:spPr>
          <a:xfrm>
            <a:off x="685800" y="1920240"/>
            <a:ext cx="7772400" cy="365760"/>
          </a:xfrm>
          <a:prstGeom prst="rect">
            <a:avLst/>
          </a:prstGeom>
          <a:solidFill>
            <a:srgbClr val="F8F8F8"/>
          </a:solidFill>
          <a:ln/>
        </p:spPr>
        <p:txBody>
          <a:bodyPr wrap="square" lIns="91440" tIns="0" rIns="0" bIns="0" rtlCol="0" anchor="ctr"/>
          <a:lstStyle/>
          <a:p>
            <a:pPr marL="0" indent="0">
              <a:buNone/>
              <a:tabLst>
                <a:tab pos="1828800" algn="l"/>
                <a:tab pos="4572000" algn="l"/>
              </a:tabLst>
            </a:pPr>
            <a:r>
              <a:rPr lang="en-US" sz="900" b="1" dirty="0">
                <a:solidFill>
                  <a:srgbClr val="E8985E"/>
                </a:solidFill>
                <a:latin typeface="Arial" pitchFamily="34" charset="0"/>
              </a:rPr>
              <a:t>T+0s</a:t>
            </a:r>
            <a:r>
              <a:rPr lang="en-US" sz="900" dirty="0">
                <a:solidFill>
                  <a:srgbClr val="666666"/>
                </a:solidFill>
                <a:latin typeface="Arial" pitchFamily="34" charset="0"/>
              </a:rPr>
              <a:t>	OAuth completes, sources auto-selected	Dashboard: “Slack connected”</a:t>
            </a:r>
          </a:p>
        </p:txBody>
      </p:sp>
      <p:sp>
        <p:nvSpPr>
          <p:cNvPr id="12" name="Row2"/>
          <p:cNvSpPr/>
          <p:nvPr/>
        </p:nvSpPr>
        <p:spPr>
          <a:xfrm>
            <a:off x="685800" y="2286000"/>
            <a:ext cx="7772400" cy="365760"/>
          </a:xfrm>
          <a:prstGeom prst="rect">
            <a:avLst/>
          </a:prstGeom>
          <a:noFill/>
          <a:ln/>
        </p:spPr>
        <p:txBody>
          <a:bodyPr wrap="square" lIns="91440" tIns="0" rIns="0" bIns="0" rtlCol="0" anchor="ctr"/>
          <a:lstStyle/>
          <a:p>
            <a:pPr marL="0" indent="0">
              <a:buNone/>
              <a:tabLst>
                <a:tab pos="1828800" algn="l"/>
                <a:tab pos="4572000" algn="l"/>
              </a:tabLst>
            </a:pPr>
            <a:r>
              <a:rPr lang="en-US" sz="900" b="1" dirty="0">
                <a:solidFill>
                  <a:srgbClr val="E8985E"/>
                </a:solidFill>
                <a:latin typeface="Arial" pitchFamily="34" charset="0"/>
              </a:rPr>
              <a:t>T+60s</a:t>
            </a:r>
            <a:r>
              <a:rPr lang="en-US" sz="900" dirty="0">
                <a:solidFill>
                  <a:srgbClr val="666666"/>
                </a:solidFill>
                <a:latin typeface="Arial" pitchFamily="34" charset="0"/>
              </a:rPr>
              <a:t>	Bootstrap creates agent, first run executes	First agent appears, first output delivered</a:t>
            </a:r>
          </a:p>
        </p:txBody>
      </p:sp>
      <p:sp>
        <p:nvSpPr>
          <p:cNvPr id="13" name="Row3"/>
          <p:cNvSpPr/>
          <p:nvPr/>
        </p:nvSpPr>
        <p:spPr>
          <a:xfrm>
            <a:off x="685800" y="2651760"/>
            <a:ext cx="7772400" cy="365760"/>
          </a:xfrm>
          <a:prstGeom prst="rect">
            <a:avLst/>
          </a:prstGeom>
          <a:solidFill>
            <a:srgbClr val="F8F8F8"/>
          </a:solidFill>
          <a:ln/>
        </p:spPr>
        <p:txBody>
          <a:bodyPr wrap="square" lIns="91440" tIns="0" rIns="0" bIns="0" rtlCol="0" anchor="ctr"/>
          <a:lstStyle/>
          <a:p>
            <a:pPr marL="0" indent="0">
              <a:buNone/>
              <a:tabLst>
                <a:tab pos="1828800" algn="l"/>
                <a:tab pos="4572000" algn="l"/>
              </a:tabLst>
            </a:pPr>
            <a:r>
              <a:rPr lang="en-US" sz="900" b="1" dirty="0">
                <a:solidFill>
                  <a:srgbClr val="E8985E"/>
                </a:solidFill>
                <a:latin typeface="Arial" pitchFamily="34" charset="0"/>
              </a:rPr>
              <a:t>Day 2-7</a:t>
            </a:r>
            <a:r>
              <a:rPr lang="en-US" sz="900" dirty="0">
                <a:solidFill>
                  <a:srgbClr val="666666"/>
                </a:solidFill>
                <a:latin typeface="Arial" pitchFamily="34" charset="0"/>
              </a:rPr>
              <a:t>	Daily syncs accumulate, digest agent runs daily	Digests arrive on schedule, improving each run</a:t>
            </a:r>
          </a:p>
        </p:txBody>
      </p:sp>
      <p:sp>
        <p:nvSpPr>
          <p:cNvPr id="14" name="Row4"/>
          <p:cNvSpPr/>
          <p:nvPr/>
        </p:nvSpPr>
        <p:spPr>
          <a:xfrm>
            <a:off x="685800" y="3017520"/>
            <a:ext cx="7772400" cy="365760"/>
          </a:xfrm>
          <a:prstGeom prst="rect">
            <a:avLst/>
          </a:prstGeom>
          <a:noFill/>
          <a:ln/>
        </p:spPr>
        <p:txBody>
          <a:bodyPr wrap="square" lIns="91440" tIns="0" rIns="0" bIns="0" rtlCol="0" anchor="ctr"/>
          <a:lstStyle/>
          <a:p>
            <a:pPr marL="0" indent="0">
              <a:buNone/>
              <a:tabLst>
                <a:tab pos="1828800" algn="l"/>
                <a:tab pos="4572000" algn="l"/>
              </a:tabLst>
            </a:pPr>
            <a:r>
              <a:rPr lang="en-US" sz="900" b="1" dirty="0">
                <a:solidFill>
                  <a:srgbClr val="E8985E"/>
                </a:solidFill>
                <a:latin typeface="Arial" pitchFamily="34" charset="0"/>
              </a:rPr>
              <a:t>Week 2</a:t>
            </a:r>
            <a:r>
              <a:rPr lang="en-US" sz="900" dirty="0">
                <a:solidFill>
                  <a:srgbClr val="666666"/>
                </a:solidFill>
                <a:latin typeface="Arial" pitchFamily="34" charset="0"/>
              </a:rPr>
              <a:t>	Composer heartbeat assesses substrate	Composer suggests or auto-creates cross-platform agent</a:t>
            </a:r>
          </a:p>
        </p:txBody>
      </p:sp>
      <p:sp>
        <p:nvSpPr>
          <p:cNvPr id="15" name="Row5"/>
          <p:cNvSpPr/>
          <p:nvPr/>
        </p:nvSpPr>
        <p:spPr>
          <a:xfrm>
            <a:off x="685800" y="3383280"/>
            <a:ext cx="7772400" cy="365760"/>
          </a:xfrm>
          <a:prstGeom prst="rect">
            <a:avLst/>
          </a:prstGeom>
          <a:solidFill>
            <a:srgbClr val="F8F8F8"/>
          </a:solidFill>
          <a:ln/>
        </p:spPr>
        <p:txBody>
          <a:bodyPr wrap="square" lIns="91440" tIns="0" rIns="0" bIns="0" rtlCol="0" anchor="ctr"/>
          <a:lstStyle/>
          <a:p>
            <a:pPr marL="0" indent="0">
              <a:buNone/>
              <a:tabLst>
                <a:tab pos="1828800" algn="l"/>
                <a:tab pos="4572000" algn="l"/>
              </a:tabLst>
            </a:pPr>
            <a:r>
              <a:rPr lang="en-US" sz="900" b="1" dirty="0">
                <a:solidFill>
                  <a:srgbClr val="E8985E"/>
                </a:solidFill>
                <a:latin typeface="Arial" pitchFamily="34" charset="0"/>
              </a:rPr>
              <a:t>Month 1</a:t>
            </a:r>
            <a:r>
              <a:rPr lang="en-US" sz="900" dirty="0">
                <a:solidFill>
                  <a:srgbClr val="666666"/>
                </a:solidFill>
                <a:latin typeface="Arial" pitchFamily="34" charset="0"/>
              </a:rPr>
              <a:t>	Multiple agents running, user has given feedback	Agents noticeably tailored to preferences</a:t>
            </a:r>
          </a:p>
        </p:txBody>
      </p:sp>
      <p:sp>
        <p:nvSpPr>
          <p:cNvPr id="16" name="Row6"/>
          <p:cNvSpPr/>
          <p:nvPr/>
        </p:nvSpPr>
        <p:spPr>
          <a:xfrm>
            <a:off x="685800" y="3749040"/>
            <a:ext cx="7772400" cy="365760"/>
          </a:xfrm>
          <a:prstGeom prst="rect">
            <a:avLst/>
          </a:prstGeom>
          <a:noFill/>
          <a:ln/>
        </p:spPr>
        <p:txBody>
          <a:bodyPr wrap="square" lIns="91440" tIns="0" rIns="0" bIns="0" rtlCol="0" anchor="ctr"/>
          <a:lstStyle/>
          <a:p>
            <a:pPr marL="0" indent="0">
              <a:buNone/>
              <a:tabLst>
                <a:tab pos="1828800" algn="l"/>
                <a:tab pos="4572000" algn="l"/>
              </a:tabLst>
            </a:pPr>
            <a:r>
              <a:rPr lang="en-US" sz="900" b="1" dirty="0">
                <a:solidFill>
                  <a:srgbClr val="E8985E"/>
                </a:solidFill>
                <a:latin typeface="Arial" pitchFamily="34" charset="0"/>
              </a:rPr>
              <a:t>Month 3</a:t>
            </a:r>
            <a:r>
              <a:rPr lang="en-US" sz="900" dirty="0">
                <a:solidFill>
                  <a:srgbClr val="666666"/>
                </a:solidFill>
                <a:latin typeface="Arial" pitchFamily="34" charset="0"/>
              </a:rPr>
              <a:t>	L2-L3 agents producing insights from digests	System understands work at a level no fresh start replicates</a:t>
            </a:r>
          </a:p>
        </p:txBody>
      </p:sp>
      <p:sp>
        <p:nvSpPr>
          <p:cNvPr id="20" name="Footer"/>
          <p:cNvSpPr/>
          <p:nvPr/>
        </p:nvSpPr>
        <p:spPr>
          <a:xfrm>
            <a:off x="685800" y="4297680"/>
            <a:ext cx="7772400" cy="365760"/>
          </a:xfrm>
          <a:prstGeom prst="rect">
            <a:avLst/>
          </a:prstGeom>
          <a:noFill/>
          <a:ln/>
        </p:spPr>
        <p:txBody>
          <a:bodyPr wrap="square" lIns="0" tIns="0" rIns="0" bIns="0" rtlCol="0" anchor="ctr"/>
          <a:lstStyle/>
          <a:p>
            <a:pPr marL="0" indent="0">
              <a:buNone/>
            </a:pPr>
            <a:r>
              <a:rPr lang="en-US" sz="1000" b="1" dirty="0">
                <a:solidFill>
                  <a:srgbClr val="E8985E"/>
                </a:solidFill>
                <a:latin typeface="Arial" pitchFamily="34" charset="0"/>
              </a:rPr>
              <a:t>Each phase’s output is the next phase’s input. A competitor starting from zero cannot replicate a tenured YARNNN instance.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ctionLabel"/>
          <p:cNvSpPr/>
          <p:nvPr/>
        </p:nvSpPr>
        <p:spPr>
          <a:xfrm>
            <a:off x="685800" y="365760"/>
            <a:ext cx="3657600" cy="228600"/>
          </a:xfrm>
          <a:prstGeom prst="rect">
            <a:avLst/>
          </a:prstGeom>
          <a:noFill/>
          <a:ln/>
        </p:spPr>
        <p:txBody>
          <a:bodyPr wrap="square" lIns="0" tIns="0" rIns="0" bIns="0" rtlCol="0" anchor="ctr"/>
          <a:lstStyle/>
          <a:p>
            <a:pPr marL="0" indent="0">
              <a:buNone/>
            </a:pPr>
            <a:r>
              <a:rPr lang="en-US" sz="1100" b="1" dirty="0">
                <a:solidFill>
                  <a:srgbClr val="E8985E"/>
                </a:solidFill>
                <a:latin typeface="Arial" pitchFamily="34" charset="0"/>
              </a:rPr>
              <a:t>Appendix: Architecture Depth</a:t>
            </a:r>
          </a:p>
        </p:txBody>
      </p:sp>
      <p:sp>
        <p:nvSpPr>
          <p:cNvPr id="3" name="Title"/>
          <p:cNvSpPr/>
          <p:nvPr/>
        </p:nvSpPr>
        <p:spPr>
          <a:xfrm>
            <a:off x="685800" y="594360"/>
            <a:ext cx="7772400" cy="457200"/>
          </a:xfrm>
          <a:prstGeom prst="rect">
            <a:avLst/>
          </a:prstGeom>
          <a:noFill/>
          <a:ln/>
        </p:spPr>
        <p:txBody>
          <a:bodyPr wrap="square" lIns="0" tIns="0" rIns="0" bIns="0" rtlCol="0" anchor="ctr"/>
          <a:lstStyle/>
          <a:p>
            <a:pPr marL="0" indent="0">
              <a:buNone/>
            </a:pPr>
            <a:r>
              <a:rPr lang="en-US" sz="2400" b="1" dirty="0">
                <a:solidFill>
                  <a:srgbClr val="111111"/>
                </a:solidFill>
                <a:latin typeface="Arial" pitchFamily="34" charset="0"/>
              </a:rPr>
              <a:t>What a Well-Funded Team Can’t Shortcut</a:t>
            </a:r>
          </a:p>
        </p:txBody>
      </p:sp>
      <p:sp>
        <p:nvSpPr>
          <p:cNvPr id="4" name="Subtitle"/>
          <p:cNvSpPr/>
          <p:nvPr/>
        </p:nvSpPr>
        <p:spPr>
          <a:xfrm>
            <a:off x="685800" y="1051560"/>
            <a:ext cx="7772400" cy="228600"/>
          </a:xfrm>
          <a:prstGeom prst="rect">
            <a:avLst/>
          </a:prstGeom>
          <a:noFill/>
          <a:ln/>
        </p:spPr>
        <p:txBody>
          <a:bodyPr wrap="square" lIns="0" tIns="0" rIns="0" bIns="0" rtlCol="0" anchor="ctr"/>
          <a:lstStyle/>
          <a:p>
            <a:pPr marL="0" indent="0">
              <a:buNone/>
            </a:pPr>
            <a:r>
              <a:rPr lang="en-US" sz="1100" dirty="0">
                <a:solidFill>
                  <a:srgbClr val="999999"/>
                </a:solidFill>
                <a:latin typeface="Arial" pitchFamily="34" charset="0"/>
              </a:rPr>
              <a:t>Each layer assumes the ones below it exist. 122 Architecture Decision Records document each tradeoff.</a:t>
            </a:r>
          </a:p>
        </p:txBody>
      </p:sp>
      <p:sp>
        <p:nvSpPr>
          <p:cNvPr id="10" name="Label1"/>
          <p:cNvSpPr/>
          <p:nvPr/>
        </p:nvSpPr>
        <p:spPr>
          <a:xfrm>
            <a:off x="685800" y="1463040"/>
            <a:ext cx="3840480" cy="228600"/>
          </a:xfrm>
          <a:prstGeom prst="rect">
            <a:avLst/>
          </a:prstGeom>
          <a:noFill/>
          <a:ln/>
        </p:spPr>
        <p:txBody>
          <a:bodyPr wrap="square" lIns="0" tIns="0" rIns="0" bIns="0" rtlCol="0" anchor="ctr"/>
          <a:lstStyle/>
          <a:p>
            <a:pPr marL="0" indent="0">
              <a:buNone/>
            </a:pPr>
            <a:r>
              <a:rPr lang="en-US" sz="1100" b="1" dirty="0">
                <a:solidFill>
                  <a:srgbClr val="E8985E"/>
                </a:solidFill>
                <a:latin typeface="Arial" pitchFamily="34" charset="0"/>
              </a:rPr>
              <a:t>“Claude Code Online” — Output Gateway</a:t>
            </a:r>
          </a:p>
        </p:txBody>
      </p:sp>
      <p:sp>
        <p:nvSpPr>
          <p:cNvPr id="11" name="Desc1"/>
          <p:cNvSpPr/>
          <p:nvPr/>
        </p:nvSpPr>
        <p:spPr>
          <a:xfrm>
            <a:off x="685800" y="1691640"/>
            <a:ext cx="3840480" cy="457200"/>
          </a:xfrm>
          <a:prstGeom prst="rect">
            <a:avLst/>
          </a:prstGeom>
          <a:noFill/>
          <a:ln/>
        </p:spPr>
        <p:txBody>
          <a:bodyPr wrap="square" lIns="0" tIns="0" rIns="0" bIns="0" rtlCol="0" anchor="t"/>
          <a:lstStyle/>
          <a:p>
            <a:pPr marL="0" indent="0">
              <a:buNone/>
            </a:pPr>
            <a:r>
              <a:rPr lang="en-US" sz="900" dirty="0">
                <a:solidFill>
                  <a:srgbClr val="666666"/>
                </a:solidFill>
                <a:latin typeface="Arial" pitchFamily="34" charset="0"/>
              </a:rPr>
              <a:t>Same capabilities model as Claude Code (SKILL.md + local tools + filesystem), but persistent, autonomous, and cloud-native. Two-filesystem architecture: capability filesystem (skills on Docker) + content filesystem (workspace per agent). Adding a new output format = adding a skill folder.</a:t>
            </a:r>
          </a:p>
        </p:txBody>
      </p:sp>
      <p:sp>
        <p:nvSpPr>
          <p:cNvPr id="12" name="Label2"/>
          <p:cNvSpPr/>
          <p:nvPr/>
        </p:nvSpPr>
        <p:spPr>
          <a:xfrm>
            <a:off x="4617720" y="1463040"/>
            <a:ext cx="3840480" cy="228600"/>
          </a:xfrm>
          <a:prstGeom prst="rect">
            <a:avLst/>
          </a:prstGeom>
          <a:noFill/>
          <a:ln/>
        </p:spPr>
        <p:txBody>
          <a:bodyPr wrap="square" lIns="0" tIns="0" rIns="0" bIns="0" rtlCol="0" anchor="ctr"/>
          <a:lstStyle/>
          <a:p>
            <a:pPr marL="0" indent="0">
              <a:buNone/>
            </a:pPr>
            <a:r>
              <a:rPr lang="en-US" sz="1100" b="1" dirty="0">
                <a:solidFill>
                  <a:srgbClr val="E8985E"/>
                </a:solidFill>
                <a:latin typeface="Arial" pitchFamily="34" charset="0"/>
              </a:rPr>
              <a:t>Autonomous Orchestration — Composer Heartbeat</a:t>
            </a:r>
          </a:p>
        </p:txBody>
      </p:sp>
      <p:sp>
        <p:nvSpPr>
          <p:cNvPr id="13" name="Desc2"/>
          <p:cNvSpPr/>
          <p:nvPr/>
        </p:nvSpPr>
        <p:spPr>
          <a:xfrm>
            <a:off x="4617720" y="1691640"/>
            <a:ext cx="3840480" cy="457200"/>
          </a:xfrm>
          <a:prstGeom prst="rect">
            <a:avLst/>
          </a:prstGeom>
          <a:noFill/>
          <a:ln/>
        </p:spPr>
        <p:txBody>
          <a:bodyPr wrap="square" lIns="0" tIns="0" rIns="0" bIns="0" rtlCol="0" anchor="t"/>
          <a:lstStyle/>
          <a:p>
            <a:pPr marL="0" indent="0">
              <a:buNone/>
            </a:pPr>
            <a:r>
              <a:rPr lang="en-US" sz="900" dirty="0">
                <a:solidFill>
                  <a:srgbClr val="666666"/>
                </a:solidFill>
                <a:latin typeface="Arial" pitchFamily="34" charset="0"/>
              </a:rPr>
              <a:t>A cron-triggered heartbeat assesses the entire agent workforce: substrate signals, content freshness, agent maturity, cross-agent patterns. Creates agents, pauses underperformers, dissolves unused ones, coaches via supervisor notes. No human in the loop.</a:t>
            </a:r>
          </a:p>
        </p:txBody>
      </p:sp>
      <p:sp>
        <p:nvSpPr>
          <p:cNvPr id="14" name="Label3"/>
          <p:cNvSpPr/>
          <p:nvPr/>
        </p:nvSpPr>
        <p:spPr>
          <a:xfrm>
            <a:off x="685800" y="2331720"/>
            <a:ext cx="3840480" cy="228600"/>
          </a:xfrm>
          <a:prstGeom prst="rect">
            <a:avLst/>
          </a:prstGeom>
          <a:noFill/>
          <a:ln/>
        </p:spPr>
        <p:txBody>
          <a:bodyPr wrap="square" lIns="0" tIns="0" rIns="0" bIns="0" rtlCol="0" anchor="ctr"/>
          <a:lstStyle/>
          <a:p>
            <a:pPr marL="0" indent="0">
              <a:buNone/>
            </a:pPr>
            <a:r>
              <a:rPr lang="en-US" sz="1100" b="1" dirty="0">
                <a:solidFill>
                  <a:srgbClr val="E8985E"/>
                </a:solidFill>
                <a:latin typeface="Arial" pitchFamily="34" charset="0"/>
              </a:rPr>
              <a:t>Feedback-to-Intelligence Loop</a:t>
            </a:r>
          </a:p>
        </p:txBody>
      </p:sp>
      <p:sp>
        <p:nvSpPr>
          <p:cNvPr id="15" name="Desc3"/>
          <p:cNvSpPr/>
          <p:nvPr/>
        </p:nvSpPr>
        <p:spPr>
          <a:xfrm>
            <a:off x="685800" y="2560320"/>
            <a:ext cx="3840480" cy="457200"/>
          </a:xfrm>
          <a:prstGeom prst="rect">
            <a:avLst/>
          </a:prstGeom>
          <a:noFill/>
          <a:ln/>
        </p:spPr>
        <p:txBody>
          <a:bodyPr wrap="square" lIns="0" tIns="0" rIns="0" bIns="0" rtlCol="0" anchor="t"/>
          <a:lstStyle/>
          <a:p>
            <a:pPr marL="0" indent="0">
              <a:buNone/>
            </a:pPr>
            <a:r>
              <a:rPr lang="en-US" sz="900" dirty="0">
                <a:solidFill>
                  <a:srgbClr val="666666"/>
                </a:solidFill>
                <a:latin typeface="Arial" pitchFamily="34" charset="0"/>
              </a:rPr>
              <a:t>Three unified feedback rails: user edits distilled to persistent preferences, agent self-reflection after every run, Composer lifecycle coaching. Agents progress through seniority levels (new → associate → senior) with expanding duty portfolios. “Improves with tenure” is structural, not aspirational.</a:t>
            </a:r>
          </a:p>
        </p:txBody>
      </p:sp>
      <p:sp>
        <p:nvSpPr>
          <p:cNvPr id="16" name="Label4"/>
          <p:cNvSpPr/>
          <p:nvPr/>
        </p:nvSpPr>
        <p:spPr>
          <a:xfrm>
            <a:off x="4617720" y="2331720"/>
            <a:ext cx="3840480" cy="228600"/>
          </a:xfrm>
          <a:prstGeom prst="rect">
            <a:avLst/>
          </a:prstGeom>
          <a:noFill/>
          <a:ln/>
        </p:spPr>
        <p:txBody>
          <a:bodyPr wrap="square" lIns="0" tIns="0" rIns="0" bIns="0" rtlCol="0" anchor="ctr"/>
          <a:lstStyle/>
          <a:p>
            <a:pPr marL="0" indent="0">
              <a:buNone/>
            </a:pPr>
            <a:r>
              <a:rPr lang="en-US" sz="1100" b="1" dirty="0">
                <a:solidFill>
                  <a:srgbClr val="E8985E"/>
                </a:solidFill>
                <a:latin typeface="Arial" pitchFamily="34" charset="0"/>
              </a:rPr>
              <a:t>Multi-Agent Project Coordination</a:t>
            </a:r>
          </a:p>
        </p:txBody>
      </p:sp>
      <p:sp>
        <p:nvSpPr>
          <p:cNvPr id="17" name="Desc4"/>
          <p:cNvSpPr/>
          <p:nvPr/>
        </p:nvSpPr>
        <p:spPr>
          <a:xfrm>
            <a:off x="4617720" y="2560320"/>
            <a:ext cx="3840480" cy="457200"/>
          </a:xfrm>
          <a:prstGeom prst="rect">
            <a:avLst/>
          </a:prstGeom>
          <a:noFill/>
          <a:ln/>
        </p:spPr>
        <p:txBody>
          <a:bodyPr wrap="square" lIns="0" tIns="0" rIns="0" bIns="0" rtlCol="0" anchor="t"/>
          <a:lstStyle/>
          <a:p>
            <a:pPr marL="0" indent="0">
              <a:buNone/>
            </a:pPr>
            <a:r>
              <a:rPr lang="en-US" sz="900" dirty="0">
                <a:solidFill>
                  <a:srgbClr val="666666"/>
                </a:solidFill>
                <a:latin typeface="Arial" pitchFamily="34" charset="0"/>
              </a:rPr>
              <a:t>PM agents coordinate contributor agents toward assembled deliverables. Contribution briefs steer agent focus. Quality assessment gates assembly. Work budget governors bound autonomous compute. Intent decomposition translates user goals into bounded, executable work plans.</a:t>
            </a:r>
          </a:p>
        </p:txBody>
      </p:sp>
      <p:sp>
        <p:nvSpPr>
          <p:cNvPr id="20" name="Divider"/>
          <p:cNvSpPr/>
          <p:nvPr/>
        </p:nvSpPr>
        <p:spPr>
          <a:xfrm>
            <a:off x="685800" y="3200400"/>
            <a:ext cx="7772400" cy="18000"/>
          </a:xfrm>
          <a:prstGeom prst="rect">
            <a:avLst/>
          </a:prstGeom>
          <a:solidFill>
            <a:srgbClr val="EEEEEE"/>
          </a:solidFill>
          <a:ln/>
        </p:spPr>
        <p:txBody>
          <a:bodyPr/>
          <a:lstStyle/>
          <a:p>
            <a:endParaRPr lang="en-KR"/>
          </a:p>
        </p:txBody>
      </p:sp>
      <p:sp>
        <p:nvSpPr>
          <p:cNvPr id="21" name="WhyItMatters"/>
          <p:cNvSpPr/>
          <p:nvPr/>
        </p:nvSpPr>
        <p:spPr>
          <a:xfrm>
            <a:off x="685800" y="3383280"/>
            <a:ext cx="7772400" cy="228600"/>
          </a:xfrm>
          <a:prstGeom prst="rect">
            <a:avLst/>
          </a:prstGeom>
          <a:noFill/>
          <a:ln/>
        </p:spPr>
        <p:txBody>
          <a:bodyPr wrap="square" lIns="0" tIns="0" rIns="0" bIns="0" rtlCol="0" anchor="ctr"/>
          <a:lstStyle/>
          <a:p>
            <a:pPr marL="0" indent="0">
              <a:buNone/>
            </a:pPr>
            <a:r>
              <a:rPr lang="en-US" sz="1100" b="1" dirty="0">
                <a:solidFill>
                  <a:srgbClr val="111111"/>
                </a:solidFill>
                <a:latin typeface="Arial" pitchFamily="34" charset="0"/>
              </a:rPr>
              <a:t>Why this compounds into defensibility:</a:t>
            </a:r>
          </a:p>
        </p:txBody>
      </p:sp>
      <p:sp>
        <p:nvSpPr>
          <p:cNvPr id="22" name="DefenseText"/>
          <p:cNvSpPr/>
          <p:nvPr/>
        </p:nvSpPr>
        <p:spPr>
          <a:xfrm>
            <a:off x="685800" y="3611880"/>
            <a:ext cx="7772400" cy="640080"/>
          </a:xfrm>
          <a:prstGeom prst="rect">
            <a:avLst/>
          </a:prstGeom>
          <a:noFill/>
          <a:ln/>
        </p:spPr>
        <p:txBody>
          <a:bodyPr wrap="square" lIns="0" tIns="0" rIns="0" bIns="0" rtlCol="0" anchor="t"/>
          <a:lstStyle/>
          <a:p>
            <a:pPr marL="0" indent="0">
              <a:buNone/>
            </a:pPr>
            <a:r>
              <a:rPr lang="en-US" sz="900" dirty="0">
                <a:solidFill>
                  <a:srgbClr val="666666"/>
                </a:solidFill>
                <a:latin typeface="Arial" pitchFamily="34" charset="0"/>
              </a:rPr>
              <a:t>The Composer heartbeat can’t work without the feedback substrate. The feedback substrate can’t work without the workspace filesystem. The workspace filesystem can’t work without the perception pipeline populating it. Each architectural layer was designed knowing the layers above it would exist. A team starting today would need to discover these interdependencies through the same 122 decisions — or build a simpler system that can’t compound.</a:t>
            </a:r>
          </a:p>
        </p:txBody>
      </p:sp>
      <p:sp>
        <p:nvSpPr>
          <p:cNvPr id="23" name="Footer"/>
          <p:cNvSpPr/>
          <p:nvPr/>
        </p:nvSpPr>
        <p:spPr>
          <a:xfrm>
            <a:off x="685800" y="4480560"/>
            <a:ext cx="7772400" cy="274320"/>
          </a:xfrm>
          <a:prstGeom prst="rect">
            <a:avLst/>
          </a:prstGeom>
          <a:noFill/>
          <a:ln/>
        </p:spPr>
        <p:txBody>
          <a:bodyPr wrap="square" lIns="0" tIns="0" rIns="0" bIns="0" rtlCol="0" anchor="ctr"/>
          <a:lstStyle/>
          <a:p>
            <a:pPr marL="0" indent="0" algn="ctr">
              <a:buNone/>
            </a:pPr>
            <a:r>
              <a:rPr lang="en-US" sz="900" i="1" dirty="0">
                <a:solidFill>
                  <a:srgbClr val="E8985E"/>
                </a:solidFill>
                <a:latin typeface="Arial" pitchFamily="34" charset="0"/>
              </a:rPr>
              <a:t>Full technical architecture brief available on request.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506</TotalTime>
  <Words>1700</Words>
  <Application>Microsoft Macintosh PowerPoint</Application>
  <PresentationFormat>On-screen Show (16:9)</PresentationFormat>
  <Paragraphs>310</Paragraphs>
  <Slides>18</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yarnnn - IR Deck v13</dc:title>
  <dc:subject>PptxGenJS Presentation</dc:subject>
  <dc:creator>Kevin Kim</dc:creator>
  <cp:lastModifiedBy>SEULKI KIM</cp:lastModifiedBy>
  <cp:revision>17</cp:revision>
  <dcterms:created xsi:type="dcterms:W3CDTF">2026-02-24T04:44:42Z</dcterms:created>
  <dcterms:modified xsi:type="dcterms:W3CDTF">2026-03-08T01:12:28Z</dcterms:modified>
</cp:coreProperties>
</file>