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4" r:id="rId3"/>
    <p:sldId id="275" r:id="rId4"/>
    <p:sldId id="259" r:id="rId5"/>
    <p:sldId id="276" r:id="rId6"/>
    <p:sldId id="268" r:id="rId7"/>
    <p:sldId id="263" r:id="rId8"/>
    <p:sldId id="260" r:id="rId9"/>
    <p:sldId id="262" r:id="rId10"/>
    <p:sldId id="261" r:id="rId11"/>
    <p:sldId id="273" r:id="rId12"/>
    <p:sldId id="277" r:id="rId13"/>
    <p:sldId id="266" r:id="rId14"/>
    <p:sldId id="269" r:id="rId15"/>
    <p:sldId id="270" r:id="rId16"/>
    <p:sldId id="272" r:id="rId17"/>
    <p:sldId id="278" r:id="rId18"/>
    <p:sldId id="279" r:id="rId19"/>
    <p:sldId id="280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075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20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75EFB5-6545-5444-B3CA-6FCE5209FEC5}" type="doc">
      <dgm:prSet loTypeId="urn:microsoft.com/office/officeart/2005/8/layout/cycle2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4D0CE6A-B567-424E-ADD1-914866CB5499}">
      <dgm:prSet phldrT="[Text]"/>
      <dgm:spPr/>
      <dgm:t>
        <a:bodyPr/>
        <a:lstStyle/>
        <a:p>
          <a:r>
            <a:rPr lang="en-US" dirty="0"/>
            <a:t>Connect</a:t>
          </a:r>
        </a:p>
      </dgm:t>
    </dgm:pt>
    <dgm:pt modelId="{13793F0F-94FA-F443-BA21-6B58B9BFA631}" type="parTrans" cxnId="{9B9FED14-CA6A-3C4B-9E35-B5C478BC5B5A}">
      <dgm:prSet/>
      <dgm:spPr/>
      <dgm:t>
        <a:bodyPr/>
        <a:lstStyle/>
        <a:p>
          <a:endParaRPr lang="en-US"/>
        </a:p>
      </dgm:t>
    </dgm:pt>
    <dgm:pt modelId="{D76EC4C4-D4DC-EB44-B0A9-DBDBC65462FC}" type="sibTrans" cxnId="{9B9FED14-CA6A-3C4B-9E35-B5C478BC5B5A}">
      <dgm:prSet/>
      <dgm:spPr/>
      <dgm:t>
        <a:bodyPr/>
        <a:lstStyle/>
        <a:p>
          <a:endParaRPr lang="en-US"/>
        </a:p>
      </dgm:t>
    </dgm:pt>
    <dgm:pt modelId="{96B892F0-DB33-A241-AE5E-C18BC679580A}">
      <dgm:prSet phldrT="[Text]"/>
      <dgm:spPr/>
      <dgm:t>
        <a:bodyPr/>
        <a:lstStyle/>
        <a:p>
          <a:r>
            <a:rPr lang="en-US" dirty="0"/>
            <a:t>Accumulate</a:t>
          </a:r>
        </a:p>
      </dgm:t>
    </dgm:pt>
    <dgm:pt modelId="{069FFB75-0FE1-7143-A922-FE565E1EC6EB}" type="parTrans" cxnId="{23C26AD3-2DED-1544-9BE0-EF11D0437E70}">
      <dgm:prSet/>
      <dgm:spPr/>
      <dgm:t>
        <a:bodyPr/>
        <a:lstStyle/>
        <a:p>
          <a:endParaRPr lang="en-US"/>
        </a:p>
      </dgm:t>
    </dgm:pt>
    <dgm:pt modelId="{8D10FAA7-DADF-ED42-927B-A8C34D42C0E9}" type="sibTrans" cxnId="{23C26AD3-2DED-1544-9BE0-EF11D0437E70}">
      <dgm:prSet/>
      <dgm:spPr/>
      <dgm:t>
        <a:bodyPr/>
        <a:lstStyle/>
        <a:p>
          <a:endParaRPr lang="en-US"/>
        </a:p>
      </dgm:t>
    </dgm:pt>
    <dgm:pt modelId="{A7B3F113-682D-7E46-BBD5-013F0B177322}">
      <dgm:prSet phldrT="[Text]"/>
      <dgm:spPr/>
      <dgm:t>
        <a:bodyPr/>
        <a:lstStyle/>
        <a:p>
          <a:r>
            <a:rPr lang="en-US" dirty="0"/>
            <a:t>Automate</a:t>
          </a:r>
        </a:p>
      </dgm:t>
    </dgm:pt>
    <dgm:pt modelId="{A7AF438A-2AF8-8D43-A712-F82685C02488}" type="parTrans" cxnId="{FA1E47CF-8216-FC4D-B89C-A47D10451EF0}">
      <dgm:prSet/>
      <dgm:spPr/>
      <dgm:t>
        <a:bodyPr/>
        <a:lstStyle/>
        <a:p>
          <a:endParaRPr lang="en-US"/>
        </a:p>
      </dgm:t>
    </dgm:pt>
    <dgm:pt modelId="{A1B0231E-AAB7-2948-A805-41F69AA79600}" type="sibTrans" cxnId="{FA1E47CF-8216-FC4D-B89C-A47D10451EF0}">
      <dgm:prSet/>
      <dgm:spPr/>
      <dgm:t>
        <a:bodyPr/>
        <a:lstStyle/>
        <a:p>
          <a:endParaRPr lang="en-US"/>
        </a:p>
      </dgm:t>
    </dgm:pt>
    <dgm:pt modelId="{005126F7-5330-5C43-AD97-2D8EC3A3A550}">
      <dgm:prSet phldrT="[Text]"/>
      <dgm:spPr/>
      <dgm:t>
        <a:bodyPr/>
        <a:lstStyle/>
        <a:p>
          <a:r>
            <a:rPr lang="en-US" dirty="0"/>
            <a:t>Supervise</a:t>
          </a:r>
        </a:p>
      </dgm:t>
    </dgm:pt>
    <dgm:pt modelId="{0D8280E4-C59B-F241-AC3E-904DA2B48F33}" type="parTrans" cxnId="{9281CDA1-274A-384A-A131-1F091B50BAF6}">
      <dgm:prSet/>
      <dgm:spPr/>
      <dgm:t>
        <a:bodyPr/>
        <a:lstStyle/>
        <a:p>
          <a:endParaRPr lang="en-US"/>
        </a:p>
      </dgm:t>
    </dgm:pt>
    <dgm:pt modelId="{83AFFC27-0BB1-A047-BC04-733FBB9A13BA}" type="sibTrans" cxnId="{9281CDA1-274A-384A-A131-1F091B50BAF6}">
      <dgm:prSet/>
      <dgm:spPr/>
      <dgm:t>
        <a:bodyPr/>
        <a:lstStyle/>
        <a:p>
          <a:endParaRPr lang="en-US"/>
        </a:p>
      </dgm:t>
    </dgm:pt>
    <dgm:pt modelId="{5FB57BF2-12D3-D340-87C3-4164EE02C508}" type="pres">
      <dgm:prSet presAssocID="{3475EFB5-6545-5444-B3CA-6FCE5209FEC5}" presName="cycle" presStyleCnt="0">
        <dgm:presLayoutVars>
          <dgm:dir/>
          <dgm:resizeHandles val="exact"/>
        </dgm:presLayoutVars>
      </dgm:prSet>
      <dgm:spPr/>
    </dgm:pt>
    <dgm:pt modelId="{E989D1E9-A113-1E49-805B-2AE9B86A3086}" type="pres">
      <dgm:prSet presAssocID="{94D0CE6A-B567-424E-ADD1-914866CB5499}" presName="node" presStyleLbl="node1" presStyleIdx="0" presStyleCnt="4">
        <dgm:presLayoutVars>
          <dgm:bulletEnabled val="1"/>
        </dgm:presLayoutVars>
      </dgm:prSet>
      <dgm:spPr/>
    </dgm:pt>
    <dgm:pt modelId="{4BD94FCC-32F1-F44B-938D-BF718766CFD3}" type="pres">
      <dgm:prSet presAssocID="{D76EC4C4-D4DC-EB44-B0A9-DBDBC65462FC}" presName="sibTrans" presStyleLbl="sibTrans2D1" presStyleIdx="0" presStyleCnt="4"/>
      <dgm:spPr/>
    </dgm:pt>
    <dgm:pt modelId="{8D29A70D-5763-2C4B-BF55-91335155A6D1}" type="pres">
      <dgm:prSet presAssocID="{D76EC4C4-D4DC-EB44-B0A9-DBDBC65462FC}" presName="connectorText" presStyleLbl="sibTrans2D1" presStyleIdx="0" presStyleCnt="4"/>
      <dgm:spPr/>
    </dgm:pt>
    <dgm:pt modelId="{D37B5B34-DFEE-2744-AAFB-C23F33C31915}" type="pres">
      <dgm:prSet presAssocID="{96B892F0-DB33-A241-AE5E-C18BC679580A}" presName="node" presStyleLbl="node1" presStyleIdx="1" presStyleCnt="4">
        <dgm:presLayoutVars>
          <dgm:bulletEnabled val="1"/>
        </dgm:presLayoutVars>
      </dgm:prSet>
      <dgm:spPr/>
    </dgm:pt>
    <dgm:pt modelId="{577E7328-CC59-3940-AE32-906EA0952199}" type="pres">
      <dgm:prSet presAssocID="{8D10FAA7-DADF-ED42-927B-A8C34D42C0E9}" presName="sibTrans" presStyleLbl="sibTrans2D1" presStyleIdx="1" presStyleCnt="4"/>
      <dgm:spPr/>
    </dgm:pt>
    <dgm:pt modelId="{E311AC36-C552-A541-9A52-F5F9625DF5F5}" type="pres">
      <dgm:prSet presAssocID="{8D10FAA7-DADF-ED42-927B-A8C34D42C0E9}" presName="connectorText" presStyleLbl="sibTrans2D1" presStyleIdx="1" presStyleCnt="4"/>
      <dgm:spPr/>
    </dgm:pt>
    <dgm:pt modelId="{1B14CD14-4225-874C-82A1-719AF5DC0F23}" type="pres">
      <dgm:prSet presAssocID="{A7B3F113-682D-7E46-BBD5-013F0B177322}" presName="node" presStyleLbl="node1" presStyleIdx="2" presStyleCnt="4">
        <dgm:presLayoutVars>
          <dgm:bulletEnabled val="1"/>
        </dgm:presLayoutVars>
      </dgm:prSet>
      <dgm:spPr/>
    </dgm:pt>
    <dgm:pt modelId="{A8DFEA55-995D-8446-8B1F-EE15CCDE9966}" type="pres">
      <dgm:prSet presAssocID="{A1B0231E-AAB7-2948-A805-41F69AA79600}" presName="sibTrans" presStyleLbl="sibTrans2D1" presStyleIdx="2" presStyleCnt="4"/>
      <dgm:spPr/>
    </dgm:pt>
    <dgm:pt modelId="{0CDEEAAD-0552-BF43-9384-7B5B7930ED2A}" type="pres">
      <dgm:prSet presAssocID="{A1B0231E-AAB7-2948-A805-41F69AA79600}" presName="connectorText" presStyleLbl="sibTrans2D1" presStyleIdx="2" presStyleCnt="4"/>
      <dgm:spPr/>
    </dgm:pt>
    <dgm:pt modelId="{DD3D9FC4-0567-A144-9E9B-A9E3A9FFA37E}" type="pres">
      <dgm:prSet presAssocID="{005126F7-5330-5C43-AD97-2D8EC3A3A550}" presName="node" presStyleLbl="node1" presStyleIdx="3" presStyleCnt="4">
        <dgm:presLayoutVars>
          <dgm:bulletEnabled val="1"/>
        </dgm:presLayoutVars>
      </dgm:prSet>
      <dgm:spPr/>
    </dgm:pt>
    <dgm:pt modelId="{62476013-F808-AA42-93B8-286D828C3727}" type="pres">
      <dgm:prSet presAssocID="{83AFFC27-0BB1-A047-BC04-733FBB9A13BA}" presName="sibTrans" presStyleLbl="sibTrans2D1" presStyleIdx="3" presStyleCnt="4"/>
      <dgm:spPr/>
    </dgm:pt>
    <dgm:pt modelId="{929B6584-4511-1743-A2EE-20975798DB64}" type="pres">
      <dgm:prSet presAssocID="{83AFFC27-0BB1-A047-BC04-733FBB9A13BA}" presName="connectorText" presStyleLbl="sibTrans2D1" presStyleIdx="3" presStyleCnt="4"/>
      <dgm:spPr/>
    </dgm:pt>
  </dgm:ptLst>
  <dgm:cxnLst>
    <dgm:cxn modelId="{07EBFB13-0D7C-A249-A07C-BEF3836959C8}" type="presOf" srcId="{96B892F0-DB33-A241-AE5E-C18BC679580A}" destId="{D37B5B34-DFEE-2744-AAFB-C23F33C31915}" srcOrd="0" destOrd="0" presId="urn:microsoft.com/office/officeart/2005/8/layout/cycle2"/>
    <dgm:cxn modelId="{9B9FED14-CA6A-3C4B-9E35-B5C478BC5B5A}" srcId="{3475EFB5-6545-5444-B3CA-6FCE5209FEC5}" destId="{94D0CE6A-B567-424E-ADD1-914866CB5499}" srcOrd="0" destOrd="0" parTransId="{13793F0F-94FA-F443-BA21-6B58B9BFA631}" sibTransId="{D76EC4C4-D4DC-EB44-B0A9-DBDBC65462FC}"/>
    <dgm:cxn modelId="{DA850520-A58B-D646-BF7D-9A597F39E6A3}" type="presOf" srcId="{005126F7-5330-5C43-AD97-2D8EC3A3A550}" destId="{DD3D9FC4-0567-A144-9E9B-A9E3A9FFA37E}" srcOrd="0" destOrd="0" presId="urn:microsoft.com/office/officeart/2005/8/layout/cycle2"/>
    <dgm:cxn modelId="{57F3433C-4601-0947-B3C8-4A3EB6745827}" type="presOf" srcId="{A1B0231E-AAB7-2948-A805-41F69AA79600}" destId="{A8DFEA55-995D-8446-8B1F-EE15CCDE9966}" srcOrd="0" destOrd="0" presId="urn:microsoft.com/office/officeart/2005/8/layout/cycle2"/>
    <dgm:cxn modelId="{460E4A58-1D4B-FE44-9755-9D7C5B373617}" type="presOf" srcId="{A7B3F113-682D-7E46-BBD5-013F0B177322}" destId="{1B14CD14-4225-874C-82A1-719AF5DC0F23}" srcOrd="0" destOrd="0" presId="urn:microsoft.com/office/officeart/2005/8/layout/cycle2"/>
    <dgm:cxn modelId="{4BC4065B-A5E8-9943-9649-ACC4C835FCD5}" type="presOf" srcId="{8D10FAA7-DADF-ED42-927B-A8C34D42C0E9}" destId="{577E7328-CC59-3940-AE32-906EA0952199}" srcOrd="0" destOrd="0" presId="urn:microsoft.com/office/officeart/2005/8/layout/cycle2"/>
    <dgm:cxn modelId="{60656065-8901-0B44-906B-34F309502D0D}" type="presOf" srcId="{D76EC4C4-D4DC-EB44-B0A9-DBDBC65462FC}" destId="{4BD94FCC-32F1-F44B-938D-BF718766CFD3}" srcOrd="0" destOrd="0" presId="urn:microsoft.com/office/officeart/2005/8/layout/cycle2"/>
    <dgm:cxn modelId="{86D1F26B-FE69-1342-95C4-0F6F99B9B6A3}" type="presOf" srcId="{8D10FAA7-DADF-ED42-927B-A8C34D42C0E9}" destId="{E311AC36-C552-A541-9A52-F5F9625DF5F5}" srcOrd="1" destOrd="0" presId="urn:microsoft.com/office/officeart/2005/8/layout/cycle2"/>
    <dgm:cxn modelId="{17009081-D74B-DB4D-807E-7E496ECE5CD8}" type="presOf" srcId="{94D0CE6A-B567-424E-ADD1-914866CB5499}" destId="{E989D1E9-A113-1E49-805B-2AE9B86A3086}" srcOrd="0" destOrd="0" presId="urn:microsoft.com/office/officeart/2005/8/layout/cycle2"/>
    <dgm:cxn modelId="{9281CDA1-274A-384A-A131-1F091B50BAF6}" srcId="{3475EFB5-6545-5444-B3CA-6FCE5209FEC5}" destId="{005126F7-5330-5C43-AD97-2D8EC3A3A550}" srcOrd="3" destOrd="0" parTransId="{0D8280E4-C59B-F241-AC3E-904DA2B48F33}" sibTransId="{83AFFC27-0BB1-A047-BC04-733FBB9A13BA}"/>
    <dgm:cxn modelId="{0A35CBBD-1D2E-1644-BA84-C3209BD4FEB9}" type="presOf" srcId="{3475EFB5-6545-5444-B3CA-6FCE5209FEC5}" destId="{5FB57BF2-12D3-D340-87C3-4164EE02C508}" srcOrd="0" destOrd="0" presId="urn:microsoft.com/office/officeart/2005/8/layout/cycle2"/>
    <dgm:cxn modelId="{75704BBE-E408-1E4F-A4C7-5D6B2D7B1C7A}" type="presOf" srcId="{83AFFC27-0BB1-A047-BC04-733FBB9A13BA}" destId="{929B6584-4511-1743-A2EE-20975798DB64}" srcOrd="1" destOrd="0" presId="urn:microsoft.com/office/officeart/2005/8/layout/cycle2"/>
    <dgm:cxn modelId="{37D789CB-607F-DF4F-939A-3B789EC71BF3}" type="presOf" srcId="{A1B0231E-AAB7-2948-A805-41F69AA79600}" destId="{0CDEEAAD-0552-BF43-9384-7B5B7930ED2A}" srcOrd="1" destOrd="0" presId="urn:microsoft.com/office/officeart/2005/8/layout/cycle2"/>
    <dgm:cxn modelId="{FA1E47CF-8216-FC4D-B89C-A47D10451EF0}" srcId="{3475EFB5-6545-5444-B3CA-6FCE5209FEC5}" destId="{A7B3F113-682D-7E46-BBD5-013F0B177322}" srcOrd="2" destOrd="0" parTransId="{A7AF438A-2AF8-8D43-A712-F82685C02488}" sibTransId="{A1B0231E-AAB7-2948-A805-41F69AA79600}"/>
    <dgm:cxn modelId="{39FE60D2-23BD-764E-BB8E-835E4676F4FF}" type="presOf" srcId="{D76EC4C4-D4DC-EB44-B0A9-DBDBC65462FC}" destId="{8D29A70D-5763-2C4B-BF55-91335155A6D1}" srcOrd="1" destOrd="0" presId="urn:microsoft.com/office/officeart/2005/8/layout/cycle2"/>
    <dgm:cxn modelId="{23C26AD3-2DED-1544-9BE0-EF11D0437E70}" srcId="{3475EFB5-6545-5444-B3CA-6FCE5209FEC5}" destId="{96B892F0-DB33-A241-AE5E-C18BC679580A}" srcOrd="1" destOrd="0" parTransId="{069FFB75-0FE1-7143-A922-FE565E1EC6EB}" sibTransId="{8D10FAA7-DADF-ED42-927B-A8C34D42C0E9}"/>
    <dgm:cxn modelId="{B1E000DB-2423-8A4C-AB3D-F798749F1116}" type="presOf" srcId="{83AFFC27-0BB1-A047-BC04-733FBB9A13BA}" destId="{62476013-F808-AA42-93B8-286D828C3727}" srcOrd="0" destOrd="0" presId="urn:microsoft.com/office/officeart/2005/8/layout/cycle2"/>
    <dgm:cxn modelId="{C956A7DC-C8A7-7C42-BCA0-28BDD227FF07}" type="presParOf" srcId="{5FB57BF2-12D3-D340-87C3-4164EE02C508}" destId="{E989D1E9-A113-1E49-805B-2AE9B86A3086}" srcOrd="0" destOrd="0" presId="urn:microsoft.com/office/officeart/2005/8/layout/cycle2"/>
    <dgm:cxn modelId="{15C593A6-0A43-F241-83A9-ECC50D5C7E6C}" type="presParOf" srcId="{5FB57BF2-12D3-D340-87C3-4164EE02C508}" destId="{4BD94FCC-32F1-F44B-938D-BF718766CFD3}" srcOrd="1" destOrd="0" presId="urn:microsoft.com/office/officeart/2005/8/layout/cycle2"/>
    <dgm:cxn modelId="{F3D28F7C-649D-2341-81C6-818767BDA9C5}" type="presParOf" srcId="{4BD94FCC-32F1-F44B-938D-BF718766CFD3}" destId="{8D29A70D-5763-2C4B-BF55-91335155A6D1}" srcOrd="0" destOrd="0" presId="urn:microsoft.com/office/officeart/2005/8/layout/cycle2"/>
    <dgm:cxn modelId="{E2B197D0-D59C-8A40-AA72-9D1D06A1C26D}" type="presParOf" srcId="{5FB57BF2-12D3-D340-87C3-4164EE02C508}" destId="{D37B5B34-DFEE-2744-AAFB-C23F33C31915}" srcOrd="2" destOrd="0" presId="urn:microsoft.com/office/officeart/2005/8/layout/cycle2"/>
    <dgm:cxn modelId="{932E81C7-2253-B749-BF0B-A97F66AE368B}" type="presParOf" srcId="{5FB57BF2-12D3-D340-87C3-4164EE02C508}" destId="{577E7328-CC59-3940-AE32-906EA0952199}" srcOrd="3" destOrd="0" presId="urn:microsoft.com/office/officeart/2005/8/layout/cycle2"/>
    <dgm:cxn modelId="{BEE8636D-5663-9045-9616-8986AE66F60C}" type="presParOf" srcId="{577E7328-CC59-3940-AE32-906EA0952199}" destId="{E311AC36-C552-A541-9A52-F5F9625DF5F5}" srcOrd="0" destOrd="0" presId="urn:microsoft.com/office/officeart/2005/8/layout/cycle2"/>
    <dgm:cxn modelId="{AE462C0D-58CD-1444-A093-53F90BE12EA9}" type="presParOf" srcId="{5FB57BF2-12D3-D340-87C3-4164EE02C508}" destId="{1B14CD14-4225-874C-82A1-719AF5DC0F23}" srcOrd="4" destOrd="0" presId="urn:microsoft.com/office/officeart/2005/8/layout/cycle2"/>
    <dgm:cxn modelId="{03F1F590-7870-AD4B-BE40-C0078BEB7DBF}" type="presParOf" srcId="{5FB57BF2-12D3-D340-87C3-4164EE02C508}" destId="{A8DFEA55-995D-8446-8B1F-EE15CCDE9966}" srcOrd="5" destOrd="0" presId="urn:microsoft.com/office/officeart/2005/8/layout/cycle2"/>
    <dgm:cxn modelId="{9D4C7250-1A72-F744-930C-88045812F553}" type="presParOf" srcId="{A8DFEA55-995D-8446-8B1F-EE15CCDE9966}" destId="{0CDEEAAD-0552-BF43-9384-7B5B7930ED2A}" srcOrd="0" destOrd="0" presId="urn:microsoft.com/office/officeart/2005/8/layout/cycle2"/>
    <dgm:cxn modelId="{11335C0D-903C-B14C-8530-6ACBC714FDE9}" type="presParOf" srcId="{5FB57BF2-12D3-D340-87C3-4164EE02C508}" destId="{DD3D9FC4-0567-A144-9E9B-A9E3A9FFA37E}" srcOrd="6" destOrd="0" presId="urn:microsoft.com/office/officeart/2005/8/layout/cycle2"/>
    <dgm:cxn modelId="{98A0B0C1-0FC8-0346-9E3B-54F53BF84576}" type="presParOf" srcId="{5FB57BF2-12D3-D340-87C3-4164EE02C508}" destId="{62476013-F808-AA42-93B8-286D828C3727}" srcOrd="7" destOrd="0" presId="urn:microsoft.com/office/officeart/2005/8/layout/cycle2"/>
    <dgm:cxn modelId="{99872568-01EC-C542-935E-D53F6D37BC31}" type="presParOf" srcId="{62476013-F808-AA42-93B8-286D828C3727}" destId="{929B6584-4511-1743-A2EE-20975798DB64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89D1E9-A113-1E49-805B-2AE9B86A3086}">
      <dsp:nvSpPr>
        <dsp:cNvPr id="0" name=""/>
        <dsp:cNvSpPr/>
      </dsp:nvSpPr>
      <dsp:spPr>
        <a:xfrm>
          <a:off x="1207785" y="385"/>
          <a:ext cx="920295" cy="9202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Connect</a:t>
          </a:r>
        </a:p>
      </dsp:txBody>
      <dsp:txXfrm>
        <a:off x="1342559" y="135159"/>
        <a:ext cx="650747" cy="650747"/>
      </dsp:txXfrm>
    </dsp:sp>
    <dsp:sp modelId="{4BD94FCC-32F1-F44B-938D-BF718766CFD3}">
      <dsp:nvSpPr>
        <dsp:cNvPr id="0" name=""/>
        <dsp:cNvSpPr/>
      </dsp:nvSpPr>
      <dsp:spPr>
        <a:xfrm rot="2700000">
          <a:off x="2029230" y="788662"/>
          <a:ext cx="244265" cy="31059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2039961" y="824874"/>
        <a:ext cx="170986" cy="186359"/>
      </dsp:txXfrm>
    </dsp:sp>
    <dsp:sp modelId="{D37B5B34-DFEE-2744-AAFB-C23F33C31915}">
      <dsp:nvSpPr>
        <dsp:cNvPr id="0" name=""/>
        <dsp:cNvSpPr/>
      </dsp:nvSpPr>
      <dsp:spPr>
        <a:xfrm>
          <a:off x="2184422" y="977021"/>
          <a:ext cx="920295" cy="9202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Accumulate</a:t>
          </a:r>
        </a:p>
      </dsp:txBody>
      <dsp:txXfrm>
        <a:off x="2319196" y="1111795"/>
        <a:ext cx="650747" cy="650747"/>
      </dsp:txXfrm>
    </dsp:sp>
    <dsp:sp modelId="{577E7328-CC59-3940-AE32-906EA0952199}">
      <dsp:nvSpPr>
        <dsp:cNvPr id="0" name=""/>
        <dsp:cNvSpPr/>
      </dsp:nvSpPr>
      <dsp:spPr>
        <a:xfrm rot="8100000">
          <a:off x="2039007" y="1765299"/>
          <a:ext cx="244265" cy="31059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2101555" y="1801511"/>
        <a:ext cx="170986" cy="186359"/>
      </dsp:txXfrm>
    </dsp:sp>
    <dsp:sp modelId="{1B14CD14-4225-874C-82A1-719AF5DC0F23}">
      <dsp:nvSpPr>
        <dsp:cNvPr id="0" name=""/>
        <dsp:cNvSpPr/>
      </dsp:nvSpPr>
      <dsp:spPr>
        <a:xfrm>
          <a:off x="1207785" y="1953658"/>
          <a:ext cx="920295" cy="9202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Automate</a:t>
          </a:r>
        </a:p>
      </dsp:txBody>
      <dsp:txXfrm>
        <a:off x="1342559" y="2088432"/>
        <a:ext cx="650747" cy="650747"/>
      </dsp:txXfrm>
    </dsp:sp>
    <dsp:sp modelId="{A8DFEA55-995D-8446-8B1F-EE15CCDE9966}">
      <dsp:nvSpPr>
        <dsp:cNvPr id="0" name=""/>
        <dsp:cNvSpPr/>
      </dsp:nvSpPr>
      <dsp:spPr>
        <a:xfrm rot="13500000">
          <a:off x="1062370" y="1775076"/>
          <a:ext cx="244265" cy="31059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1124918" y="1863104"/>
        <a:ext cx="170986" cy="186359"/>
      </dsp:txXfrm>
    </dsp:sp>
    <dsp:sp modelId="{DD3D9FC4-0567-A144-9E9B-A9E3A9FFA37E}">
      <dsp:nvSpPr>
        <dsp:cNvPr id="0" name=""/>
        <dsp:cNvSpPr/>
      </dsp:nvSpPr>
      <dsp:spPr>
        <a:xfrm>
          <a:off x="231149" y="977021"/>
          <a:ext cx="920295" cy="9202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Supervise</a:t>
          </a:r>
        </a:p>
      </dsp:txBody>
      <dsp:txXfrm>
        <a:off x="365923" y="1111795"/>
        <a:ext cx="650747" cy="650747"/>
      </dsp:txXfrm>
    </dsp:sp>
    <dsp:sp modelId="{62476013-F808-AA42-93B8-286D828C3727}">
      <dsp:nvSpPr>
        <dsp:cNvPr id="0" name=""/>
        <dsp:cNvSpPr/>
      </dsp:nvSpPr>
      <dsp:spPr>
        <a:xfrm rot="18900000">
          <a:off x="1052594" y="798439"/>
          <a:ext cx="244265" cy="31059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1063325" y="886467"/>
        <a:ext cx="170986" cy="1863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8606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852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kimseulki0727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894334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85800" y="2209673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agents that know your work.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85800" y="2666873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connect to your platforms. They accumulate knowledge. They work while you don't.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1909318"/>
            <a:ext cx="7200000" cy="32004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4"/>
          <p:cNvSpPr/>
          <p:nvPr/>
        </p:nvSpPr>
        <p:spPr>
          <a:xfrm>
            <a:off x="68580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(Pre) Seed Round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Kim  ·  kvkthecreator@gmail.com</a:t>
            </a:r>
            <a:endParaRPr lang="en-US" sz="1100" dirty="0"/>
          </a:p>
        </p:txBody>
      </p:sp>
      <p:pic>
        <p:nvPicPr>
          <p:cNvPr id="9" name="Picture 8" descr="A ball of yarn with a black background  AI-generated content may be incorrect.">
            <a:extLst>
              <a:ext uri="{FF2B5EF4-FFF2-40B4-BE49-F238E27FC236}">
                <a16:creationId xmlns:a16="http://schemas.microsoft.com/office/drawing/2014/main" id="{D668CF69-8FDA-44E7-4CDA-75335C983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833" y="845820"/>
            <a:ext cx="1168654" cy="11686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6897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looks like the big players will own everything.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342697"/>
            <a:ext cx="7772400" cy="897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has coding agents, desktop, cowork.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has memory, Codex, Sora.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assumes they’ll consume every layer.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651760"/>
            <a:ext cx="1371600" cy="32004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685800" y="2926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every platform cycle looks that way — until it doesn’t.</a:t>
            </a:r>
            <a:endParaRPr lang="en-US" sz="2000" b="1" dirty="0"/>
          </a:p>
        </p:txBody>
      </p:sp>
      <p:sp>
        <p:nvSpPr>
          <p:cNvPr id="6" name="Text 4"/>
          <p:cNvSpPr/>
          <p:nvPr/>
        </p:nvSpPr>
        <p:spPr>
          <a:xfrm>
            <a:off x="685800" y="3488436"/>
            <a:ext cx="7772400" cy="768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didn’t become Salesforce.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didn’t become Shopify.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didn’t become Datadog.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Bet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772400" cy="82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never repeats, but it does rhyme.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thesis is that even with the AI tech revolution, </a:t>
            </a:r>
            <a:br>
              <a:rPr lang="en-US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layer is yet to come.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90009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2008: Google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12883" y="1900098"/>
            <a:ext cx="6773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Looked like it would own everything on the web. It didn’t become Salesforce.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247570"/>
            <a:ext cx="777240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85800" y="240301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2012: Facebook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12883" y="2403018"/>
            <a:ext cx="6773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Looked like it would own all of social commerce. It didn’t become Shopify.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750490"/>
            <a:ext cx="777240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685800" y="290593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2015: AWS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12883" y="2905938"/>
            <a:ext cx="6773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Looked like it would own every cloud application. It didn’t become Datadog.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253410"/>
            <a:ext cx="777240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685800" y="340885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2026: LLMs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12883" y="3408858"/>
            <a:ext cx="6773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Look like they’ll own every layer. But code was the easy case. Work context is the hard one.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841610"/>
            <a:ext cx="7772400" cy="9265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00210" y="3938419"/>
            <a:ext cx="7315200" cy="713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The application layer of the AI platform shift is yet to come, and we’re taking the 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bold bet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 that it will be Agent-native, and the work economy will shift from human -&gt; agents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Demand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ClawdBot proved the appetite is real.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67877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17,830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2813119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stars in 24 hours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041719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single-day growth in GitHub history.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3685362"/>
            <a:ext cx="3291840" cy="100584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868680" y="373108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first time I've felt like I'm living in the future since ChatGPT launched."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437116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ClawdBot user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3453199"/>
            <a:ext cx="1371600" cy="32004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4864100" y="170417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95% of people can't use it.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64100" y="376562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 Requires VPS provisioning (only 5% can do this)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4100" y="405823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 200+ security leaks detected (GitGuardian)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4100" y="435084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 No project isolation or recurring workflows</a:t>
            </a:r>
            <a:endParaRPr lang="en-US" sz="11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7CBE82DB-4786-5937-AD3C-6F663ECFB82B}"/>
              </a:ext>
            </a:extLst>
          </p:cNvPr>
          <p:cNvSpPr/>
          <p:nvPr/>
        </p:nvSpPr>
        <p:spPr>
          <a:xfrm>
            <a:off x="4864100" y="2859597"/>
            <a:ext cx="3886200" cy="207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High technical barrier, privacy, hardware setup</a:t>
            </a:r>
            <a:endParaRPr lang="en-US" sz="1400" dirty="0"/>
          </a:p>
        </p:txBody>
      </p:sp>
      <p:pic>
        <p:nvPicPr>
          <p:cNvPr id="1026" name="Picture 2" descr="Open Claw - Replace Humans">
            <a:extLst>
              <a:ext uri="{FF2B5EF4-FFF2-40B4-BE49-F238E27FC236}">
                <a16:creationId xmlns:a16="http://schemas.microsoft.com/office/drawing/2014/main" id="{B437DECB-BC82-5CD5-0CCB-DF8E637EA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950" y="859155"/>
            <a:ext cx="47625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28493-9D32-0278-D4CF-1968D570C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106942-9DF6-9D4D-CDB3-33F9B12F2128}"/>
              </a:ext>
            </a:extLst>
          </p:cNvPr>
          <p:cNvSpPr/>
          <p:nvPr/>
        </p:nvSpPr>
        <p:spPr>
          <a:xfrm>
            <a:off x="5465576" y="1819923"/>
            <a:ext cx="3349951" cy="101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</a:p>
          <a:p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Solution / Moat</a:t>
            </a:r>
          </a:p>
        </p:txBody>
      </p:sp>
      <p:pic>
        <p:nvPicPr>
          <p:cNvPr id="4" name="Picture 3" descr="A ball of yarn with a black background  AI-generated content may be incorrect.">
            <a:extLst>
              <a:ext uri="{FF2B5EF4-FFF2-40B4-BE49-F238E27FC236}">
                <a16:creationId xmlns:a16="http://schemas.microsoft.com/office/drawing/2014/main" id="{CDBEE355-775C-B974-BD7A-CA76244C9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715" y="1819923"/>
            <a:ext cx="946261" cy="94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15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 Meet yarnnn's Orchestrator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autonomous agent network. Live at yarnnn.com.</a:t>
            </a:r>
            <a:endParaRPr lang="en-US" sz="2400" dirty="0"/>
          </a:p>
        </p:txBody>
      </p:sp>
      <p:pic>
        <p:nvPicPr>
          <p:cNvPr id="4" name="Screenshot Chat" descr="Orchestrator - Cha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91700"/>
            <a:ext cx="1920240" cy="1781810"/>
          </a:xfrm>
          <a:prstGeom prst="roundRect">
            <a:avLst>
              <a:gd name="adj" fmla="val 3000"/>
            </a:avLst>
          </a:prstGeom>
        </p:spPr>
      </p:pic>
      <p:pic>
        <p:nvPicPr>
          <p:cNvPr id="21" name="Screenshot Deliverables" descr="Agents - Headless Mo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1791700"/>
            <a:ext cx="1920240" cy="1781810"/>
          </a:xfrm>
          <a:prstGeom prst="roundRect">
            <a:avLst>
              <a:gd name="adj" fmla="val 3000"/>
            </a:avLst>
          </a:prstGeom>
        </p:spPr>
      </p:pic>
      <p:pic>
        <p:nvPicPr>
          <p:cNvPr id="22" name="Screenshot System" descr="System - 4 Integrati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791700"/>
            <a:ext cx="1920240" cy="1781810"/>
          </a:xfrm>
          <a:prstGeom prst="roundRect">
            <a:avLst>
              <a:gd name="adj" fmla="val 3000"/>
            </a:avLst>
          </a:prstGeom>
        </p:spPr>
      </p:pic>
      <p:pic>
        <p:nvPicPr>
          <p:cNvPr id="23" name="Screenshot Context" descr="Knowledge Eng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1791700"/>
            <a:ext cx="1920240" cy="1781810"/>
          </a:xfrm>
          <a:prstGeom prst="roundRect">
            <a:avLst>
              <a:gd name="adj" fmla="val 300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685800" y="3844470"/>
            <a:ext cx="1920240" cy="949472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3"/>
          <p:cNvSpPr/>
          <p:nvPr/>
        </p:nvSpPr>
        <p:spPr>
          <a:xfrm>
            <a:off x="777240" y="3903773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46354" y="3903773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" y="4234733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Slack, Gmail, Notion, Calendar. Smart defaults. No configuration required.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88920" y="3844470"/>
            <a:ext cx="1920240" cy="949472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7"/>
          <p:cNvSpPr/>
          <p:nvPr/>
        </p:nvSpPr>
        <p:spPr>
          <a:xfrm>
            <a:off x="2880360" y="3903773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49474" y="3903773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Auto-Bootstrap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880360" y="4234733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agent created automatically. First output delivered within minutes.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892040" y="3844470"/>
            <a:ext cx="1920240" cy="949472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1"/>
          <p:cNvSpPr/>
          <p:nvPr/>
        </p:nvSpPr>
        <p:spPr>
          <a:xfrm>
            <a:off x="4983480" y="3903773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152594" y="3903773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983480" y="4234733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sync deepens knowledge.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Every edit refines quality.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995160" y="3844470"/>
            <a:ext cx="1920240" cy="949472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5"/>
          <p:cNvSpPr/>
          <p:nvPr/>
        </p:nvSpPr>
        <p:spPr>
          <a:xfrm>
            <a:off x="7086600" y="3903773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255714" y="3903773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086600" y="4234733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identifies new agents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from your accumulated substrate.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</a:rPr>
              <a:t>Agent Architecture and Orchestration</a:t>
            </a:r>
          </a:p>
        </p:txBody>
      </p:sp>
      <p:sp>
        <p:nvSpPr>
          <p:cNvPr id="3" name="Text 1"/>
          <p:cNvSpPr/>
          <p:nvPr/>
        </p:nvSpPr>
        <p:spPr>
          <a:xfrm>
            <a:off x="685800" y="594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</a:rPr>
              <a:t>Built for Agent-native, autonomous workflows</a:t>
            </a:r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</a:rPr>
              <a:t>Purpose-built so knowledge accumulation — creating recursive feedback between agent output and intelligence</a:t>
            </a:r>
          </a:p>
        </p:txBody>
      </p:sp>
      <p:sp>
        <p:nvSpPr>
          <p:cNvPr id="10" name="Box1"/>
          <p:cNvSpPr/>
          <p:nvPr/>
        </p:nvSpPr>
        <p:spPr>
          <a:xfrm>
            <a:off x="643287" y="1783080"/>
            <a:ext cx="1296609" cy="731520"/>
          </a:xfrm>
          <a:prstGeom prst="roundRect">
            <a:avLst>
              <a:gd name="adj" fmla="val 8000"/>
            </a:avLst>
          </a:prstGeom>
          <a:solidFill>
            <a:srgbClr val="E8985E"/>
          </a:solidFill>
          <a:ln>
            <a:noFill/>
          </a:ln>
        </p:spPr>
        <p:txBody>
          <a:bodyPr wrap="square" lIns="54000" tIns="36000" rIns="54000" bIns="360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Perception Pipeline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</a:rPr>
              <a:t>Slack • Gmail
Notion • Calendar</a:t>
            </a:r>
          </a:p>
        </p:txBody>
      </p:sp>
      <p:sp>
        <p:nvSpPr>
          <p:cNvPr id="20" name="Arrow1"/>
          <p:cNvSpPr/>
          <p:nvPr/>
        </p:nvSpPr>
        <p:spPr>
          <a:xfrm>
            <a:off x="2043968" y="2057400"/>
            <a:ext cx="2025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</a:rPr>
              <a:t>→</a:t>
            </a:r>
          </a:p>
        </p:txBody>
      </p:sp>
      <p:sp>
        <p:nvSpPr>
          <p:cNvPr id="11" name="Box2"/>
          <p:cNvSpPr/>
          <p:nvPr/>
        </p:nvSpPr>
        <p:spPr>
          <a:xfrm>
            <a:off x="2350635" y="1783080"/>
            <a:ext cx="1296609" cy="73152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txBody>
          <a:bodyPr wrap="square" lIns="54000" tIns="36000" rIns="54000" bIns="360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Knowledge Base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</a:rPr>
              <a:t>Unified content
Retention + provenance</a:t>
            </a:r>
          </a:p>
        </p:txBody>
      </p:sp>
      <p:sp>
        <p:nvSpPr>
          <p:cNvPr id="21" name="Arrow2"/>
          <p:cNvSpPr/>
          <p:nvPr/>
        </p:nvSpPr>
        <p:spPr>
          <a:xfrm>
            <a:off x="3751316" y="2057400"/>
            <a:ext cx="2025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</a:rPr>
              <a:t>→</a:t>
            </a:r>
          </a:p>
        </p:txBody>
      </p:sp>
      <p:sp>
        <p:nvSpPr>
          <p:cNvPr id="12" name="Box3"/>
          <p:cNvSpPr/>
          <p:nvPr/>
        </p:nvSpPr>
        <p:spPr>
          <a:xfrm>
            <a:off x="4057983" y="1783080"/>
            <a:ext cx="1296609" cy="73152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txBody>
          <a:bodyPr wrap="square" lIns="54000" tIns="36000" rIns="54000" bIns="360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Memory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</a:rPr>
              <a:t>Working + user memory
Implicit extraction</a:t>
            </a:r>
          </a:p>
        </p:txBody>
      </p:sp>
      <p:sp>
        <p:nvSpPr>
          <p:cNvPr id="22" name="Arrow3"/>
          <p:cNvSpPr/>
          <p:nvPr/>
        </p:nvSpPr>
        <p:spPr>
          <a:xfrm>
            <a:off x="5458664" y="2057400"/>
            <a:ext cx="2025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</a:rPr>
              <a:t>→</a:t>
            </a:r>
          </a:p>
        </p:txBody>
      </p:sp>
      <p:sp>
        <p:nvSpPr>
          <p:cNvPr id="13" name="Box4"/>
          <p:cNvSpPr/>
          <p:nvPr/>
        </p:nvSpPr>
        <p:spPr>
          <a:xfrm>
            <a:off x="5765331" y="1783080"/>
            <a:ext cx="1296609" cy="73152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txBody>
          <a:bodyPr wrap="square" lIns="54000" tIns="36000" rIns="54000" bIns="360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Agent Engine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</a:rPr>
              <a:t>5 execution modes
Chat + headless</a:t>
            </a:r>
          </a:p>
        </p:txBody>
      </p:sp>
      <p:sp>
        <p:nvSpPr>
          <p:cNvPr id="23" name="Arrow4"/>
          <p:cNvSpPr/>
          <p:nvPr/>
        </p:nvSpPr>
        <p:spPr>
          <a:xfrm>
            <a:off x="7166012" y="2057400"/>
            <a:ext cx="2025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</a:rPr>
              <a:t>→</a:t>
            </a:r>
          </a:p>
        </p:txBody>
      </p:sp>
      <p:sp>
        <p:nvSpPr>
          <p:cNvPr id="14" name="Box5"/>
          <p:cNvSpPr/>
          <p:nvPr/>
        </p:nvSpPr>
        <p:spPr>
          <a:xfrm>
            <a:off x="7472680" y="1777153"/>
            <a:ext cx="1134533" cy="731520"/>
          </a:xfrm>
          <a:prstGeom prst="roundRect">
            <a:avLst>
              <a:gd name="adj" fmla="val 8000"/>
            </a:avLst>
          </a:prstGeom>
          <a:solidFill>
            <a:srgbClr val="E8985E"/>
          </a:solidFill>
          <a:ln>
            <a:noFill/>
          </a:ln>
        </p:spPr>
        <p:txBody>
          <a:bodyPr wrap="square" lIns="54000" tIns="36000" rIns="54000" bIns="360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Agents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</a:rPr>
              <a:t>Persistent
autonomous output</a:t>
            </a:r>
          </a:p>
        </p:txBody>
      </p:sp>
      <p:sp>
        <p:nvSpPr>
          <p:cNvPr id="30" name="ValueChain"/>
          <p:cNvSpPr/>
          <p:nvPr/>
        </p:nvSpPr>
        <p:spPr>
          <a:xfrm>
            <a:off x="685800" y="2834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985E"/>
                </a:solidFill>
                <a:latin typeface="Arial" pitchFamily="34" charset="0"/>
              </a:rPr>
              <a:t>Connect → Perceive →  First Value → Accumulate → Compose → Compound ↻</a:t>
            </a:r>
          </a:p>
        </p:txBody>
      </p:sp>
      <p:sp>
        <p:nvSpPr>
          <p:cNvPr id="15" name="Text 13"/>
          <p:cNvSpPr/>
          <p:nvPr/>
        </p:nvSpPr>
        <p:spPr>
          <a:xfrm>
            <a:off x="685800" y="35128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</a:rPr>
              <a:t>Why this can’t be bolted on: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38862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</a:rPr>
              <a:t>Big Players, LLM Providers</a:t>
            </a:r>
          </a:p>
        </p:txBody>
      </p:sp>
      <p:sp>
        <p:nvSpPr>
          <p:cNvPr id="17" name="Text 15"/>
          <p:cNvSpPr/>
          <p:nvPr/>
        </p:nvSpPr>
        <p:spPr>
          <a:xfrm>
            <a:off x="685800" y="4069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No value chain from connection to compounding.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Each session isolated. No agent-to-agent feedback loop. </a:t>
            </a:r>
          </a:p>
        </p:txBody>
      </p:sp>
      <p:sp>
        <p:nvSpPr>
          <p:cNvPr id="18" name="Text 16"/>
          <p:cNvSpPr/>
          <p:nvPr/>
        </p:nvSpPr>
        <p:spPr>
          <a:xfrm>
            <a:off x="3429000" y="38862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</a:rPr>
              <a:t>Agent Startups</a:t>
            </a:r>
          </a:p>
        </p:txBody>
      </p:sp>
      <p:sp>
        <p:nvSpPr>
          <p:cNvPr id="19" name="Text 17"/>
          <p:cNvSpPr/>
          <p:nvPr/>
        </p:nvSpPr>
        <p:spPr>
          <a:xfrm>
            <a:off x="3429000" y="4069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Can execute but can’t accumulate.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No Phases 5-7 (compounding).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Every run starts fresh.</a:t>
            </a:r>
          </a:p>
        </p:txBody>
      </p:sp>
      <p:sp>
        <p:nvSpPr>
          <p:cNvPr id="24" name="Text 18"/>
          <p:cNvSpPr/>
          <p:nvPr/>
        </p:nvSpPr>
        <p:spPr>
          <a:xfrm>
            <a:off x="6172200" y="38862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</a:rPr>
              <a:t>Workspace AI</a:t>
            </a:r>
          </a:p>
        </p:txBody>
      </p:sp>
      <p:sp>
        <p:nvSpPr>
          <p:cNvPr id="25" name="Text 19"/>
          <p:cNvSpPr/>
          <p:nvPr/>
        </p:nvSpPr>
        <p:spPr>
          <a:xfrm>
            <a:off x="6172200" y="4069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Trapped in one platform. Can’t compose cross-platform agents.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No recursive perception.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594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Your Agent Network Grows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don’t configure agents. The system grows them from your work — each layer builds on the last.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534064"/>
            <a:ext cx="2606040" cy="2834640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822960" y="16782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</a:rPr>
              <a:t>L1: PLATFORM DIGESTS</a:t>
            </a:r>
          </a:p>
        </p:txBody>
      </p:sp>
      <p:sp>
        <p:nvSpPr>
          <p:cNvPr id="7" name="Text 5"/>
          <p:cNvSpPr/>
          <p:nvPr/>
        </p:nvSpPr>
        <p:spPr>
          <a:xfrm>
            <a:off x="822960" y="2014125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</a:rPr>
              <a:t>Auto-Created on Connect</a:t>
            </a:r>
          </a:p>
        </p:txBody>
      </p:sp>
      <p:sp>
        <p:nvSpPr>
          <p:cNvPr id="8" name="Text 6"/>
          <p:cNvSpPr/>
          <p:nvPr/>
        </p:nvSpPr>
        <p:spPr>
          <a:xfrm>
            <a:off x="822960" y="2334165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</a:rPr>
              <a:t>You connected Slack. 60 seconds later, a Recap Agent ran. Gmail gets a Digest. Calendar gets a Brief. Zero configuration.</a:t>
            </a:r>
          </a:p>
        </p:txBody>
      </p:sp>
      <p:sp>
        <p:nvSpPr>
          <p:cNvPr id="40" name="Line 40"/>
          <p:cNvSpPr/>
          <p:nvPr/>
        </p:nvSpPr>
        <p:spPr>
          <a:xfrm>
            <a:off x="822960" y="2997104"/>
            <a:ext cx="2331720" cy="0"/>
          </a:xfrm>
          <a:prstGeom prst="rect">
            <a:avLst/>
          </a:prstGeom>
          <a:solidFill>
            <a:srgbClr val="D4845A"/>
          </a:solidFill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822960" y="308854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</a:rPr>
              <a:t>T+60 SECONDS:</a:t>
            </a:r>
          </a:p>
        </p:txBody>
      </p:sp>
      <p:sp>
        <p:nvSpPr>
          <p:cNvPr id="10" name="Text 8"/>
          <p:cNvSpPr/>
          <p:nvPr/>
        </p:nvSpPr>
        <p:spPr>
          <a:xfrm>
            <a:off x="885104" y="3420569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</a:rPr>
              <a:t>“Here’s everything from #engineering, your inbox, and 3 Notion updates.” Runs every morning. Improves with every correction.</a:t>
            </a:r>
          </a:p>
        </p:txBody>
      </p:sp>
      <p:sp>
        <p:nvSpPr>
          <p:cNvPr id="11" name="Shape 9"/>
          <p:cNvSpPr/>
          <p:nvPr/>
        </p:nvSpPr>
        <p:spPr>
          <a:xfrm>
            <a:off x="3520440" y="1534064"/>
            <a:ext cx="2606040" cy="2834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3657600" y="16782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</a:rPr>
              <a:t>L2: SYNTHESIS AGENTS</a:t>
            </a:r>
          </a:p>
        </p:txBody>
      </p:sp>
      <p:sp>
        <p:nvSpPr>
          <p:cNvPr id="13" name="Text 11"/>
          <p:cNvSpPr/>
          <p:nvPr/>
        </p:nvSpPr>
        <p:spPr>
          <a:xfrm>
            <a:off x="3657600" y="2014125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</a:rPr>
              <a:t>Composer-Created</a:t>
            </a:r>
          </a:p>
        </p:txBody>
      </p:sp>
      <p:sp>
        <p:nvSpPr>
          <p:cNvPr id="14" name="Text 12"/>
          <p:cNvSpPr/>
          <p:nvPr/>
        </p:nvSpPr>
        <p:spPr>
          <a:xfrm>
            <a:off x="3657600" y="2334165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The system notices your L1 digests overlap. It creates a cross-platform agent automatically — no prompt from you.</a:t>
            </a:r>
          </a:p>
        </p:txBody>
      </p:sp>
      <p:sp>
        <p:nvSpPr>
          <p:cNvPr id="41" name="Line 41"/>
          <p:cNvSpPr/>
          <p:nvPr/>
        </p:nvSpPr>
        <p:spPr>
          <a:xfrm>
            <a:off x="3657600" y="2997104"/>
            <a:ext cx="2331720" cy="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3657600" y="308854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985E"/>
                </a:solidFill>
                <a:latin typeface="Arial" pitchFamily="34" charset="0"/>
              </a:rPr>
              <a:t>WEEK 2:</a:t>
            </a:r>
          </a:p>
        </p:txBody>
      </p:sp>
      <p:sp>
        <p:nvSpPr>
          <p:cNvPr id="16" name="Text 14"/>
          <p:cNvSpPr/>
          <p:nvPr/>
        </p:nvSpPr>
        <p:spPr>
          <a:xfrm>
            <a:off x="3719744" y="3420569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Composer detects your recurring 1:1 pattern. Creates a Meeting Prep Agent that pulls attendee context from Slack + Gmail + Notion before every meeting.</a:t>
            </a:r>
          </a:p>
        </p:txBody>
      </p:sp>
      <p:sp>
        <p:nvSpPr>
          <p:cNvPr id="17" name="Shape 15"/>
          <p:cNvSpPr/>
          <p:nvPr/>
        </p:nvSpPr>
        <p:spPr>
          <a:xfrm>
            <a:off x="6355080" y="1534064"/>
            <a:ext cx="2606040" cy="2834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6492240" y="16782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</a:rPr>
              <a:t>L3: INTELLIGENCE AGENTS</a:t>
            </a:r>
          </a:p>
        </p:txBody>
      </p:sp>
      <p:sp>
        <p:nvSpPr>
          <p:cNvPr id="19" name="Text 17"/>
          <p:cNvSpPr/>
          <p:nvPr/>
        </p:nvSpPr>
        <p:spPr>
          <a:xfrm>
            <a:off x="6492240" y="2014125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</a:rPr>
              <a:t>Compound Insights</a:t>
            </a:r>
          </a:p>
        </p:txBody>
      </p:sp>
      <p:sp>
        <p:nvSpPr>
          <p:cNvPr id="20" name="Text 18"/>
          <p:cNvSpPr/>
          <p:nvPr/>
        </p:nvSpPr>
        <p:spPr>
          <a:xfrm>
            <a:off x="6492240" y="2334165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L1 and L2 agents feed a growing knowledge base. L3 agents surface insights no single platform could produce alone.</a:t>
            </a:r>
          </a:p>
        </p:txBody>
      </p:sp>
      <p:sp>
        <p:nvSpPr>
          <p:cNvPr id="42" name="Line 42"/>
          <p:cNvSpPr/>
          <p:nvPr/>
        </p:nvSpPr>
        <p:spPr>
          <a:xfrm>
            <a:off x="6492240" y="2997104"/>
            <a:ext cx="2331720" cy="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6492240" y="308854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985E"/>
                </a:solidFill>
                <a:latin typeface="Arial" pitchFamily="34" charset="0"/>
              </a:rPr>
              <a:t>MONTH 2:</a:t>
            </a:r>
          </a:p>
        </p:txBody>
      </p:sp>
      <p:sp>
        <p:nvSpPr>
          <p:cNvPr id="22" name="Text 20"/>
          <p:cNvSpPr/>
          <p:nvPr/>
        </p:nvSpPr>
        <p:spPr>
          <a:xfrm>
            <a:off x="6554384" y="3420569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“Competitor X was mentioned in 3 Slack channels, 2 client emails, and a Notion brief this week. Here’s a pattern summary.” No human asked for this.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lide 9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Section Label"/>
          <p:cNvSpPr/>
          <p:nvPr/>
        </p:nvSpPr>
        <p:spPr>
          <a:xfrm>
            <a:off x="685800" y="457200"/>
            <a:ext cx="2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</a:p>
        </p:txBody>
      </p:sp>
      <p:sp>
        <p:nvSpPr>
          <p:cNvPr id="3" name="Title"/>
          <p:cNvSpPr/>
          <p:nvPr/>
        </p:nvSpPr>
        <p:spPr>
          <a:xfrm>
            <a:off x="68580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Loop: Week 1 vs. Week 12</a:t>
            </a:r>
          </a:p>
        </p:txBody>
      </p:sp>
      <p:sp>
        <p:nvSpPr>
          <p:cNvPr id="4" name="Subtitle"/>
          <p:cNvSpPr/>
          <p:nvPr/>
        </p:nvSpPr>
        <p:spPr>
          <a:xfrm>
            <a:off x="68580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agent. Same workflow. Radically different output quality — because knowledge compounds.</a:t>
            </a:r>
          </a:p>
        </p:txBody>
      </p:sp>
      <p:sp>
        <p:nvSpPr>
          <p:cNvPr id="5" name="Card1"/>
          <p:cNvSpPr/>
          <p:nvPr/>
        </p:nvSpPr>
        <p:spPr>
          <a:xfrm>
            <a:off x="685800" y="1970842"/>
            <a:ext cx="2200000" cy="2050741"/>
          </a:xfrm>
          <a:prstGeom prst="rect">
            <a:avLst/>
          </a:prstGeom>
          <a:solidFill>
            <a:srgbClr val="F8F8F8"/>
          </a:solidFill>
          <a:ln>
            <a:solidFill>
              <a:srgbClr val="DEDEDE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</a:p>
          <a:p>
            <a:pPr marL="0" indent="0">
              <a:buNone/>
            </a:pPr>
            <a:endParaRPr lang="en-US" sz="900" dirty="0">
              <a:solidFill>
                <a:srgbClr val="66666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digest. All channels weighted equally. Standard formatting. You correct tone and trim noise.</a:t>
            </a:r>
          </a:p>
          <a:p>
            <a:pPr marL="0" indent="0">
              <a:buNone/>
            </a:pPr>
            <a:endParaRPr lang="en-US" sz="900" b="1" dirty="0">
              <a:solidFill>
                <a:srgbClr val="E8985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900" b="1" dirty="0">
              <a:solidFill>
                <a:srgbClr val="E8985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agent knows:</a:t>
            </a:r>
          </a:p>
          <a:p>
            <a:pPr marL="0" indent="0">
              <a:buNone/>
            </a:pPr>
            <a:endParaRPr lang="en-US" sz="900" dirty="0">
              <a:solidFill>
                <a:srgbClr val="66666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structure. Channel names. Message content. Nothing about you.</a:t>
            </a:r>
          </a:p>
        </p:txBody>
      </p:sp>
      <p:sp>
        <p:nvSpPr>
          <p:cNvPr id="6" name="Arrow1"/>
          <p:cNvSpPr/>
          <p:nvPr/>
        </p:nvSpPr>
        <p:spPr>
          <a:xfrm>
            <a:off x="2985800" y="2337043"/>
            <a:ext cx="350000" cy="200000"/>
          </a:xfrm>
          <a:prstGeom prst="rightArrow">
            <a:avLst/>
          </a:prstGeom>
          <a:solidFill>
            <a:srgbClr val="E89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7" name="Card2"/>
          <p:cNvSpPr/>
          <p:nvPr/>
        </p:nvSpPr>
        <p:spPr>
          <a:xfrm>
            <a:off x="3435800" y="1970842"/>
            <a:ext cx="2200000" cy="2050741"/>
          </a:xfrm>
          <a:prstGeom prst="rect">
            <a:avLst/>
          </a:prstGeom>
          <a:solidFill>
            <a:srgbClr val="E8985E"/>
          </a:solidFill>
          <a:ln>
            <a:solidFill>
              <a:srgbClr val="E8985E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</a:p>
          <a:p>
            <a:pPr marL="0" indent="0">
              <a:buNone/>
            </a:pPr>
            <a:endParaRPr lang="en-US" sz="9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which channels matter to you. Learned your preferred format from edits. Skips noise. Rare corrections.</a:t>
            </a:r>
          </a:p>
          <a:p>
            <a:pPr marL="0" indent="0">
              <a:buNone/>
            </a:pPr>
            <a:endParaRPr lang="en-US" sz="90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90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agent knows:</a:t>
            </a:r>
          </a:p>
          <a:p>
            <a:pPr marL="0" indent="0">
              <a:buNone/>
            </a:pPr>
            <a:endParaRPr lang="en-US" sz="9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priorities. Your edit patterns. Which sources you act on vs. ignore.</a:t>
            </a:r>
          </a:p>
        </p:txBody>
      </p:sp>
      <p:sp>
        <p:nvSpPr>
          <p:cNvPr id="8" name="Arrow2"/>
          <p:cNvSpPr/>
          <p:nvPr/>
        </p:nvSpPr>
        <p:spPr>
          <a:xfrm>
            <a:off x="5735800" y="2337043"/>
            <a:ext cx="350000" cy="200000"/>
          </a:xfrm>
          <a:prstGeom prst="rightArrow">
            <a:avLst/>
          </a:prstGeom>
          <a:solidFill>
            <a:srgbClr val="E89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9" name="Card3"/>
          <p:cNvSpPr/>
          <p:nvPr/>
        </p:nvSpPr>
        <p:spPr>
          <a:xfrm>
            <a:off x="6185800" y="1970842"/>
            <a:ext cx="2200000" cy="2050741"/>
          </a:xfrm>
          <a:prstGeom prst="rect">
            <a:avLst/>
          </a:prstGeom>
          <a:solidFill>
            <a:srgbClr val="F8F8F8"/>
          </a:solidFill>
          <a:ln>
            <a:solidFill>
              <a:srgbClr val="DEDEDE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</a:t>
            </a:r>
          </a:p>
          <a:p>
            <a:pPr marL="0" indent="0">
              <a:buNone/>
            </a:pPr>
            <a:endParaRPr lang="en-US" sz="900" dirty="0">
              <a:solidFill>
                <a:srgbClr val="66666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corrections needed. Anticipates your priorities before you state them. Cross-references patterns across platforms.</a:t>
            </a:r>
          </a:p>
          <a:p>
            <a:pPr marL="0" indent="0">
              <a:buNone/>
            </a:pPr>
            <a:endParaRPr lang="en-US" sz="900" b="1" dirty="0">
              <a:solidFill>
                <a:srgbClr val="E8985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agent knows:</a:t>
            </a:r>
          </a:p>
          <a:p>
            <a:pPr marL="0" indent="0">
              <a:buNone/>
            </a:pPr>
            <a:endParaRPr lang="en-US" sz="900" dirty="0">
              <a:solidFill>
                <a:srgbClr val="66666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work graph. Cross-platform relationships. Historical patterns. What matters and why.</a:t>
            </a:r>
          </a:p>
        </p:txBody>
      </p:sp>
      <p:sp>
        <p:nvSpPr>
          <p:cNvPr id="10" name="Bottom Insight"/>
          <p:cNvSpPr/>
          <p:nvPr/>
        </p:nvSpPr>
        <p:spPr>
          <a:xfrm>
            <a:off x="685800" y="4346505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gap a competitor can’t close. Starting over means starting from Week 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92779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Compounds. Switching Costs Follow.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5486" y="2041671"/>
            <a:ext cx="29629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agent run makes the next one better.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iteration deepens the knowledge base.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5486" y="162416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moat mechanics: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01041" y="2533925"/>
            <a:ext cx="274320" cy="274320"/>
          </a:xfrm>
          <a:prstGeom prst="lin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 sz="2800"/>
          </a:p>
        </p:txBody>
      </p:sp>
      <p:sp>
        <p:nvSpPr>
          <p:cNvPr id="7" name="Text 5"/>
          <p:cNvSpPr/>
          <p:nvPr/>
        </p:nvSpPr>
        <p:spPr>
          <a:xfrm>
            <a:off x="701041" y="25339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706" y="2569162"/>
            <a:ext cx="36575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Accumulation: Every sync cycle deepens cross-platform understanding. Agents don’t start from zero.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198344"/>
            <a:ext cx="274320" cy="274320"/>
          </a:xfrm>
          <a:prstGeom prst="lin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 sz="2800"/>
          </a:p>
        </p:txBody>
      </p:sp>
      <p:sp>
        <p:nvSpPr>
          <p:cNvPr id="10" name="Text 8"/>
          <p:cNvSpPr/>
          <p:nvPr/>
        </p:nvSpPr>
        <p:spPr>
          <a:xfrm>
            <a:off x="685800" y="31095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6464" y="3133123"/>
            <a:ext cx="36575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Recursion: Your edits and feedback train agent output quality. The 5th run needs fewer corrections than the 1st.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655544"/>
            <a:ext cx="274320" cy="274320"/>
          </a:xfrm>
          <a:prstGeom prst="lin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 sz="2800"/>
          </a:p>
        </p:txBody>
      </p:sp>
      <p:sp>
        <p:nvSpPr>
          <p:cNvPr id="13" name="Text 11"/>
          <p:cNvSpPr/>
          <p:nvPr/>
        </p:nvSpPr>
        <p:spPr>
          <a:xfrm>
            <a:off x="685800" y="3655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36464" y="3693853"/>
            <a:ext cx="36575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Irreversibility: 90 days of accumulated knowledge can’t be exported or replicated. Switching means starting over.</a:t>
            </a:r>
            <a:endParaRPr lang="en-US" sz="1100" dirty="0"/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530B4471-34F8-4AE3-F56B-475499026E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7328479"/>
              </p:ext>
            </p:extLst>
          </p:nvPr>
        </p:nvGraphicFramePr>
        <p:xfrm>
          <a:off x="5122333" y="1668301"/>
          <a:ext cx="3335867" cy="2874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3A49476E-BA7E-947C-60B1-703E3E17B1C4}"/>
              </a:ext>
            </a:extLst>
          </p:cNvPr>
          <p:cNvSpPr txBox="1"/>
          <p:nvPr/>
        </p:nvSpPr>
        <p:spPr>
          <a:xfrm>
            <a:off x="6163732" y="1365604"/>
            <a:ext cx="12530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Platforms </a:t>
            </a:r>
            <a:b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(Slack, Gmail, Notion, Cal)</a:t>
            </a:r>
            <a:endParaRPr lang="en-KR" sz="7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6D8979-6EC7-A296-826A-9A13A3EB6725}"/>
              </a:ext>
            </a:extLst>
          </p:cNvPr>
          <p:cNvSpPr txBox="1"/>
          <p:nvPr/>
        </p:nvSpPr>
        <p:spPr>
          <a:xfrm>
            <a:off x="7149872" y="3630958"/>
            <a:ext cx="125306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Knowledge syncs</a:t>
            </a:r>
            <a:endParaRPr lang="en-KR" sz="7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F8AC5E-5362-7328-8B07-40B210AA05E2}"/>
              </a:ext>
            </a:extLst>
          </p:cNvPr>
          <p:cNvSpPr txBox="1"/>
          <p:nvPr/>
        </p:nvSpPr>
        <p:spPr>
          <a:xfrm>
            <a:off x="6163734" y="4557132"/>
            <a:ext cx="12530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Autonomous Agent System</a:t>
            </a:r>
            <a:endParaRPr lang="en-KR" sz="7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BB84FC-E222-0486-5108-8F424A7118C6}"/>
              </a:ext>
            </a:extLst>
          </p:cNvPr>
          <p:cNvSpPr txBox="1"/>
          <p:nvPr/>
        </p:nvSpPr>
        <p:spPr>
          <a:xfrm>
            <a:off x="5177594" y="3603761"/>
            <a:ext cx="12530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Edits, refine</a:t>
            </a:r>
          </a:p>
          <a:p>
            <a:pPr algn="ctr"/>
            <a:r>
              <a:rPr lang="en-US" sz="700" dirty="0">
                <a:latin typeface="Arial" pitchFamily="34" charset="0"/>
                <a:cs typeface="Arial" pitchFamily="34" charset="-120"/>
              </a:rPr>
              <a:t>memory</a:t>
            </a:r>
            <a:endParaRPr lang="en-KR" sz="7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9C8529C-CC3D-BF48-AB6E-02843CEF6C41}"/>
              </a:ext>
            </a:extLst>
          </p:cNvPr>
          <p:cNvGrpSpPr/>
          <p:nvPr/>
        </p:nvGrpSpPr>
        <p:grpSpPr>
          <a:xfrm>
            <a:off x="6382777" y="2685078"/>
            <a:ext cx="814980" cy="814980"/>
            <a:chOff x="1120971" y="469"/>
            <a:chExt cx="814980" cy="81498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B7ED3F3-071A-45DE-7498-2A52A806024C}"/>
                </a:ext>
              </a:extLst>
            </p:cNvPr>
            <p:cNvSpPr/>
            <p:nvPr/>
          </p:nvSpPr>
          <p:spPr>
            <a:xfrm>
              <a:off x="1120971" y="469"/>
              <a:ext cx="814980" cy="81498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KR" dirty="0"/>
            </a:p>
          </p:txBody>
        </p:sp>
        <p:sp>
          <p:nvSpPr>
            <p:cNvPr id="33" name="Oval 4">
              <a:extLst>
                <a:ext uri="{FF2B5EF4-FFF2-40B4-BE49-F238E27FC236}">
                  <a16:creationId xmlns:a16="http://schemas.microsoft.com/office/drawing/2014/main" id="{93AC93BF-A6E1-0D26-1EE3-32BA4DDF36D3}"/>
                </a:ext>
              </a:extLst>
            </p:cNvPr>
            <p:cNvSpPr txBox="1"/>
            <p:nvPr/>
          </p:nvSpPr>
          <p:spPr>
            <a:xfrm>
              <a:off x="1240322" y="119820"/>
              <a:ext cx="576278" cy="5762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430" tIns="11430" rIns="11430" bIns="1143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700" b="1" dirty="0"/>
                <a:t>Compounding Work Intelligence</a:t>
              </a:r>
              <a:endParaRPr lang="en-US" sz="700" b="1" kern="12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42019" y="2012108"/>
            <a:ext cx="3349951" cy="85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 •  Market  •  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 descr="A ball of yarn with a black background  AI-generated content may be incorrect.">
            <a:extLst>
              <a:ext uri="{FF2B5EF4-FFF2-40B4-BE49-F238E27FC236}">
                <a16:creationId xmlns:a16="http://schemas.microsoft.com/office/drawing/2014/main" id="{0A14B4E1-B777-7DE3-2FEF-04E834026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024" y="1968617"/>
            <a:ext cx="946261" cy="9462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another chatbot. Not another agent framework.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910097" y="2261088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Big-Players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ChatGPT/Claude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99837" y="2261088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Startups</a:t>
            </a:r>
          </a:p>
          <a:p>
            <a:pPr marL="0" indent="0" algn="ctr">
              <a:buNone/>
            </a:pPr>
            <a:r>
              <a:rPr lang="en-US" sz="800" dirty="0" err="1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Mem.ai</a:t>
            </a:r>
            <a:r>
              <a:rPr lang="en-US" sz="8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en-US" sz="800" dirty="0" err="1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Genspark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883905" y="2261088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Workspaces</a:t>
            </a:r>
            <a:br>
              <a:rPr lang="en-US" sz="800" b="1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8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Notion, Slack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920357" y="2261088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</a:t>
            </a:r>
            <a:b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2626848"/>
            <a:ext cx="5098105" cy="3657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685800" y="26268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</a:t>
            </a:r>
            <a:b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accumulation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10097" y="2626848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99837" y="2626848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83905" y="2626848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20357" y="2626848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Evolving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301089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sync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10097" y="3010896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99837" y="3010896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83905" y="3010896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20357" y="3010896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3394944"/>
            <a:ext cx="5098105" cy="3657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685800" y="339494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output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10097" y="3394944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99837" y="3394944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83905" y="3394944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20357" y="3394944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Scheduled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" y="37789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with tenure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10097" y="3778992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99837" y="3778992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83905" y="3778992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0357" y="3778992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Accumulation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" y="4163040"/>
            <a:ext cx="5098105" cy="3657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685800" y="4163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agent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910097" y="4163040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99837" y="4163040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83905" y="4163040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0357" y="4163040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8340" y="135914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platform where persistent agents accumulate cross-platform work knowledge for autonomous output.</a:t>
            </a:r>
            <a:endParaRPr lang="en-US" sz="1200" dirty="0"/>
          </a:p>
        </p:txBody>
      </p:sp>
      <p:sp>
        <p:nvSpPr>
          <p:cNvPr id="39" name="HorizontalLine">
            <a:extLst>
              <a:ext uri="{FF2B5EF4-FFF2-40B4-BE49-F238E27FC236}">
                <a16:creationId xmlns:a16="http://schemas.microsoft.com/office/drawing/2014/main" id="{A271FBA9-E73F-8CD9-C415-67FB3E6B450A}"/>
              </a:ext>
            </a:extLst>
          </p:cNvPr>
          <p:cNvSpPr/>
          <p:nvPr/>
        </p:nvSpPr>
        <p:spPr>
          <a:xfrm>
            <a:off x="5875380" y="3446029"/>
            <a:ext cx="2880000" cy="18288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VerticalLine">
            <a:extLst>
              <a:ext uri="{FF2B5EF4-FFF2-40B4-BE49-F238E27FC236}">
                <a16:creationId xmlns:a16="http://schemas.microsoft.com/office/drawing/2014/main" id="{52252A54-07B6-41CB-B33E-A1C0AD811902}"/>
              </a:ext>
            </a:extLst>
          </p:cNvPr>
          <p:cNvSpPr/>
          <p:nvPr/>
        </p:nvSpPr>
        <p:spPr>
          <a:xfrm>
            <a:off x="7315380" y="2366029"/>
            <a:ext cx="18288" cy="216000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EC86E775-99A8-206B-B11B-B8FCCA5CDA6A}"/>
              </a:ext>
            </a:extLst>
          </p:cNvPr>
          <p:cNvSpPr/>
          <p:nvPr/>
        </p:nvSpPr>
        <p:spPr>
          <a:xfrm>
            <a:off x="6865380" y="2094529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Autonomy</a:t>
            </a:r>
            <a:endParaRPr lang="en-US" sz="700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C328876B-6841-0363-9A2C-57D5ECDE6E3E}"/>
              </a:ext>
            </a:extLst>
          </p:cNvPr>
          <p:cNvSpPr/>
          <p:nvPr/>
        </p:nvSpPr>
        <p:spPr>
          <a:xfrm>
            <a:off x="8195969" y="3137050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Knowledge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Accumulation</a:t>
            </a:r>
            <a:endParaRPr lang="en-US" sz="700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587CD1FD-FDF6-646A-64E4-AD89980FBA48}"/>
              </a:ext>
            </a:extLst>
          </p:cNvPr>
          <p:cNvSpPr/>
          <p:nvPr/>
        </p:nvSpPr>
        <p:spPr>
          <a:xfrm>
            <a:off x="7674423" y="2650902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</a:t>
            </a:r>
            <a:endParaRPr lang="en-US" sz="9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75243D36-7BCB-3F7B-EE2A-F26AE69055D3}"/>
              </a:ext>
            </a:extLst>
          </p:cNvPr>
          <p:cNvSpPr/>
          <p:nvPr/>
        </p:nvSpPr>
        <p:spPr>
          <a:xfrm>
            <a:off x="6189758" y="3801852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Workspaces</a:t>
            </a:r>
          </a:p>
        </p:txBody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DAE3A223-D7B0-20C8-622C-8DAFEB2E4AA1}"/>
              </a:ext>
            </a:extLst>
          </p:cNvPr>
          <p:cNvSpPr/>
          <p:nvPr/>
        </p:nvSpPr>
        <p:spPr>
          <a:xfrm>
            <a:off x="6189758" y="2672568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2DE62553-BC71-0307-9618-C17B0188E95E}"/>
              </a:ext>
            </a:extLst>
          </p:cNvPr>
          <p:cNvSpPr/>
          <p:nvPr/>
        </p:nvSpPr>
        <p:spPr>
          <a:xfrm>
            <a:off x="7674423" y="3801852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Agent-based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Startups</a:t>
            </a:r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001C20BF-D215-A109-365D-B6F6DB9853A0}"/>
              </a:ext>
            </a:extLst>
          </p:cNvPr>
          <p:cNvSpPr/>
          <p:nvPr/>
        </p:nvSpPr>
        <p:spPr>
          <a:xfrm>
            <a:off x="7674423" y="2888445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r>
              <a:rPr lang="ko-KR" alt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8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</a:t>
            </a: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8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Genspark</a:t>
            </a:r>
            <a:endParaRPr lang="en-US" sz="800" b="1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with solo consultants. Expanding from there.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wedge: Solo consultants with recurring client obligations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2606040" cy="91440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$4.35B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productivity tools market (31% CAGR)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20440" y="1828800"/>
            <a:ext cx="2606040" cy="91440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3657600" y="18745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$1.14B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0" y="23957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~5M solo consultants globally × $228/yr (Pro annual)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55080" y="1828800"/>
            <a:ext cx="2606040" cy="914400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6492240" y="18745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SOM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$4.6M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92240" y="23957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20K consultants in first 3 years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2971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path: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2918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3291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consultants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32918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reports, clear pain, willing to pay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8680" y="3566160"/>
            <a:ext cx="758952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868680" y="3639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00200" y="3639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&amp; executives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363931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updates, board prep, strategic briefs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68680" y="3913632"/>
            <a:ext cx="758952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868680" y="39867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00200" y="39867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&amp; ops leads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0" y="398678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Standups, project reports, cross-team synthesis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8680" y="4261104"/>
            <a:ext cx="758952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868680" y="43342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00200" y="43342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knowledge workers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0" y="433425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professional with recurring work obligations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tiers. Knowledge depth is the lever.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2606040" cy="237744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868680" y="1645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38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304288"/>
            <a:ext cx="219456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868680" y="23957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 platforms connected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6700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5 sources per platform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9443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Sync 2x/day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32186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50 orchestrator messages/mo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34930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 active agents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20440" y="1554480"/>
            <a:ext cx="2606040" cy="237744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3703320" y="1645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0332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34840" y="1938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03320" y="2304288"/>
            <a:ext cx="219456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3703320" y="23957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4 platforms connected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03320" y="26700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Unlimited sources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03320" y="29443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Hourly sync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03320" y="32186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Unlimited orchestrator messages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03320" y="34930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Unlimited agents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55080" y="1554480"/>
            <a:ext cx="2606040" cy="2377440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6537960" y="1645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269480" y="1938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37960" y="2304288"/>
            <a:ext cx="2194560" cy="45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6537960" y="23957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Everything in Pro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37960" y="26700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Team workspaces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37960" y="29443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Priority support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37960" y="32186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Custom integrations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37960" y="34930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Agent-to-agent protocol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" y="41605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economics: Target 70%+ gross margin at scale. Batched sync and cached knowledge reduce per-user API cost as context accumulates.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5800" y="43891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plan: 2 months free (17% off). Pro $190/yr.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ent Arrow 19">
            <a:extLst>
              <a:ext uri="{FF2B5EF4-FFF2-40B4-BE49-F238E27FC236}">
                <a16:creationId xmlns:a16="http://schemas.microsoft.com/office/drawing/2014/main" id="{13998D2B-1942-D5BA-B755-5156EE05315E}"/>
              </a:ext>
            </a:extLst>
          </p:cNvPr>
          <p:cNvSpPr/>
          <p:nvPr/>
        </p:nvSpPr>
        <p:spPr>
          <a:xfrm>
            <a:off x="0" y="1936000"/>
            <a:ext cx="9144000" cy="3207500"/>
          </a:xfrm>
          <a:prstGeom prst="bentArrow">
            <a:avLst>
              <a:gd name="adj1" fmla="val 21314"/>
              <a:gd name="adj2" fmla="val 16348"/>
              <a:gd name="adj3" fmla="val 18407"/>
              <a:gd name="adj4" fmla="val 1747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tx1"/>
              </a:solidFill>
            </a:endParaRPr>
          </a:p>
        </p:txBody>
      </p:sp>
      <p:sp>
        <p:nvSpPr>
          <p:cNvPr id="2" name="SectionLabel"/>
          <p:cNvSpPr/>
          <p:nvPr/>
        </p:nvSpPr>
        <p:spPr>
          <a:xfrm>
            <a:off x="685800" y="457200"/>
            <a:ext cx="2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</a:p>
        </p:txBody>
      </p:sp>
      <p:sp>
        <p:nvSpPr>
          <p:cNvPr id="3" name="Title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 Network (shipped) → Cross-Platform Intelligence → Agent Protocol</a:t>
            </a:r>
          </a:p>
        </p:txBody>
      </p:sp>
      <p:sp>
        <p:nvSpPr>
          <p:cNvPr id="4" name="Subtitle"/>
          <p:cNvSpPr/>
          <p:nvPr/>
        </p:nvSpPr>
        <p:spPr>
          <a:xfrm>
            <a:off x="685800" y="1463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deepens the value chain. Shipped work compounds into the next layer of capability.</a:t>
            </a:r>
          </a:p>
        </p:txBody>
      </p:sp>
      <p:sp>
        <p:nvSpPr>
          <p:cNvPr id="5" name="DividerLine"/>
          <p:cNvSpPr/>
          <p:nvPr/>
        </p:nvSpPr>
        <p:spPr>
          <a:xfrm>
            <a:off x="685800" y="1900000"/>
            <a:ext cx="1371600" cy="18000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Phase1Label"/>
          <p:cNvSpPr/>
          <p:nvPr/>
        </p:nvSpPr>
        <p:spPr>
          <a:xfrm>
            <a:off x="868680" y="2150000"/>
            <a:ext cx="20342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ysClr val="windowText" lastClr="000000"/>
                </a:solidFill>
                <a:latin typeface="Arial" pitchFamily="34" charset="0"/>
              </a:rPr>
              <a:t>SHIPPED ✓</a:t>
            </a:r>
          </a:p>
        </p:txBody>
      </p:sp>
      <p:sp>
        <p:nvSpPr>
          <p:cNvPr id="8" name="Phase1Heading"/>
          <p:cNvSpPr/>
          <p:nvPr/>
        </p:nvSpPr>
        <p:spPr>
          <a:xfrm>
            <a:off x="868680" y="2350000"/>
            <a:ext cx="20342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</a:rPr>
              <a:t>Autonomous Agent Network</a:t>
            </a:r>
          </a:p>
        </p:txBody>
      </p:sp>
      <p:sp>
        <p:nvSpPr>
          <p:cNvPr id="9" name="Phase1Content"/>
          <p:cNvSpPr/>
          <p:nvPr/>
        </p:nvSpPr>
        <p:spPr>
          <a:xfrm>
            <a:off x="868680" y="2900000"/>
            <a:ext cx="203424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Auto-bootstrap agents on platform connection. No config required.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Composer creates cross-platform agents automatically.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5 agent types live. 4 platform integrations. Smart source selection.</a:t>
            </a:r>
          </a:p>
        </p:txBody>
      </p:sp>
      <p:sp>
        <p:nvSpPr>
          <p:cNvPr id="10" name="Arrow1"/>
          <p:cNvSpPr/>
          <p:nvPr/>
        </p:nvSpPr>
        <p:spPr>
          <a:xfrm>
            <a:off x="3200000" y="2348661"/>
            <a:ext cx="200000" cy="200000"/>
          </a:xfrm>
          <a:prstGeom prst="rightArrow">
            <a:avLst/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12" name="Phase2Label"/>
          <p:cNvSpPr/>
          <p:nvPr/>
        </p:nvSpPr>
        <p:spPr>
          <a:xfrm>
            <a:off x="3682880" y="2150000"/>
            <a:ext cx="20342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ysClr val="windowText" lastClr="000000"/>
                </a:solidFill>
                <a:latin typeface="Arial" pitchFamily="34" charset="0"/>
              </a:rPr>
              <a:t>NEXT 6-12mo.</a:t>
            </a:r>
          </a:p>
        </p:txBody>
      </p:sp>
      <p:sp>
        <p:nvSpPr>
          <p:cNvPr id="13" name="Phase2Heading"/>
          <p:cNvSpPr/>
          <p:nvPr/>
        </p:nvSpPr>
        <p:spPr>
          <a:xfrm>
            <a:off x="3682880" y="2350000"/>
            <a:ext cx="20342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</a:rPr>
              <a:t>Cross-Platform Intelligence</a:t>
            </a:r>
          </a:p>
        </p:txBody>
      </p:sp>
      <p:sp>
        <p:nvSpPr>
          <p:cNvPr id="14" name="Phase2Content"/>
          <p:cNvSpPr/>
          <p:nvPr/>
        </p:nvSpPr>
        <p:spPr>
          <a:xfrm>
            <a:off x="3682880" y="2900000"/>
            <a:ext cx="203424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Deeper platform coverage: 365, Google Drive, Social.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Agent-to-agent referencing. Workspace filesystem.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Second-order agents build on first-order outputs.</a:t>
            </a:r>
          </a:p>
        </p:txBody>
      </p:sp>
      <p:sp>
        <p:nvSpPr>
          <p:cNvPr id="15" name="Arrow2"/>
          <p:cNvSpPr/>
          <p:nvPr/>
        </p:nvSpPr>
        <p:spPr>
          <a:xfrm>
            <a:off x="6014000" y="2348661"/>
            <a:ext cx="200000" cy="200000"/>
          </a:xfrm>
          <a:prstGeom prst="rightArrow">
            <a:avLst/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17" name="Phase3Label"/>
          <p:cNvSpPr/>
          <p:nvPr/>
        </p:nvSpPr>
        <p:spPr>
          <a:xfrm>
            <a:off x="6497080" y="2150000"/>
            <a:ext cx="20342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ysClr val="windowText" lastClr="000000"/>
                </a:solidFill>
                <a:latin typeface="Arial" pitchFamily="34" charset="0"/>
              </a:rPr>
              <a:t>VISION +12mo.</a:t>
            </a:r>
          </a:p>
        </p:txBody>
      </p:sp>
      <p:sp>
        <p:nvSpPr>
          <p:cNvPr id="18" name="Phase3Heading"/>
          <p:cNvSpPr/>
          <p:nvPr/>
        </p:nvSpPr>
        <p:spPr>
          <a:xfrm>
            <a:off x="6497080" y="2350000"/>
            <a:ext cx="20342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</a:rPr>
              <a:t>Agent-to-Agent Protocol</a:t>
            </a:r>
          </a:p>
        </p:txBody>
      </p:sp>
      <p:sp>
        <p:nvSpPr>
          <p:cNvPr id="19" name="Phase3Content"/>
          <p:cNvSpPr/>
          <p:nvPr/>
        </p:nvSpPr>
        <p:spPr>
          <a:xfrm>
            <a:off x="6497080" y="2900000"/>
            <a:ext cx="203424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MCP protocol interop. External agents consume YARNNN context.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Agent-to-agent coordination across systems.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Platform play: own the work context graph.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(Pre) Seed - The Ask</a:t>
            </a:r>
            <a:endParaRPr lang="en-US" sz="1100" dirty="0"/>
          </a:p>
        </p:txBody>
      </p:sp>
      <p:sp>
        <p:nvSpPr>
          <p:cNvPr id="3" name="Title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 at $5M post-money valuation.</a:t>
            </a:r>
            <a:endParaRPr lang="en-US" sz="2600" dirty="0"/>
          </a:p>
        </p:txBody>
      </p:sp>
      <p:sp>
        <p:nvSpPr>
          <p:cNvPr id="4" name="Column 1 Heading"/>
          <p:cNvSpPr/>
          <p:nvPr/>
        </p:nvSpPr>
        <p:spPr>
          <a:xfrm>
            <a:off x="685800" y="1842559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funds:</a:t>
            </a:r>
            <a:endParaRPr lang="en-US" sz="1200" dirty="0"/>
          </a:p>
        </p:txBody>
      </p:sp>
      <p:sp>
        <p:nvSpPr>
          <p:cNvPr id="5" name="Col1 Bullet 1"/>
          <p:cNvSpPr/>
          <p:nvPr/>
        </p:nvSpPr>
        <p:spPr>
          <a:xfrm>
            <a:off x="685800" y="211687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Tech Lead (memory/ML)</a:t>
            </a:r>
            <a:endParaRPr lang="en-US" sz="1000" dirty="0"/>
          </a:p>
        </p:txBody>
      </p:sp>
      <p:sp>
        <p:nvSpPr>
          <p:cNvPr id="6" name="Col1 Bullet 2"/>
          <p:cNvSpPr/>
          <p:nvPr/>
        </p:nvSpPr>
        <p:spPr>
          <a:xfrm>
            <a:off x="685800" y="234547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GTM Lead (creator community)</a:t>
            </a:r>
            <a:endParaRPr lang="en-US" sz="1000" dirty="0"/>
          </a:p>
        </p:txBody>
      </p:sp>
      <p:sp>
        <p:nvSpPr>
          <p:cNvPr id="7" name="Col1 Bullet 3"/>
          <p:cNvSpPr/>
          <p:nvPr/>
        </p:nvSpPr>
        <p:spPr>
          <a:xfrm>
            <a:off x="685800" y="257407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12 months runway</a:t>
            </a:r>
            <a:endParaRPr lang="en-US" sz="1000" dirty="0"/>
          </a:p>
        </p:txBody>
      </p:sp>
      <p:sp>
        <p:nvSpPr>
          <p:cNvPr id="8" name="Column 2 Heading"/>
          <p:cNvSpPr/>
          <p:nvPr/>
        </p:nvSpPr>
        <p:spPr>
          <a:xfrm>
            <a:off x="685800" y="3486705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0: Team-Building</a:t>
            </a:r>
            <a:endParaRPr lang="en-US" sz="1200" dirty="0"/>
          </a:p>
        </p:txBody>
      </p:sp>
      <p:sp>
        <p:nvSpPr>
          <p:cNvPr id="9" name="Col2 Bullet 1"/>
          <p:cNvSpPr/>
          <p:nvPr/>
        </p:nvSpPr>
        <p:spPr>
          <a:xfrm>
            <a:off x="685800" y="376102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ML engineer for memory extraction</a:t>
            </a:r>
            <a:endParaRPr lang="en-US" sz="1000" dirty="0"/>
          </a:p>
        </p:txBody>
      </p:sp>
      <p:sp>
        <p:nvSpPr>
          <p:cNvPr id="10" name="Col2 Bullet 2"/>
          <p:cNvSpPr/>
          <p:nvPr/>
        </p:nvSpPr>
        <p:spPr>
          <a:xfrm>
            <a:off x="685800" y="398962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Community builder for creator GTM</a:t>
            </a:r>
            <a:endParaRPr lang="en-US" sz="1000" dirty="0"/>
          </a:p>
        </p:txBody>
      </p:sp>
      <p:sp>
        <p:nvSpPr>
          <p:cNvPr id="11" name="Col2 Bullet 3"/>
          <p:cNvSpPr/>
          <p:nvPr/>
        </p:nvSpPr>
        <p:spPr>
          <a:xfrm>
            <a:off x="685800" y="421822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Seed funds → team of 3</a:t>
            </a:r>
            <a:endParaRPr lang="en-US" sz="1000" dirty="0"/>
          </a:p>
        </p:txBody>
      </p:sp>
      <p:sp>
        <p:nvSpPr>
          <p:cNvPr id="12" name="Column 3 Heading"/>
          <p:cNvSpPr/>
          <p:nvPr/>
        </p:nvSpPr>
        <p:spPr>
          <a:xfrm>
            <a:off x="3318911" y="1842559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</a:t>
            </a:r>
            <a:endParaRPr lang="en-US" sz="1200" dirty="0"/>
          </a:p>
        </p:txBody>
      </p:sp>
      <p:sp>
        <p:nvSpPr>
          <p:cNvPr id="13" name="Col3 Bullet 1"/>
          <p:cNvSpPr/>
          <p:nvPr/>
        </p:nvSpPr>
        <p:spPr>
          <a:xfrm>
            <a:off x="3318911" y="211687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ClawdBot: 17,830 stars / 24hrs</a:t>
            </a:r>
            <a:endParaRPr lang="en-US" sz="1000" dirty="0"/>
          </a:p>
        </p:txBody>
      </p:sp>
      <p:sp>
        <p:nvSpPr>
          <p:cNvPr id="14" name="Col3 Bullet 2"/>
          <p:cNvSpPr/>
          <p:nvPr/>
        </p:nvSpPr>
        <p:spPr>
          <a:xfrm>
            <a:off x="3318911" y="234547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No one owns the context layer</a:t>
            </a:r>
            <a:endParaRPr lang="en-US" sz="1000" dirty="0"/>
          </a:p>
        </p:txBody>
      </p:sp>
      <p:sp>
        <p:nvSpPr>
          <p:cNvPr id="15" name="Col3 Bullet 3"/>
          <p:cNvSpPr/>
          <p:nvPr/>
        </p:nvSpPr>
        <p:spPr>
          <a:xfrm>
            <a:off x="3318911" y="257407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Architecture built, need team</a:t>
            </a:r>
            <a:endParaRPr lang="en-US" sz="1000" dirty="0"/>
          </a:p>
        </p:txBody>
      </p:sp>
      <p:sp>
        <p:nvSpPr>
          <p:cNvPr id="16" name="Divider Line"/>
          <p:cNvSpPr/>
          <p:nvPr/>
        </p:nvSpPr>
        <p:spPr>
          <a:xfrm>
            <a:off x="685800" y="1463040"/>
            <a:ext cx="1371600" cy="32004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Column 3 Heading">
            <a:extLst>
              <a:ext uri="{FF2B5EF4-FFF2-40B4-BE49-F238E27FC236}">
                <a16:creationId xmlns:a16="http://schemas.microsoft.com/office/drawing/2014/main" id="{44479857-56B0-10D6-65A7-227DCF3397A4}"/>
              </a:ext>
            </a:extLst>
          </p:cNvPr>
          <p:cNvSpPr/>
          <p:nvPr/>
        </p:nvSpPr>
        <p:spPr>
          <a:xfrm>
            <a:off x="3318911" y="3486705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Betting on an agent-first future:</a:t>
            </a:r>
            <a:endParaRPr lang="en-US" sz="1200" dirty="0"/>
          </a:p>
        </p:txBody>
      </p:sp>
      <p:sp>
        <p:nvSpPr>
          <p:cNvPr id="18" name="Col3 Bullet 1">
            <a:extLst>
              <a:ext uri="{FF2B5EF4-FFF2-40B4-BE49-F238E27FC236}">
                <a16:creationId xmlns:a16="http://schemas.microsoft.com/office/drawing/2014/main" id="{95DFF53C-D704-7D38-3F2B-BDC1756CC42E}"/>
              </a:ext>
            </a:extLst>
          </p:cNvPr>
          <p:cNvSpPr/>
          <p:nvPr/>
        </p:nvSpPr>
        <p:spPr>
          <a:xfrm>
            <a:off x="3318911" y="376102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LLM readiness moving towards Agents</a:t>
            </a:r>
            <a:endParaRPr lang="en-US" sz="1000" dirty="0"/>
          </a:p>
        </p:txBody>
      </p:sp>
      <p:sp>
        <p:nvSpPr>
          <p:cNvPr id="22" name="Col3 Bullet 2">
            <a:extLst>
              <a:ext uri="{FF2B5EF4-FFF2-40B4-BE49-F238E27FC236}">
                <a16:creationId xmlns:a16="http://schemas.microsoft.com/office/drawing/2014/main" id="{1A2F697E-B701-20E4-109E-6B005E96A48A}"/>
              </a:ext>
            </a:extLst>
          </p:cNvPr>
          <p:cNvSpPr/>
          <p:nvPr/>
        </p:nvSpPr>
        <p:spPr>
          <a:xfrm>
            <a:off x="3318911" y="398962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Thesis is the work economy will shift</a:t>
            </a:r>
            <a:endParaRPr lang="en-US" sz="1000" dirty="0"/>
          </a:p>
        </p:txBody>
      </p:sp>
      <p:sp>
        <p:nvSpPr>
          <p:cNvPr id="24" name="Column 3 Heading">
            <a:extLst>
              <a:ext uri="{FF2B5EF4-FFF2-40B4-BE49-F238E27FC236}">
                <a16:creationId xmlns:a16="http://schemas.microsoft.com/office/drawing/2014/main" id="{DC311793-3676-54EE-23C1-C4CACBF0ADAE}"/>
              </a:ext>
            </a:extLst>
          </p:cNvPr>
          <p:cNvSpPr/>
          <p:nvPr/>
        </p:nvSpPr>
        <p:spPr>
          <a:xfrm>
            <a:off x="6355080" y="1831129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Positioning:</a:t>
            </a:r>
            <a:endParaRPr lang="en-US" sz="1200" dirty="0"/>
          </a:p>
        </p:txBody>
      </p:sp>
      <p:sp>
        <p:nvSpPr>
          <p:cNvPr id="25" name="Col3 Bullet 1">
            <a:extLst>
              <a:ext uri="{FF2B5EF4-FFF2-40B4-BE49-F238E27FC236}">
                <a16:creationId xmlns:a16="http://schemas.microsoft.com/office/drawing/2014/main" id="{3B264F69-2732-0C6D-00B3-D2EEF6FB6B1A}"/>
              </a:ext>
            </a:extLst>
          </p:cNvPr>
          <p:cNvSpPr/>
          <p:nvPr/>
        </p:nvSpPr>
        <p:spPr>
          <a:xfrm>
            <a:off x="6355080" y="210544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Application layer sill pre-mature</a:t>
            </a:r>
            <a:endParaRPr lang="en-US" sz="1000" dirty="0"/>
          </a:p>
        </p:txBody>
      </p:sp>
      <p:sp>
        <p:nvSpPr>
          <p:cNvPr id="26" name="Col3 Bullet 2">
            <a:extLst>
              <a:ext uri="{FF2B5EF4-FFF2-40B4-BE49-F238E27FC236}">
                <a16:creationId xmlns:a16="http://schemas.microsoft.com/office/drawing/2014/main" id="{20C51AB1-3282-0099-46F4-1A028834CC6B}"/>
              </a:ext>
            </a:extLst>
          </p:cNvPr>
          <p:cNvSpPr/>
          <p:nvPr/>
        </p:nvSpPr>
        <p:spPr>
          <a:xfrm>
            <a:off x="6355080" y="233404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True Agent-native architecture</a:t>
            </a:r>
            <a:endParaRPr lang="en-US" sz="1000" dirty="0"/>
          </a:p>
        </p:txBody>
      </p:sp>
      <p:sp>
        <p:nvSpPr>
          <p:cNvPr id="28" name="Column 3 Heading">
            <a:extLst>
              <a:ext uri="{FF2B5EF4-FFF2-40B4-BE49-F238E27FC236}">
                <a16:creationId xmlns:a16="http://schemas.microsoft.com/office/drawing/2014/main" id="{B85AE604-FD8F-4CC2-5349-DC6CE8F15261}"/>
              </a:ext>
            </a:extLst>
          </p:cNvPr>
          <p:cNvSpPr/>
          <p:nvPr/>
        </p:nvSpPr>
        <p:spPr>
          <a:xfrm>
            <a:off x="6355080" y="3475275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Differentiation:</a:t>
            </a:r>
            <a:endParaRPr lang="en-US" sz="1200" dirty="0"/>
          </a:p>
        </p:txBody>
      </p:sp>
      <p:sp>
        <p:nvSpPr>
          <p:cNvPr id="29" name="Col3 Bullet 1">
            <a:extLst>
              <a:ext uri="{FF2B5EF4-FFF2-40B4-BE49-F238E27FC236}">
                <a16:creationId xmlns:a16="http://schemas.microsoft.com/office/drawing/2014/main" id="{2B14803B-EC1A-B045-314A-7AE2A5F2C587}"/>
              </a:ext>
            </a:extLst>
          </p:cNvPr>
          <p:cNvSpPr/>
          <p:nvPr/>
        </p:nvSpPr>
        <p:spPr>
          <a:xfrm>
            <a:off x="6355080" y="374959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Cross-platform, LLM agnostic</a:t>
            </a:r>
            <a:endParaRPr lang="en-US" sz="1000" dirty="0"/>
          </a:p>
        </p:txBody>
      </p:sp>
      <p:sp>
        <p:nvSpPr>
          <p:cNvPr id="30" name="Col3 Bullet 2">
            <a:extLst>
              <a:ext uri="{FF2B5EF4-FFF2-40B4-BE49-F238E27FC236}">
                <a16:creationId xmlns:a16="http://schemas.microsoft.com/office/drawing/2014/main" id="{309504BE-F172-A791-5031-DDC5627C1CF8}"/>
              </a:ext>
            </a:extLst>
          </p:cNvPr>
          <p:cNvSpPr/>
          <p:nvPr/>
        </p:nvSpPr>
        <p:spPr>
          <a:xfrm>
            <a:off x="6355080" y="403534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Big players can’t do cross data accumulations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D3972-D4E8-3BBD-CBCA-53AC7B28F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all of yarn with a black background  AI-generated content may be incorrect.">
            <a:extLst>
              <a:ext uri="{FF2B5EF4-FFF2-40B4-BE49-F238E27FC236}">
                <a16:creationId xmlns:a16="http://schemas.microsoft.com/office/drawing/2014/main" id="{5D71C99A-C2FE-84DF-3BDB-16D910F8C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527" y="1961967"/>
            <a:ext cx="674702" cy="674702"/>
          </a:xfrm>
          <a:prstGeom prst="rect">
            <a:avLst/>
          </a:prstGeom>
        </p:spPr>
      </p:pic>
      <p:sp>
        <p:nvSpPr>
          <p:cNvPr id="6" name="Contact Line">
            <a:extLst>
              <a:ext uri="{FF2B5EF4-FFF2-40B4-BE49-F238E27FC236}">
                <a16:creationId xmlns:a16="http://schemas.microsoft.com/office/drawing/2014/main" id="{6C989BC5-3F86-0324-C1B5-B82645D8852E}"/>
              </a:ext>
            </a:extLst>
          </p:cNvPr>
          <p:cNvSpPr/>
          <p:nvPr/>
        </p:nvSpPr>
        <p:spPr>
          <a:xfrm>
            <a:off x="685800" y="46863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Kevin Kim  ·  kvkthecreator@gmail.com</a:t>
            </a:r>
            <a:endParaRPr lang="en-US" sz="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BF47C0-24C1-1792-59B8-99C400CF9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200" y="2552147"/>
            <a:ext cx="11176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532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/>
          <p:nvPr/>
        </p:nvSpPr>
        <p:spPr>
          <a:xfrm>
            <a:off x="685800" y="457200"/>
            <a:ext cx="2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</a:p>
        </p:txBody>
      </p:sp>
      <p:sp>
        <p:nvSpPr>
          <p:cNvPr id="3" name="FounderName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Kim</a:t>
            </a:r>
          </a:p>
        </p:txBody>
      </p:sp>
      <p:sp>
        <p:nvSpPr>
          <p:cNvPr id="4" name="FounderTitle"/>
          <p:cNvSpPr/>
          <p:nvPr/>
        </p:nvSpPr>
        <p:spPr>
          <a:xfrm>
            <a:off x="68580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CEO, KVK Labs (yarnnn)</a:t>
            </a:r>
          </a:p>
        </p:txBody>
      </p:sp>
      <p:sp>
        <p:nvSpPr>
          <p:cNvPr id="5" name="DividerLine"/>
          <p:cNvSpPr/>
          <p:nvPr/>
        </p:nvSpPr>
        <p:spPr>
          <a:xfrm>
            <a:off x="685800" y="2148397"/>
            <a:ext cx="1371600" cy="18000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BioBlock"/>
          <p:cNvSpPr/>
          <p:nvPr/>
        </p:nvSpPr>
        <p:spPr>
          <a:xfrm>
            <a:off x="685799" y="2369597"/>
            <a:ext cx="7312981" cy="1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B.S. Industrial and Systems Engineering, Virginia Tech</a:t>
            </a:r>
          </a:p>
          <a:p>
            <a:pPr marL="0" indent="0">
              <a:buNone/>
            </a:pPr>
            <a:endParaRPr lang="en-US" sz="1100" dirty="0">
              <a:solidFill>
                <a:srgbClr val="444444"/>
              </a:solidFill>
              <a:latin typeface="Arial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+10 years designing CRM and GTM systems in FMCG. </a:t>
            </a:r>
          </a:p>
          <a:p>
            <a:pPr marL="0" indent="0">
              <a:buNone/>
            </a:pPr>
            <a:br>
              <a:rPr lang="en-US" sz="1100" dirty="0">
                <a:solidFill>
                  <a:srgbClr val="444444"/>
                </a:solidFill>
                <a:latin typeface="Arial" pitchFamily="34" charset="0"/>
              </a:rPr>
            </a:b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CMO, CPO positions in Korea based startups, Ran e-commerce fashion brand for 5 years, </a:t>
            </a:r>
          </a:p>
          <a:p>
            <a:pPr marL="0" indent="0">
              <a:buNone/>
            </a:pPr>
            <a:br>
              <a:rPr lang="en-US" sz="1100" dirty="0">
                <a:solidFill>
                  <a:srgbClr val="444444"/>
                </a:solidFill>
                <a:latin typeface="Arial" pitchFamily="34" charset="0"/>
              </a:rPr>
            </a:b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Full-stack application for yarnnn, (</a:t>
            </a:r>
            <a:r>
              <a:rPr lang="en-US" sz="1100" dirty="0" err="1">
                <a:solidFill>
                  <a:srgbClr val="444444"/>
                </a:solidFill>
                <a:latin typeface="Arial" pitchFamily="34" charset="0"/>
              </a:rPr>
              <a:t>Next.js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 + </a:t>
            </a:r>
            <a:r>
              <a:rPr lang="en-US" sz="1100" dirty="0" err="1">
                <a:solidFill>
                  <a:srgbClr val="444444"/>
                </a:solidFill>
                <a:latin typeface="Arial" pitchFamily="34" charset="0"/>
              </a:rPr>
              <a:t>FastAPI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 + </a:t>
            </a:r>
            <a:r>
              <a:rPr lang="en-US" sz="1100" dirty="0" err="1">
                <a:solidFill>
                  <a:srgbClr val="444444"/>
                </a:solidFill>
                <a:latin typeface="Arial" pitchFamily="34" charset="0"/>
              </a:rPr>
              <a:t>Supabase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), four platform integrations, unified agent architecture documented across 115+ Architecture Decision Records.</a:t>
            </a:r>
          </a:p>
          <a:p>
            <a:pPr marL="0" indent="0">
              <a:buNone/>
            </a:pPr>
            <a:endParaRPr lang="en-US" sz="1100" dirty="0">
              <a:solidFill>
                <a:srgbClr val="444444"/>
              </a:solidFill>
              <a:latin typeface="Arial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Targeting US market; execute GTM and team-building as priority next step.</a:t>
            </a:r>
          </a:p>
        </p:txBody>
      </p:sp>
      <p:sp>
        <p:nvSpPr>
          <p:cNvPr id="7" name="LinkedInLabel"/>
          <p:cNvSpPr/>
          <p:nvPr/>
        </p:nvSpPr>
        <p:spPr>
          <a:xfrm>
            <a:off x="685799" y="1691640"/>
            <a:ext cx="54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>
              <a:buNone/>
            </a:pPr>
            <a:r>
              <a:rPr lang="en-US" sz="1000" dirty="0">
                <a:effectLst/>
                <a:latin typeface="Calibri" panose="020F0502020204030204" pitchFamily="34" charset="0"/>
                <a:hlinkClick r:id="rId3"/>
              </a:rPr>
              <a:t>https://www.linkedin.com/in/kimseulki0727/</a:t>
            </a:r>
            <a:endParaRPr lang="en-US" sz="1000" dirty="0">
              <a:effectLst/>
              <a:latin typeface="Calibri" panose="020F0502020204030204" pitchFamily="34" charset="0"/>
            </a:endParaRPr>
          </a:p>
        </p:txBody>
      </p:sp>
      <p:sp>
        <p:nvSpPr>
          <p:cNvPr id="8" name="ContactLine"/>
          <p:cNvSpPr/>
          <p:nvPr/>
        </p:nvSpPr>
        <p:spPr>
          <a:xfrm>
            <a:off x="685800" y="4400000"/>
            <a:ext cx="54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</a:rPr>
              <a:t>kvkthecreator@gmail.com  ·  yarnnn.com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</a:rPr>
              <a:t>Appendix: Value Realization Chain</a:t>
            </a:r>
          </a:p>
        </p:txBody>
      </p:sp>
      <p:sp>
        <p:nvSpPr>
          <p:cNvPr id="3" name="Title"/>
          <p:cNvSpPr/>
          <p:nvPr/>
        </p:nvSpPr>
        <p:spPr>
          <a:xfrm>
            <a:off x="68580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</a:rPr>
              <a:t>What the User Experiences: Connect to Compound</a:t>
            </a:r>
          </a:p>
        </p:txBody>
      </p:sp>
      <p:sp>
        <p:nvSpPr>
          <p:cNvPr id="10" name="HeaderRow"/>
          <p:cNvSpPr/>
          <p:nvPr/>
        </p:nvSpPr>
        <p:spPr>
          <a:xfrm>
            <a:off x="685800" y="1539387"/>
            <a:ext cx="7772400" cy="27432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lIns="91440" tIns="0" rIns="0" bIns="0" rtlCol="0" anchor="ctr"/>
          <a:lstStyle/>
          <a:p>
            <a:pPr marL="0" indent="0">
              <a:buNone/>
              <a:tabLst>
                <a:tab pos="1828800" algn="l"/>
                <a:tab pos="4572000" algn="l"/>
              </a:tabLst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</a:rPr>
              <a:t>Time	What happens	What the user sees</a:t>
            </a:r>
          </a:p>
        </p:txBody>
      </p:sp>
      <p:sp>
        <p:nvSpPr>
          <p:cNvPr id="11" name="Row1"/>
          <p:cNvSpPr/>
          <p:nvPr/>
        </p:nvSpPr>
        <p:spPr>
          <a:xfrm>
            <a:off x="685800" y="1813707"/>
            <a:ext cx="7772400" cy="36576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91440" tIns="0" rIns="0" bIns="0" rtlCol="0" anchor="ctr"/>
          <a:lstStyle/>
          <a:p>
            <a:pPr marL="0" indent="0">
              <a:buNone/>
              <a:tabLst>
                <a:tab pos="1828800" algn="l"/>
                <a:tab pos="4572000" algn="l"/>
              </a:tabLst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</a:rPr>
              <a:t>T+0s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	OAuth completes, sources auto-selected	Dashboard: “Slack connected”</a:t>
            </a:r>
          </a:p>
        </p:txBody>
      </p:sp>
      <p:sp>
        <p:nvSpPr>
          <p:cNvPr id="12" name="Row2"/>
          <p:cNvSpPr/>
          <p:nvPr/>
        </p:nvSpPr>
        <p:spPr>
          <a:xfrm>
            <a:off x="685800" y="2179467"/>
            <a:ext cx="7772400" cy="36576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  <a:tabLst>
                <a:tab pos="1828800" algn="l"/>
                <a:tab pos="4572000" algn="l"/>
              </a:tabLst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</a:rPr>
              <a:t>T+60s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	Bootstrap creates agent, first run executes	First agent appears, first output delivered</a:t>
            </a:r>
          </a:p>
        </p:txBody>
      </p:sp>
      <p:sp>
        <p:nvSpPr>
          <p:cNvPr id="13" name="Row3"/>
          <p:cNvSpPr/>
          <p:nvPr/>
        </p:nvSpPr>
        <p:spPr>
          <a:xfrm>
            <a:off x="685800" y="2545227"/>
            <a:ext cx="7772400" cy="36576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91440" tIns="0" rIns="0" bIns="0" rtlCol="0" anchor="ctr"/>
          <a:lstStyle/>
          <a:p>
            <a:pPr marL="0" indent="0">
              <a:buNone/>
              <a:tabLst>
                <a:tab pos="1828800" algn="l"/>
                <a:tab pos="4572000" algn="l"/>
              </a:tabLst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</a:rPr>
              <a:t>Day 2-7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	Daily syncs accumulate, digest agent runs daily	Digests arrive on schedule, improving each run</a:t>
            </a:r>
          </a:p>
        </p:txBody>
      </p:sp>
      <p:sp>
        <p:nvSpPr>
          <p:cNvPr id="14" name="Row4"/>
          <p:cNvSpPr/>
          <p:nvPr/>
        </p:nvSpPr>
        <p:spPr>
          <a:xfrm>
            <a:off x="685800" y="2910987"/>
            <a:ext cx="7772400" cy="36576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  <a:tabLst>
                <a:tab pos="1828800" algn="l"/>
                <a:tab pos="4572000" algn="l"/>
              </a:tabLst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</a:rPr>
              <a:t>Week 2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	Composer heartbeat assesses substrate	Composer suggests or auto-creates cross-platform agent</a:t>
            </a:r>
          </a:p>
        </p:txBody>
      </p:sp>
      <p:sp>
        <p:nvSpPr>
          <p:cNvPr id="15" name="Row5"/>
          <p:cNvSpPr/>
          <p:nvPr/>
        </p:nvSpPr>
        <p:spPr>
          <a:xfrm>
            <a:off x="685800" y="3276747"/>
            <a:ext cx="7772400" cy="36576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91440" tIns="0" rIns="0" bIns="0" rtlCol="0" anchor="ctr"/>
          <a:lstStyle/>
          <a:p>
            <a:pPr marL="0" indent="0">
              <a:buNone/>
              <a:tabLst>
                <a:tab pos="1828800" algn="l"/>
                <a:tab pos="4572000" algn="l"/>
              </a:tabLst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</a:rPr>
              <a:t>Month 1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	Multiple agents running, user has given feedback	Agents noticeably tailored to preferences</a:t>
            </a:r>
          </a:p>
        </p:txBody>
      </p:sp>
      <p:sp>
        <p:nvSpPr>
          <p:cNvPr id="16" name="Row6"/>
          <p:cNvSpPr/>
          <p:nvPr/>
        </p:nvSpPr>
        <p:spPr>
          <a:xfrm>
            <a:off x="685800" y="3642507"/>
            <a:ext cx="7772400" cy="36576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  <a:tabLst>
                <a:tab pos="1828800" algn="l"/>
                <a:tab pos="4572000" algn="l"/>
              </a:tabLst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</a:rPr>
              <a:t>Month 3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	L2-L3 agents producing insights from digests	System understands work at a level no fresh start replicates</a:t>
            </a:r>
          </a:p>
        </p:txBody>
      </p:sp>
      <p:sp>
        <p:nvSpPr>
          <p:cNvPr id="20" name="Footer"/>
          <p:cNvSpPr/>
          <p:nvPr/>
        </p:nvSpPr>
        <p:spPr>
          <a:xfrm>
            <a:off x="685800" y="4191147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</a:rPr>
              <a:t>Each phase’s output is the next phase’s input. A competitor starting from zero cannot replicate a tenured YARNNN instance.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1906</Words>
  <Application>Microsoft Macintosh PowerPoint</Application>
  <PresentationFormat>On-screen Show (16:9)</PresentationFormat>
  <Paragraphs>329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yarnnn - IR Deck v13</dc:title>
  <dc:subject>PptxGenJS Presentation</dc:subject>
  <dc:creator>Kevin Kim</dc:creator>
  <cp:lastModifiedBy>SEULKI KIM</cp:lastModifiedBy>
  <cp:revision>19</cp:revision>
  <dcterms:created xsi:type="dcterms:W3CDTF">2026-02-24T04:44:42Z</dcterms:created>
  <dcterms:modified xsi:type="dcterms:W3CDTF">2026-03-17T01:25:36Z</dcterms:modified>
</cp:coreProperties>
</file>