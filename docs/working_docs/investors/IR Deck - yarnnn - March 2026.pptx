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59" r:id="rId5"/>
    <p:sldId id="276" r:id="rId6"/>
    <p:sldId id="268" r:id="rId7"/>
    <p:sldId id="263" r:id="rId8"/>
    <p:sldId id="260" r:id="rId9"/>
    <p:sldId id="262" r:id="rId10"/>
    <p:sldId id="273" r:id="rId11"/>
    <p:sldId id="277" r:id="rId12"/>
    <p:sldId id="266" r:id="rId13"/>
    <p:sldId id="269" r:id="rId14"/>
    <p:sldId id="270" r:id="rId15"/>
    <p:sldId id="272" r:id="rId16"/>
    <p:sldId id="278" r:id="rId17"/>
    <p:sldId id="279" r:id="rId18"/>
    <p:sldId id="26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23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75EFB5-6545-5444-B3CA-6FCE5209FEC5}" type="doc">
      <dgm:prSet loTypeId="urn:microsoft.com/office/officeart/2005/8/layout/cycle2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4D0CE6A-B567-424E-ADD1-914866CB5499}">
      <dgm:prSet phldrT="[Text]"/>
      <dgm:spPr/>
      <dgm:t>
        <a:bodyPr/>
        <a:lstStyle/>
        <a:p>
          <a:r>
            <a:rPr lang="en-US" dirty="0"/>
            <a:t>Connect</a:t>
          </a:r>
        </a:p>
      </dgm:t>
    </dgm:pt>
    <dgm:pt modelId="{13793F0F-94FA-F443-BA21-6B58B9BFA631}" type="parTrans" cxnId="{9B9FED14-CA6A-3C4B-9E35-B5C478BC5B5A}">
      <dgm:prSet/>
      <dgm:spPr/>
      <dgm:t>
        <a:bodyPr/>
        <a:lstStyle/>
        <a:p>
          <a:endParaRPr lang="en-US"/>
        </a:p>
      </dgm:t>
    </dgm:pt>
    <dgm:pt modelId="{D76EC4C4-D4DC-EB44-B0A9-DBDBC65462FC}" type="sibTrans" cxnId="{9B9FED14-CA6A-3C4B-9E35-B5C478BC5B5A}">
      <dgm:prSet/>
      <dgm:spPr/>
      <dgm:t>
        <a:bodyPr/>
        <a:lstStyle/>
        <a:p>
          <a:endParaRPr lang="en-US"/>
        </a:p>
      </dgm:t>
    </dgm:pt>
    <dgm:pt modelId="{96B892F0-DB33-A241-AE5E-C18BC679580A}">
      <dgm:prSet phldrT="[Text]"/>
      <dgm:spPr/>
      <dgm:t>
        <a:bodyPr/>
        <a:lstStyle/>
        <a:p>
          <a:r>
            <a:rPr lang="en-US" dirty="0"/>
            <a:t>Accumulate</a:t>
          </a:r>
        </a:p>
      </dgm:t>
    </dgm:pt>
    <dgm:pt modelId="{069FFB75-0FE1-7143-A922-FE565E1EC6EB}" type="parTrans" cxnId="{23C26AD3-2DED-1544-9BE0-EF11D0437E70}">
      <dgm:prSet/>
      <dgm:spPr/>
      <dgm:t>
        <a:bodyPr/>
        <a:lstStyle/>
        <a:p>
          <a:endParaRPr lang="en-US"/>
        </a:p>
      </dgm:t>
    </dgm:pt>
    <dgm:pt modelId="{8D10FAA7-DADF-ED42-927B-A8C34D42C0E9}" type="sibTrans" cxnId="{23C26AD3-2DED-1544-9BE0-EF11D0437E70}">
      <dgm:prSet/>
      <dgm:spPr/>
      <dgm:t>
        <a:bodyPr/>
        <a:lstStyle/>
        <a:p>
          <a:endParaRPr lang="en-US"/>
        </a:p>
      </dgm:t>
    </dgm:pt>
    <dgm:pt modelId="{A7B3F113-682D-7E46-BBD5-013F0B177322}">
      <dgm:prSet phldrT="[Text]"/>
      <dgm:spPr/>
      <dgm:t>
        <a:bodyPr/>
        <a:lstStyle/>
        <a:p>
          <a:r>
            <a:rPr lang="en-US" dirty="0"/>
            <a:t>Automate</a:t>
          </a:r>
        </a:p>
      </dgm:t>
    </dgm:pt>
    <dgm:pt modelId="{A7AF438A-2AF8-8D43-A712-F82685C02488}" type="parTrans" cxnId="{FA1E47CF-8216-FC4D-B89C-A47D10451EF0}">
      <dgm:prSet/>
      <dgm:spPr/>
      <dgm:t>
        <a:bodyPr/>
        <a:lstStyle/>
        <a:p>
          <a:endParaRPr lang="en-US"/>
        </a:p>
      </dgm:t>
    </dgm:pt>
    <dgm:pt modelId="{A1B0231E-AAB7-2948-A805-41F69AA79600}" type="sibTrans" cxnId="{FA1E47CF-8216-FC4D-B89C-A47D10451EF0}">
      <dgm:prSet/>
      <dgm:spPr/>
      <dgm:t>
        <a:bodyPr/>
        <a:lstStyle/>
        <a:p>
          <a:endParaRPr lang="en-US"/>
        </a:p>
      </dgm:t>
    </dgm:pt>
    <dgm:pt modelId="{005126F7-5330-5C43-AD97-2D8EC3A3A550}">
      <dgm:prSet phldrT="[Text]"/>
      <dgm:spPr/>
      <dgm:t>
        <a:bodyPr/>
        <a:lstStyle/>
        <a:p>
          <a:r>
            <a:rPr lang="en-US" dirty="0"/>
            <a:t>Supervise</a:t>
          </a:r>
        </a:p>
      </dgm:t>
    </dgm:pt>
    <dgm:pt modelId="{0D8280E4-C59B-F241-AC3E-904DA2B48F33}" type="parTrans" cxnId="{9281CDA1-274A-384A-A131-1F091B50BAF6}">
      <dgm:prSet/>
      <dgm:spPr/>
      <dgm:t>
        <a:bodyPr/>
        <a:lstStyle/>
        <a:p>
          <a:endParaRPr lang="en-US"/>
        </a:p>
      </dgm:t>
    </dgm:pt>
    <dgm:pt modelId="{83AFFC27-0BB1-A047-BC04-733FBB9A13BA}" type="sibTrans" cxnId="{9281CDA1-274A-384A-A131-1F091B50BAF6}">
      <dgm:prSet/>
      <dgm:spPr/>
      <dgm:t>
        <a:bodyPr/>
        <a:lstStyle/>
        <a:p>
          <a:endParaRPr lang="en-US"/>
        </a:p>
      </dgm:t>
    </dgm:pt>
    <dgm:pt modelId="{5FB57BF2-12D3-D340-87C3-4164EE02C508}" type="pres">
      <dgm:prSet presAssocID="{3475EFB5-6545-5444-B3CA-6FCE5209FEC5}" presName="cycle" presStyleCnt="0">
        <dgm:presLayoutVars>
          <dgm:dir/>
          <dgm:resizeHandles val="exact"/>
        </dgm:presLayoutVars>
      </dgm:prSet>
      <dgm:spPr/>
    </dgm:pt>
    <dgm:pt modelId="{E989D1E9-A113-1E49-805B-2AE9B86A3086}" type="pres">
      <dgm:prSet presAssocID="{94D0CE6A-B567-424E-ADD1-914866CB5499}" presName="node" presStyleLbl="node1" presStyleIdx="0" presStyleCnt="4">
        <dgm:presLayoutVars>
          <dgm:bulletEnabled val="1"/>
        </dgm:presLayoutVars>
      </dgm:prSet>
      <dgm:spPr/>
    </dgm:pt>
    <dgm:pt modelId="{4BD94FCC-32F1-F44B-938D-BF718766CFD3}" type="pres">
      <dgm:prSet presAssocID="{D76EC4C4-D4DC-EB44-B0A9-DBDBC65462FC}" presName="sibTrans" presStyleLbl="sibTrans2D1" presStyleIdx="0" presStyleCnt="4"/>
      <dgm:spPr/>
    </dgm:pt>
    <dgm:pt modelId="{8D29A70D-5763-2C4B-BF55-91335155A6D1}" type="pres">
      <dgm:prSet presAssocID="{D76EC4C4-D4DC-EB44-B0A9-DBDBC65462FC}" presName="connectorText" presStyleLbl="sibTrans2D1" presStyleIdx="0" presStyleCnt="4"/>
      <dgm:spPr/>
    </dgm:pt>
    <dgm:pt modelId="{D37B5B34-DFEE-2744-AAFB-C23F33C31915}" type="pres">
      <dgm:prSet presAssocID="{96B892F0-DB33-A241-AE5E-C18BC679580A}" presName="node" presStyleLbl="node1" presStyleIdx="1" presStyleCnt="4">
        <dgm:presLayoutVars>
          <dgm:bulletEnabled val="1"/>
        </dgm:presLayoutVars>
      </dgm:prSet>
      <dgm:spPr/>
    </dgm:pt>
    <dgm:pt modelId="{577E7328-CC59-3940-AE32-906EA0952199}" type="pres">
      <dgm:prSet presAssocID="{8D10FAA7-DADF-ED42-927B-A8C34D42C0E9}" presName="sibTrans" presStyleLbl="sibTrans2D1" presStyleIdx="1" presStyleCnt="4"/>
      <dgm:spPr/>
    </dgm:pt>
    <dgm:pt modelId="{E311AC36-C552-A541-9A52-F5F9625DF5F5}" type="pres">
      <dgm:prSet presAssocID="{8D10FAA7-DADF-ED42-927B-A8C34D42C0E9}" presName="connectorText" presStyleLbl="sibTrans2D1" presStyleIdx="1" presStyleCnt="4"/>
      <dgm:spPr/>
    </dgm:pt>
    <dgm:pt modelId="{1B14CD14-4225-874C-82A1-719AF5DC0F23}" type="pres">
      <dgm:prSet presAssocID="{A7B3F113-682D-7E46-BBD5-013F0B177322}" presName="node" presStyleLbl="node1" presStyleIdx="2" presStyleCnt="4">
        <dgm:presLayoutVars>
          <dgm:bulletEnabled val="1"/>
        </dgm:presLayoutVars>
      </dgm:prSet>
      <dgm:spPr/>
    </dgm:pt>
    <dgm:pt modelId="{A8DFEA55-995D-8446-8B1F-EE15CCDE9966}" type="pres">
      <dgm:prSet presAssocID="{A1B0231E-AAB7-2948-A805-41F69AA79600}" presName="sibTrans" presStyleLbl="sibTrans2D1" presStyleIdx="2" presStyleCnt="4"/>
      <dgm:spPr/>
    </dgm:pt>
    <dgm:pt modelId="{0CDEEAAD-0552-BF43-9384-7B5B7930ED2A}" type="pres">
      <dgm:prSet presAssocID="{A1B0231E-AAB7-2948-A805-41F69AA79600}" presName="connectorText" presStyleLbl="sibTrans2D1" presStyleIdx="2" presStyleCnt="4"/>
      <dgm:spPr/>
    </dgm:pt>
    <dgm:pt modelId="{DD3D9FC4-0567-A144-9E9B-A9E3A9FFA37E}" type="pres">
      <dgm:prSet presAssocID="{005126F7-5330-5C43-AD97-2D8EC3A3A550}" presName="node" presStyleLbl="node1" presStyleIdx="3" presStyleCnt="4">
        <dgm:presLayoutVars>
          <dgm:bulletEnabled val="1"/>
        </dgm:presLayoutVars>
      </dgm:prSet>
      <dgm:spPr/>
    </dgm:pt>
    <dgm:pt modelId="{62476013-F808-AA42-93B8-286D828C3727}" type="pres">
      <dgm:prSet presAssocID="{83AFFC27-0BB1-A047-BC04-733FBB9A13BA}" presName="sibTrans" presStyleLbl="sibTrans2D1" presStyleIdx="3" presStyleCnt="4"/>
      <dgm:spPr/>
    </dgm:pt>
    <dgm:pt modelId="{929B6584-4511-1743-A2EE-20975798DB64}" type="pres">
      <dgm:prSet presAssocID="{83AFFC27-0BB1-A047-BC04-733FBB9A13BA}" presName="connectorText" presStyleLbl="sibTrans2D1" presStyleIdx="3" presStyleCnt="4"/>
      <dgm:spPr/>
    </dgm:pt>
  </dgm:ptLst>
  <dgm:cxnLst>
    <dgm:cxn modelId="{07EBFB13-0D7C-A249-A07C-BEF3836959C8}" type="presOf" srcId="{96B892F0-DB33-A241-AE5E-C18BC679580A}" destId="{D37B5B34-DFEE-2744-AAFB-C23F33C31915}" srcOrd="0" destOrd="0" presId="urn:microsoft.com/office/officeart/2005/8/layout/cycle2"/>
    <dgm:cxn modelId="{9B9FED14-CA6A-3C4B-9E35-B5C478BC5B5A}" srcId="{3475EFB5-6545-5444-B3CA-6FCE5209FEC5}" destId="{94D0CE6A-B567-424E-ADD1-914866CB5499}" srcOrd="0" destOrd="0" parTransId="{13793F0F-94FA-F443-BA21-6B58B9BFA631}" sibTransId="{D76EC4C4-D4DC-EB44-B0A9-DBDBC65462FC}"/>
    <dgm:cxn modelId="{DA850520-A58B-D646-BF7D-9A597F39E6A3}" type="presOf" srcId="{005126F7-5330-5C43-AD97-2D8EC3A3A550}" destId="{DD3D9FC4-0567-A144-9E9B-A9E3A9FFA37E}" srcOrd="0" destOrd="0" presId="urn:microsoft.com/office/officeart/2005/8/layout/cycle2"/>
    <dgm:cxn modelId="{57F3433C-4601-0947-B3C8-4A3EB6745827}" type="presOf" srcId="{A1B0231E-AAB7-2948-A805-41F69AA79600}" destId="{A8DFEA55-995D-8446-8B1F-EE15CCDE9966}" srcOrd="0" destOrd="0" presId="urn:microsoft.com/office/officeart/2005/8/layout/cycle2"/>
    <dgm:cxn modelId="{460E4A58-1D4B-FE44-9755-9D7C5B373617}" type="presOf" srcId="{A7B3F113-682D-7E46-BBD5-013F0B177322}" destId="{1B14CD14-4225-874C-82A1-719AF5DC0F23}" srcOrd="0" destOrd="0" presId="urn:microsoft.com/office/officeart/2005/8/layout/cycle2"/>
    <dgm:cxn modelId="{4BC4065B-A5E8-9943-9649-ACC4C835FCD5}" type="presOf" srcId="{8D10FAA7-DADF-ED42-927B-A8C34D42C0E9}" destId="{577E7328-CC59-3940-AE32-906EA0952199}" srcOrd="0" destOrd="0" presId="urn:microsoft.com/office/officeart/2005/8/layout/cycle2"/>
    <dgm:cxn modelId="{60656065-8901-0B44-906B-34F309502D0D}" type="presOf" srcId="{D76EC4C4-D4DC-EB44-B0A9-DBDBC65462FC}" destId="{4BD94FCC-32F1-F44B-938D-BF718766CFD3}" srcOrd="0" destOrd="0" presId="urn:microsoft.com/office/officeart/2005/8/layout/cycle2"/>
    <dgm:cxn modelId="{86D1F26B-FE69-1342-95C4-0F6F99B9B6A3}" type="presOf" srcId="{8D10FAA7-DADF-ED42-927B-A8C34D42C0E9}" destId="{E311AC36-C552-A541-9A52-F5F9625DF5F5}" srcOrd="1" destOrd="0" presId="urn:microsoft.com/office/officeart/2005/8/layout/cycle2"/>
    <dgm:cxn modelId="{17009081-D74B-DB4D-807E-7E496ECE5CD8}" type="presOf" srcId="{94D0CE6A-B567-424E-ADD1-914866CB5499}" destId="{E989D1E9-A113-1E49-805B-2AE9B86A3086}" srcOrd="0" destOrd="0" presId="urn:microsoft.com/office/officeart/2005/8/layout/cycle2"/>
    <dgm:cxn modelId="{9281CDA1-274A-384A-A131-1F091B50BAF6}" srcId="{3475EFB5-6545-5444-B3CA-6FCE5209FEC5}" destId="{005126F7-5330-5C43-AD97-2D8EC3A3A550}" srcOrd="3" destOrd="0" parTransId="{0D8280E4-C59B-F241-AC3E-904DA2B48F33}" sibTransId="{83AFFC27-0BB1-A047-BC04-733FBB9A13BA}"/>
    <dgm:cxn modelId="{0A35CBBD-1D2E-1644-BA84-C3209BD4FEB9}" type="presOf" srcId="{3475EFB5-6545-5444-B3CA-6FCE5209FEC5}" destId="{5FB57BF2-12D3-D340-87C3-4164EE02C508}" srcOrd="0" destOrd="0" presId="urn:microsoft.com/office/officeart/2005/8/layout/cycle2"/>
    <dgm:cxn modelId="{75704BBE-E408-1E4F-A4C7-5D6B2D7B1C7A}" type="presOf" srcId="{83AFFC27-0BB1-A047-BC04-733FBB9A13BA}" destId="{929B6584-4511-1743-A2EE-20975798DB64}" srcOrd="1" destOrd="0" presId="urn:microsoft.com/office/officeart/2005/8/layout/cycle2"/>
    <dgm:cxn modelId="{37D789CB-607F-DF4F-939A-3B789EC71BF3}" type="presOf" srcId="{A1B0231E-AAB7-2948-A805-41F69AA79600}" destId="{0CDEEAAD-0552-BF43-9384-7B5B7930ED2A}" srcOrd="1" destOrd="0" presId="urn:microsoft.com/office/officeart/2005/8/layout/cycle2"/>
    <dgm:cxn modelId="{FA1E47CF-8216-FC4D-B89C-A47D10451EF0}" srcId="{3475EFB5-6545-5444-B3CA-6FCE5209FEC5}" destId="{A7B3F113-682D-7E46-BBD5-013F0B177322}" srcOrd="2" destOrd="0" parTransId="{A7AF438A-2AF8-8D43-A712-F82685C02488}" sibTransId="{A1B0231E-AAB7-2948-A805-41F69AA79600}"/>
    <dgm:cxn modelId="{39FE60D2-23BD-764E-BB8E-835E4676F4FF}" type="presOf" srcId="{D76EC4C4-D4DC-EB44-B0A9-DBDBC65462FC}" destId="{8D29A70D-5763-2C4B-BF55-91335155A6D1}" srcOrd="1" destOrd="0" presId="urn:microsoft.com/office/officeart/2005/8/layout/cycle2"/>
    <dgm:cxn modelId="{23C26AD3-2DED-1544-9BE0-EF11D0437E70}" srcId="{3475EFB5-6545-5444-B3CA-6FCE5209FEC5}" destId="{96B892F0-DB33-A241-AE5E-C18BC679580A}" srcOrd="1" destOrd="0" parTransId="{069FFB75-0FE1-7143-A922-FE565E1EC6EB}" sibTransId="{8D10FAA7-DADF-ED42-927B-A8C34D42C0E9}"/>
    <dgm:cxn modelId="{B1E000DB-2423-8A4C-AB3D-F798749F1116}" type="presOf" srcId="{83AFFC27-0BB1-A047-BC04-733FBB9A13BA}" destId="{62476013-F808-AA42-93B8-286D828C3727}" srcOrd="0" destOrd="0" presId="urn:microsoft.com/office/officeart/2005/8/layout/cycle2"/>
    <dgm:cxn modelId="{C956A7DC-C8A7-7C42-BCA0-28BDD227FF07}" type="presParOf" srcId="{5FB57BF2-12D3-D340-87C3-4164EE02C508}" destId="{E989D1E9-A113-1E49-805B-2AE9B86A3086}" srcOrd="0" destOrd="0" presId="urn:microsoft.com/office/officeart/2005/8/layout/cycle2"/>
    <dgm:cxn modelId="{15C593A6-0A43-F241-83A9-ECC50D5C7E6C}" type="presParOf" srcId="{5FB57BF2-12D3-D340-87C3-4164EE02C508}" destId="{4BD94FCC-32F1-F44B-938D-BF718766CFD3}" srcOrd="1" destOrd="0" presId="urn:microsoft.com/office/officeart/2005/8/layout/cycle2"/>
    <dgm:cxn modelId="{F3D28F7C-649D-2341-81C6-818767BDA9C5}" type="presParOf" srcId="{4BD94FCC-32F1-F44B-938D-BF718766CFD3}" destId="{8D29A70D-5763-2C4B-BF55-91335155A6D1}" srcOrd="0" destOrd="0" presId="urn:microsoft.com/office/officeart/2005/8/layout/cycle2"/>
    <dgm:cxn modelId="{E2B197D0-D59C-8A40-AA72-9D1D06A1C26D}" type="presParOf" srcId="{5FB57BF2-12D3-D340-87C3-4164EE02C508}" destId="{D37B5B34-DFEE-2744-AAFB-C23F33C31915}" srcOrd="2" destOrd="0" presId="urn:microsoft.com/office/officeart/2005/8/layout/cycle2"/>
    <dgm:cxn modelId="{932E81C7-2253-B749-BF0B-A97F66AE368B}" type="presParOf" srcId="{5FB57BF2-12D3-D340-87C3-4164EE02C508}" destId="{577E7328-CC59-3940-AE32-906EA0952199}" srcOrd="3" destOrd="0" presId="urn:microsoft.com/office/officeart/2005/8/layout/cycle2"/>
    <dgm:cxn modelId="{BEE8636D-5663-9045-9616-8986AE66F60C}" type="presParOf" srcId="{577E7328-CC59-3940-AE32-906EA0952199}" destId="{E311AC36-C552-A541-9A52-F5F9625DF5F5}" srcOrd="0" destOrd="0" presId="urn:microsoft.com/office/officeart/2005/8/layout/cycle2"/>
    <dgm:cxn modelId="{AE462C0D-58CD-1444-A093-53F90BE12EA9}" type="presParOf" srcId="{5FB57BF2-12D3-D340-87C3-4164EE02C508}" destId="{1B14CD14-4225-874C-82A1-719AF5DC0F23}" srcOrd="4" destOrd="0" presId="urn:microsoft.com/office/officeart/2005/8/layout/cycle2"/>
    <dgm:cxn modelId="{03F1F590-7870-AD4B-BE40-C0078BEB7DBF}" type="presParOf" srcId="{5FB57BF2-12D3-D340-87C3-4164EE02C508}" destId="{A8DFEA55-995D-8446-8B1F-EE15CCDE9966}" srcOrd="5" destOrd="0" presId="urn:microsoft.com/office/officeart/2005/8/layout/cycle2"/>
    <dgm:cxn modelId="{9D4C7250-1A72-F744-930C-88045812F553}" type="presParOf" srcId="{A8DFEA55-995D-8446-8B1F-EE15CCDE9966}" destId="{0CDEEAAD-0552-BF43-9384-7B5B7930ED2A}" srcOrd="0" destOrd="0" presId="urn:microsoft.com/office/officeart/2005/8/layout/cycle2"/>
    <dgm:cxn modelId="{11335C0D-903C-B14C-8530-6ACBC714FDE9}" type="presParOf" srcId="{5FB57BF2-12D3-D340-87C3-4164EE02C508}" destId="{DD3D9FC4-0567-A144-9E9B-A9E3A9FFA37E}" srcOrd="6" destOrd="0" presId="urn:microsoft.com/office/officeart/2005/8/layout/cycle2"/>
    <dgm:cxn modelId="{98A0B0C1-0FC8-0346-9E3B-54F53BF84576}" type="presParOf" srcId="{5FB57BF2-12D3-D340-87C3-4164EE02C508}" destId="{62476013-F808-AA42-93B8-286D828C3727}" srcOrd="7" destOrd="0" presId="urn:microsoft.com/office/officeart/2005/8/layout/cycle2"/>
    <dgm:cxn modelId="{99872568-01EC-C542-935E-D53F6D37BC31}" type="presParOf" srcId="{62476013-F808-AA42-93B8-286D828C3727}" destId="{929B6584-4511-1743-A2EE-20975798DB6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9D1E9-A113-1E49-805B-2AE9B86A3086}">
      <dsp:nvSpPr>
        <dsp:cNvPr id="0" name=""/>
        <dsp:cNvSpPr/>
      </dsp:nvSpPr>
      <dsp:spPr>
        <a:xfrm>
          <a:off x="1207785" y="385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Connect</a:t>
          </a:r>
        </a:p>
      </dsp:txBody>
      <dsp:txXfrm>
        <a:off x="1342559" y="135159"/>
        <a:ext cx="650747" cy="650747"/>
      </dsp:txXfrm>
    </dsp:sp>
    <dsp:sp modelId="{4BD94FCC-32F1-F44B-938D-BF718766CFD3}">
      <dsp:nvSpPr>
        <dsp:cNvPr id="0" name=""/>
        <dsp:cNvSpPr/>
      </dsp:nvSpPr>
      <dsp:spPr>
        <a:xfrm rot="2700000">
          <a:off x="2029230" y="788662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039961" y="824874"/>
        <a:ext cx="170986" cy="186359"/>
      </dsp:txXfrm>
    </dsp:sp>
    <dsp:sp modelId="{D37B5B34-DFEE-2744-AAFB-C23F33C31915}">
      <dsp:nvSpPr>
        <dsp:cNvPr id="0" name=""/>
        <dsp:cNvSpPr/>
      </dsp:nvSpPr>
      <dsp:spPr>
        <a:xfrm>
          <a:off x="2184422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Accumulate</a:t>
          </a:r>
        </a:p>
      </dsp:txBody>
      <dsp:txXfrm>
        <a:off x="2319196" y="1111795"/>
        <a:ext cx="650747" cy="650747"/>
      </dsp:txXfrm>
    </dsp:sp>
    <dsp:sp modelId="{577E7328-CC59-3940-AE32-906EA0952199}">
      <dsp:nvSpPr>
        <dsp:cNvPr id="0" name=""/>
        <dsp:cNvSpPr/>
      </dsp:nvSpPr>
      <dsp:spPr>
        <a:xfrm rot="8100000">
          <a:off x="2039007" y="176529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101555" y="1801511"/>
        <a:ext cx="170986" cy="186359"/>
      </dsp:txXfrm>
    </dsp:sp>
    <dsp:sp modelId="{1B14CD14-4225-874C-82A1-719AF5DC0F23}">
      <dsp:nvSpPr>
        <dsp:cNvPr id="0" name=""/>
        <dsp:cNvSpPr/>
      </dsp:nvSpPr>
      <dsp:spPr>
        <a:xfrm>
          <a:off x="1207785" y="1953658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Automate</a:t>
          </a:r>
        </a:p>
      </dsp:txBody>
      <dsp:txXfrm>
        <a:off x="1342559" y="2088432"/>
        <a:ext cx="650747" cy="650747"/>
      </dsp:txXfrm>
    </dsp:sp>
    <dsp:sp modelId="{A8DFEA55-995D-8446-8B1F-EE15CCDE9966}">
      <dsp:nvSpPr>
        <dsp:cNvPr id="0" name=""/>
        <dsp:cNvSpPr/>
      </dsp:nvSpPr>
      <dsp:spPr>
        <a:xfrm rot="13500000">
          <a:off x="1062370" y="1775076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124918" y="1863104"/>
        <a:ext cx="170986" cy="186359"/>
      </dsp:txXfrm>
    </dsp:sp>
    <dsp:sp modelId="{DD3D9FC4-0567-A144-9E9B-A9E3A9FFA37E}">
      <dsp:nvSpPr>
        <dsp:cNvPr id="0" name=""/>
        <dsp:cNvSpPr/>
      </dsp:nvSpPr>
      <dsp:spPr>
        <a:xfrm>
          <a:off x="231149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Supervise</a:t>
          </a:r>
        </a:p>
      </dsp:txBody>
      <dsp:txXfrm>
        <a:off x="365923" y="1111795"/>
        <a:ext cx="650747" cy="650747"/>
      </dsp:txXfrm>
    </dsp:sp>
    <dsp:sp modelId="{62476013-F808-AA42-93B8-286D828C3727}">
      <dsp:nvSpPr>
        <dsp:cNvPr id="0" name=""/>
        <dsp:cNvSpPr/>
      </dsp:nvSpPr>
      <dsp:spPr>
        <a:xfrm rot="18900000">
          <a:off x="1052594" y="79843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063325" y="886467"/>
        <a:ext cx="170986" cy="186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85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86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imseulki0727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89433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85800" y="220967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that know your work.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266687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connect to your platforms. They accumulate knowledge. They work while you don't.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1909318"/>
            <a:ext cx="7200000" cy="3200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Round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  ·  kvkthecreator@gmail.com</a:t>
            </a:r>
            <a:endParaRPr lang="en-US" sz="1100" dirty="0"/>
          </a:p>
        </p:txBody>
      </p:sp>
      <p:pic>
        <p:nvPicPr>
          <p:cNvPr id="9" name="Picture 8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D668CF69-8FDA-44E7-4CDA-75335C9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33" y="845820"/>
            <a:ext cx="1168654" cy="116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689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42697"/>
            <a:ext cx="7772400" cy="89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coding agents, desktop, cowork.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has memory, Codex, Sora.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they’ll consume every layer.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 cycle looks that way — until it doesn’t.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685800" y="3488436"/>
            <a:ext cx="7772400" cy="76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didn’t become Salesforce.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didn’t become Shopify.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didn’t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82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thesis is that even with the AI tech revolution, </a:t>
            </a:r>
            <a:b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90009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2883" y="190009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everything on the web. It didn’t become Salesforce.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757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40301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12883" y="240301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all of social commerce. It didn’t become Shopify.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5049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90593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2883" y="290593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 cloud application. It didn’t become Datadog.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5341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340885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2883" y="340885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 like they’ll own every layer. But code was the easy case. Work context is the hard 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841610"/>
            <a:ext cx="7772400" cy="926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00210" y="3938419"/>
            <a:ext cx="7315200" cy="71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of the AI platform shift is yet to come, and we’re taking 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bold bet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 that it will be Agent-native, and the work economy will shift from human -&gt; agents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ClawdBot proved the appetite is real.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67877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81311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41719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685362"/>
            <a:ext cx="3291840" cy="10058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868680" y="373108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7116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453199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864100" y="170417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 can't use it.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64100" y="376562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Requires VPS provisioning (only 5% can do this)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100" y="405823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200+ security leaks detected (GitGuardian)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100" y="435084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No project isolation or recurring workflows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BE82DB-4786-5937-AD3C-6F663ECFB82B}"/>
              </a:ext>
            </a:extLst>
          </p:cNvPr>
          <p:cNvSpPr/>
          <p:nvPr/>
        </p:nvSpPr>
        <p:spPr>
          <a:xfrm>
            <a:off x="4864100" y="2859597"/>
            <a:ext cx="3886200" cy="20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High technical barrier, privacy, hardware setup</a:t>
            </a:r>
            <a:endParaRPr lang="en-US" sz="1400" dirty="0"/>
          </a:p>
        </p:txBody>
      </p:sp>
      <p:pic>
        <p:nvPicPr>
          <p:cNvPr id="1026" name="Picture 2" descr="Open Claw - Replace Humans">
            <a:extLst>
              <a:ext uri="{FF2B5EF4-FFF2-40B4-BE49-F238E27FC236}">
                <a16:creationId xmlns:a16="http://schemas.microsoft.com/office/drawing/2014/main" id="{B437DECB-BC82-5CD5-0CCB-DF8E637EA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50" y="859155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493-9D32-0278-D4CF-1968D570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06942-9DF6-9D4D-CDB3-33F9B12F2128}"/>
              </a:ext>
            </a:extLst>
          </p:cNvPr>
          <p:cNvSpPr/>
          <p:nvPr/>
        </p:nvSpPr>
        <p:spPr>
          <a:xfrm>
            <a:off x="5465576" y="1819923"/>
            <a:ext cx="3349951" cy="101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</a:p>
        </p:txBody>
      </p:sp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CDBEE355-775C-B974-BD7A-CA76244C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15" y="1819923"/>
            <a:ext cx="946261" cy="94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DB195E-D9C0-8AD5-534F-AA0A0C93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428" y="2613802"/>
            <a:ext cx="1117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yarnnn's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agent network. Live at yarnnn.com.</a:t>
            </a:r>
            <a:endParaRPr lang="en-US" sz="2400" dirty="0"/>
          </a:p>
        </p:txBody>
      </p:sp>
      <p:pic>
        <p:nvPicPr>
          <p:cNvPr id="4" name="Screenshot Chat" descr="Orchestrator - 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1" name="Screenshot Deliverables" descr="Agents - Headless M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2" name="Screenshot System" descr="System - 4 Integr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3" name="Screenshot Context" descr="Knowledge Eng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580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3"/>
          <p:cNvSpPr/>
          <p:nvPr/>
        </p:nvSpPr>
        <p:spPr>
          <a:xfrm>
            <a:off x="77724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427024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anything. It already knows your work. Built like Claude Code with capabilities and webSearch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288036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8036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on schedule. Persistent agents with inspectable workspaces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9204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498348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Integrations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83480" y="4270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Gmail, Notion, Calendar.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With more in product roadmap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9516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708660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8660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smarter every sync cycle.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Knowledge accumulation, workspace memory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</a:rPr>
              <a:t>Agent Architecture and Orchestration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</a:rPr>
              <a:t>Built for Agent-native, autonomous workflows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211579"/>
            <a:ext cx="7772400" cy="33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</a:rPr>
              <a:t>Every layer purpose-built so knowledge compounds — creating recursive feedback between agent output and accumulated intelligence</a:t>
            </a:r>
          </a:p>
        </p:txBody>
      </p:sp>
      <p:sp>
        <p:nvSpPr>
          <p:cNvPr id="10" name="Box1"/>
          <p:cNvSpPr/>
          <p:nvPr/>
        </p:nvSpPr>
        <p:spPr>
          <a:xfrm>
            <a:off x="643287" y="1862982"/>
            <a:ext cx="1296609" cy="1234972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Perception Pipeline</a:t>
            </a:r>
          </a:p>
          <a:p>
            <a:pPr marL="0" indent="0" algn="ctr">
              <a:buNone/>
            </a:pPr>
            <a:endParaRPr lang="en-US" sz="800" dirty="0">
              <a:solidFill>
                <a:srgbClr val="FFFFFF"/>
              </a:solidFill>
              <a:latin typeface="Arial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Slack • Gmail
Notion • Calendar</a:t>
            </a:r>
          </a:p>
        </p:txBody>
      </p:sp>
      <p:sp>
        <p:nvSpPr>
          <p:cNvPr id="20" name="Arrow1"/>
          <p:cNvSpPr/>
          <p:nvPr/>
        </p:nvSpPr>
        <p:spPr>
          <a:xfrm>
            <a:off x="2043968" y="2137302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1" name="Box2"/>
          <p:cNvSpPr/>
          <p:nvPr/>
        </p:nvSpPr>
        <p:spPr>
          <a:xfrm>
            <a:off x="2350635" y="1862982"/>
            <a:ext cx="1296609" cy="123497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Context Mgmt.</a:t>
            </a:r>
          </a:p>
          <a:p>
            <a:pPr marL="0" indent="0" algn="ctr">
              <a:buNone/>
            </a:pP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Shared content
management for </a:t>
            </a:r>
            <a:br>
              <a:rPr lang="en-US" sz="800" dirty="0">
                <a:solidFill>
                  <a:srgbClr val="BBBBBB"/>
                </a:solidFill>
                <a:latin typeface="Arial" pitchFamily="34" charset="0"/>
              </a:rPr>
            </a:b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multi agents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Retention + provenance</a:t>
            </a:r>
          </a:p>
        </p:txBody>
      </p:sp>
      <p:sp>
        <p:nvSpPr>
          <p:cNvPr id="21" name="Arrow2"/>
          <p:cNvSpPr/>
          <p:nvPr/>
        </p:nvSpPr>
        <p:spPr>
          <a:xfrm>
            <a:off x="3751316" y="2137302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2" name="Box3"/>
          <p:cNvSpPr/>
          <p:nvPr/>
        </p:nvSpPr>
        <p:spPr>
          <a:xfrm>
            <a:off x="4057983" y="1862982"/>
            <a:ext cx="1296609" cy="123497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Memory</a:t>
            </a:r>
          </a:p>
          <a:p>
            <a:pPr marL="0" indent="0" algn="ctr">
              <a:buNone/>
            </a:pP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Working + user memory
Implicit extraction</a:t>
            </a:r>
          </a:p>
        </p:txBody>
      </p:sp>
      <p:sp>
        <p:nvSpPr>
          <p:cNvPr id="22" name="Arrow3"/>
          <p:cNvSpPr/>
          <p:nvPr/>
        </p:nvSpPr>
        <p:spPr>
          <a:xfrm>
            <a:off x="5458664" y="2137302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3" name="Box4"/>
          <p:cNvSpPr/>
          <p:nvPr/>
        </p:nvSpPr>
        <p:spPr>
          <a:xfrm>
            <a:off x="5765331" y="1862982"/>
            <a:ext cx="1296609" cy="123497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 Orchestration</a:t>
            </a: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BBBBBB"/>
              </a:solidFill>
              <a:latin typeface="Arial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5 execution modes
Chat + headless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(</a:t>
            </a:r>
            <a:r>
              <a:rPr lang="en-US" sz="800" dirty="0" err="1">
                <a:solidFill>
                  <a:srgbClr val="BBBBBB"/>
                </a:solidFill>
                <a:latin typeface="Arial" pitchFamily="34" charset="0"/>
              </a:rPr>
              <a:t>cron</a:t>
            </a: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-jobs, sync processors, etc.)</a:t>
            </a:r>
          </a:p>
        </p:txBody>
      </p:sp>
      <p:sp>
        <p:nvSpPr>
          <p:cNvPr id="23" name="Arrow4"/>
          <p:cNvSpPr/>
          <p:nvPr/>
        </p:nvSpPr>
        <p:spPr>
          <a:xfrm>
            <a:off x="7166012" y="2137302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4" name="Box5"/>
          <p:cNvSpPr/>
          <p:nvPr/>
        </p:nvSpPr>
        <p:spPr>
          <a:xfrm>
            <a:off x="7472680" y="1857055"/>
            <a:ext cx="1134533" cy="1234972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Agents</a:t>
            </a:r>
          </a:p>
          <a:p>
            <a:pPr marL="0" indent="0" algn="ctr">
              <a:buNone/>
            </a:pPr>
            <a:endParaRPr lang="en-US" sz="800" dirty="0">
              <a:solidFill>
                <a:srgbClr val="FFFFFF"/>
              </a:solidFill>
              <a:latin typeface="Arial" pitchFamily="34" charset="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FFFFFF"/>
              </a:solidFill>
              <a:latin typeface="Arial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Persistent
autonomous output</a:t>
            </a:r>
          </a:p>
        </p:txBody>
      </p:sp>
      <p:sp>
        <p:nvSpPr>
          <p:cNvPr id="15" name="Text 13"/>
          <p:cNvSpPr/>
          <p:nvPr/>
        </p:nvSpPr>
        <p:spPr>
          <a:xfrm>
            <a:off x="706120" y="34975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</a:rPr>
              <a:t>Why this can’t be bolted on:</a:t>
            </a:r>
          </a:p>
        </p:txBody>
      </p:sp>
      <p:sp>
        <p:nvSpPr>
          <p:cNvPr id="16" name="Text 14"/>
          <p:cNvSpPr/>
          <p:nvPr/>
        </p:nvSpPr>
        <p:spPr>
          <a:xfrm>
            <a:off x="706120" y="38176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Big Players, LLM Providers</a:t>
            </a:r>
          </a:p>
        </p:txBody>
      </p:sp>
      <p:sp>
        <p:nvSpPr>
          <p:cNvPr id="17" name="Text 15"/>
          <p:cNvSpPr/>
          <p:nvPr/>
        </p:nvSpPr>
        <p:spPr>
          <a:xfrm>
            <a:off x="706120" y="40005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Cross-platform knowledge not possible.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Optimized for horizontal, not individual depth. </a:t>
            </a:r>
          </a:p>
        </p:txBody>
      </p:sp>
      <p:sp>
        <p:nvSpPr>
          <p:cNvPr id="18" name="Text 16"/>
          <p:cNvSpPr/>
          <p:nvPr/>
        </p:nvSpPr>
        <p:spPr>
          <a:xfrm>
            <a:off x="3449320" y="38176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Agent Startups (</a:t>
            </a:r>
            <a:r>
              <a:rPr lang="en-US" sz="1000" b="1" dirty="0" err="1">
                <a:solidFill>
                  <a:srgbClr val="111111"/>
                </a:solidFill>
                <a:latin typeface="Arial" pitchFamily="34" charset="0"/>
              </a:rPr>
              <a:t>mem.ai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, </a:t>
            </a:r>
            <a:r>
              <a:rPr lang="en-US" sz="1000" b="1" dirty="0" err="1">
                <a:solidFill>
                  <a:srgbClr val="111111"/>
                </a:solidFill>
                <a:latin typeface="Arial" pitchFamily="34" charset="0"/>
              </a:rPr>
              <a:t>openclaw</a:t>
            </a: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)</a:t>
            </a:r>
          </a:p>
        </p:txBody>
      </p:sp>
      <p:sp>
        <p:nvSpPr>
          <p:cNvPr id="19" name="Text 17"/>
          <p:cNvSpPr/>
          <p:nvPr/>
        </p:nvSpPr>
        <p:spPr>
          <a:xfrm>
            <a:off x="3449320" y="40005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Architectural gap. (hardware or agent framework)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accumulated knowledge layer with feedback loop</a:t>
            </a:r>
          </a:p>
        </p:txBody>
      </p:sp>
      <p:sp>
        <p:nvSpPr>
          <p:cNvPr id="24" name="Text 18"/>
          <p:cNvSpPr/>
          <p:nvPr/>
        </p:nvSpPr>
        <p:spPr>
          <a:xfrm>
            <a:off x="6192520" y="38176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Workspace AI (Notion AI, Slack)</a:t>
            </a:r>
          </a:p>
        </p:txBody>
      </p:sp>
      <p:sp>
        <p:nvSpPr>
          <p:cNvPr id="25" name="Text 19"/>
          <p:cNvSpPr/>
          <p:nvPr/>
        </p:nvSpPr>
        <p:spPr>
          <a:xfrm>
            <a:off x="6192520" y="40005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Single-platform. Can’t synthesize across tools.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persistent 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Network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specialists accumulate knowledge. Synthesis agents produce work you’d never get from a single tool.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2606040" cy="28346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RECAP AGENT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</a:rPr>
              <a:t>Platform Digest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What happened while you weren’t looking. All platforms synthesized into one brief.</a:t>
            </a:r>
          </a:p>
        </p:txBody>
      </p:sp>
      <p:sp>
        <p:nvSpPr>
          <p:cNvPr id="40" name="Line 40"/>
          <p:cNvSpPr/>
          <p:nvPr/>
        </p:nvSpPr>
        <p:spPr>
          <a:xfrm>
            <a:off x="822960" y="2560320"/>
            <a:ext cx="2331720" cy="0"/>
          </a:xfrm>
          <a:prstGeom prst="rect">
            <a:avLst/>
          </a:prstGeom>
          <a:solidFill>
            <a:srgbClr val="D4845A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EXAMPLE: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Monday morning: here’s everything from #engineering, your inbox, and 3 Notion updates. Gets better every week.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5760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MEETING PREP AGENT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Calendar-Driven Briefs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Full attendee context from Slack + Gmail + Notion. Delivered before every meeting.</a:t>
            </a:r>
          </a:p>
        </p:txBody>
      </p:sp>
      <p:sp>
        <p:nvSpPr>
          <p:cNvPr id="41" name="Line 41"/>
          <p:cNvSpPr/>
          <p:nvPr/>
        </p:nvSpPr>
        <p:spPr>
          <a:xfrm>
            <a:off x="365760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EXAMPLE:</a:t>
            </a:r>
          </a:p>
        </p:txBody>
      </p:sp>
      <p:sp>
        <p:nvSpPr>
          <p:cNvPr id="16" name="Text 14"/>
          <p:cNvSpPr/>
          <p:nvPr/>
        </p:nvSpPr>
        <p:spPr>
          <a:xfrm>
            <a:off x="365760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You meet Sarah at 2pm. Here’s her last 5 Slack threads, 2 emails, and the Notion doc she edited yesterday.</a:t>
            </a:r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49224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STATUS + WATCH AGENTS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Synthesis + Proactive Intel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Cross-platform status updates for any audience. Proactive alerts when pricing or competitors surface across channels.</a:t>
            </a:r>
          </a:p>
        </p:txBody>
      </p:sp>
      <p:sp>
        <p:nvSpPr>
          <p:cNvPr id="42" name="Line 42"/>
          <p:cNvSpPr/>
          <p:nvPr/>
        </p:nvSpPr>
        <p:spPr>
          <a:xfrm>
            <a:off x="649224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EXAMPLES:</a:t>
            </a:r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Weekly client update from Slack + Gmail + Notion. No copy-paste. Competitor mention detected across 3 channels. Brief generated.</a:t>
            </a:r>
          </a:p>
        </p:txBody>
      </p:sp>
      <p:pic>
        <p:nvPicPr>
          <p:cNvPr id="1026" name="Picture 2" descr="Slack logo - free Icon PNG, SVG">
            <a:extLst>
              <a:ext uri="{FF2B5EF4-FFF2-40B4-BE49-F238E27FC236}">
                <a16:creationId xmlns:a16="http://schemas.microsoft.com/office/drawing/2014/main" id="{41B8F80D-AC21-0546-BB33-708657AAA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468" y="3615163"/>
            <a:ext cx="327232" cy="32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mail new logo - free Icon PNG, SVG">
            <a:extLst>
              <a:ext uri="{FF2B5EF4-FFF2-40B4-BE49-F238E27FC236}">
                <a16:creationId xmlns:a16="http://schemas.microsoft.com/office/drawing/2014/main" id="{977D2602-1FC1-B338-DD80-43810A740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657" y="3565760"/>
            <a:ext cx="426038" cy="42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otion-style Icons">
            <a:extLst>
              <a:ext uri="{FF2B5EF4-FFF2-40B4-BE49-F238E27FC236}">
                <a16:creationId xmlns:a16="http://schemas.microsoft.com/office/drawing/2014/main" id="{152A952D-5370-40F6-A8C2-803C8A1B7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652" y="3571132"/>
            <a:ext cx="426038" cy="42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alendar icon vector 24150216 Vector Art at Vecteezy">
            <a:extLst>
              <a:ext uri="{FF2B5EF4-FFF2-40B4-BE49-F238E27FC236}">
                <a16:creationId xmlns:a16="http://schemas.microsoft.com/office/drawing/2014/main" id="{ED7105D5-D07A-D7C8-CA39-05077DA0F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130" y="3557721"/>
            <a:ext cx="499402" cy="4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55,636 Crossroad Icon Stock Vectors and Vector Art | Shutterstock">
            <a:extLst>
              <a:ext uri="{FF2B5EF4-FFF2-40B4-BE49-F238E27FC236}">
                <a16:creationId xmlns:a16="http://schemas.microsoft.com/office/drawing/2014/main" id="{42C2C16F-9F74-9824-4912-86950CD980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03" t="13395" r="7919" b="14233"/>
          <a:stretch>
            <a:fillRect/>
          </a:stretch>
        </p:blipFill>
        <p:spPr bwMode="auto">
          <a:xfrm>
            <a:off x="7408399" y="3542913"/>
            <a:ext cx="499402" cy="50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92779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Compounds. Switching Costs Follow.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6028"/>
            <a:ext cx="4274507" cy="61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Every agent run makes the next one better. </a:t>
            </a:r>
          </a:p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Every edit teaches the system. </a:t>
            </a:r>
          </a:p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the knowledge base.</a:t>
            </a:r>
            <a:endParaRPr lang="en-US" sz="1200" b="1" dirty="0"/>
          </a:p>
        </p:txBody>
      </p:sp>
      <p:sp>
        <p:nvSpPr>
          <p:cNvPr id="5" name="Text 3"/>
          <p:cNvSpPr/>
          <p:nvPr/>
        </p:nvSpPr>
        <p:spPr>
          <a:xfrm>
            <a:off x="713658" y="226109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9316" y="267257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729316" y="26725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6516" y="2697626"/>
            <a:ext cx="396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 Every sync cycle deepens cross-platform understanding. Agents don’t start from zero.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9316" y="312977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729316" y="31297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6516" y="3179878"/>
            <a:ext cx="396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Recursion: Your edits and feedback train agent output quality. The 5th run needs fewer corrections than the 1st.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9316" y="358697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729316" y="35869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6516" y="3649604"/>
            <a:ext cx="396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Irreversibility: 90 days of accumulated knowledge can’t be exported or replicated. Switching means starting over.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9316" y="4044174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729316" y="40441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6516" y="404417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30B4471-34F8-4AE3-F56B-475499026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049432"/>
              </p:ext>
            </p:extLst>
          </p:nvPr>
        </p:nvGraphicFramePr>
        <p:xfrm>
          <a:off x="5575527" y="1723488"/>
          <a:ext cx="3335867" cy="2874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A49476E-BA7E-947C-60B1-703E3E17B1C4}"/>
              </a:ext>
            </a:extLst>
          </p:cNvPr>
          <p:cNvSpPr txBox="1"/>
          <p:nvPr/>
        </p:nvSpPr>
        <p:spPr>
          <a:xfrm>
            <a:off x="6616926" y="1420791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Platforms </a:t>
            </a:r>
            <a:b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(Slack, Gmail, Notion, Cal)</a:t>
            </a:r>
            <a:endParaRPr lang="en-KR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6D8979-6EC7-A296-826A-9A13A3EB6725}"/>
              </a:ext>
            </a:extLst>
          </p:cNvPr>
          <p:cNvSpPr txBox="1"/>
          <p:nvPr/>
        </p:nvSpPr>
        <p:spPr>
          <a:xfrm>
            <a:off x="7603066" y="3686145"/>
            <a:ext cx="125306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Knowledge syncs</a:t>
            </a:r>
            <a:endParaRPr lang="en-KR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8AC5E-5362-7328-8B07-40B210AA05E2}"/>
              </a:ext>
            </a:extLst>
          </p:cNvPr>
          <p:cNvSpPr txBox="1"/>
          <p:nvPr/>
        </p:nvSpPr>
        <p:spPr>
          <a:xfrm>
            <a:off x="6616928" y="4612319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System</a:t>
            </a:r>
            <a:endParaRPr lang="en-KR" sz="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B84FC-E222-0486-5108-8F424A7118C6}"/>
              </a:ext>
            </a:extLst>
          </p:cNvPr>
          <p:cNvSpPr txBox="1"/>
          <p:nvPr/>
        </p:nvSpPr>
        <p:spPr>
          <a:xfrm>
            <a:off x="5630788" y="3658948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Edits, refine</a:t>
            </a:r>
          </a:p>
          <a:p>
            <a:pPr algn="ctr"/>
            <a:r>
              <a:rPr lang="en-US" sz="700" dirty="0">
                <a:latin typeface="Arial" pitchFamily="34" charset="0"/>
                <a:cs typeface="Arial" pitchFamily="34" charset="-120"/>
              </a:rPr>
              <a:t>memory</a:t>
            </a:r>
            <a:endParaRPr lang="en-KR" sz="7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C8529C-CC3D-BF48-AB6E-02843CEF6C41}"/>
              </a:ext>
            </a:extLst>
          </p:cNvPr>
          <p:cNvGrpSpPr/>
          <p:nvPr/>
        </p:nvGrpSpPr>
        <p:grpSpPr>
          <a:xfrm>
            <a:off x="6835971" y="2740265"/>
            <a:ext cx="814980" cy="814980"/>
            <a:chOff x="1120971" y="469"/>
            <a:chExt cx="814980" cy="8149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7ED3F3-071A-45DE-7498-2A52A806024C}"/>
                </a:ext>
              </a:extLst>
            </p:cNvPr>
            <p:cNvSpPr/>
            <p:nvPr/>
          </p:nvSpPr>
          <p:spPr>
            <a:xfrm>
              <a:off x="1120971" y="469"/>
              <a:ext cx="814980" cy="81498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KR" dirty="0"/>
            </a:p>
          </p:txBody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AC93BF-A6E1-0D26-1EE3-32BA4DDF36D3}"/>
                </a:ext>
              </a:extLst>
            </p:cNvPr>
            <p:cNvSpPr txBox="1"/>
            <p:nvPr/>
          </p:nvSpPr>
          <p:spPr>
            <a:xfrm>
              <a:off x="1240322" y="119820"/>
              <a:ext cx="576278" cy="5762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700" b="1" dirty="0"/>
                <a:t>Compounding Work Intelligence</a:t>
              </a:r>
              <a:endParaRPr lang="en-US" sz="700" b="1" kern="12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2019" y="2012108"/>
            <a:ext cx="3349951" cy="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0A14B4E1-B777-7DE3-2FEF-04E83402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24" y="1968617"/>
            <a:ext cx="946261" cy="9462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1009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Big-Players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ChatGPT/Claude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9983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Mem.ai</a:t>
            </a: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Genspark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83905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Workspaces</a:t>
            </a:r>
            <a:b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Notion, Slack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35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b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626848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85800" y="2626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</a:t>
            </a:r>
            <a:b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accumulation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1009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9983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3905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35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Evolving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108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1009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9983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3905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35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394944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5800" y="3394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009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9983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3905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35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Scheduled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7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tenure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1009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9983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3905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35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Accumulation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163040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85800" y="41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1009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9983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3905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35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340" y="1359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platform where persistent agents accumulate cross-platform work knowledge for autonomous output.</a:t>
            </a:r>
            <a:endParaRPr lang="en-US" sz="1200" dirty="0"/>
          </a:p>
        </p:txBody>
      </p:sp>
      <p:sp>
        <p:nvSpPr>
          <p:cNvPr id="39" name="HorizontalLine">
            <a:extLst>
              <a:ext uri="{FF2B5EF4-FFF2-40B4-BE49-F238E27FC236}">
                <a16:creationId xmlns:a16="http://schemas.microsoft.com/office/drawing/2014/main" id="{A271FBA9-E73F-8CD9-C415-67FB3E6B450A}"/>
              </a:ext>
            </a:extLst>
          </p:cNvPr>
          <p:cNvSpPr/>
          <p:nvPr/>
        </p:nvSpPr>
        <p:spPr>
          <a:xfrm>
            <a:off x="5875380" y="3446029"/>
            <a:ext cx="28800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VerticalLine">
            <a:extLst>
              <a:ext uri="{FF2B5EF4-FFF2-40B4-BE49-F238E27FC236}">
                <a16:creationId xmlns:a16="http://schemas.microsoft.com/office/drawing/2014/main" id="{52252A54-07B6-41CB-B33E-A1C0AD811902}"/>
              </a:ext>
            </a:extLst>
          </p:cNvPr>
          <p:cNvSpPr/>
          <p:nvPr/>
        </p:nvSpPr>
        <p:spPr>
          <a:xfrm>
            <a:off x="7315380" y="2366029"/>
            <a:ext cx="18288" cy="2160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C86E775-99A8-206B-B11B-B8FCCA5CDA6A}"/>
              </a:ext>
            </a:extLst>
          </p:cNvPr>
          <p:cNvSpPr/>
          <p:nvPr/>
        </p:nvSpPr>
        <p:spPr>
          <a:xfrm>
            <a:off x="6865380" y="2094529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Autonomy</a:t>
            </a:r>
            <a:endParaRPr lang="en-US" sz="7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C328876B-6841-0363-9A2C-57D5ECDE6E3E}"/>
              </a:ext>
            </a:extLst>
          </p:cNvPr>
          <p:cNvSpPr/>
          <p:nvPr/>
        </p:nvSpPr>
        <p:spPr>
          <a:xfrm>
            <a:off x="8195969" y="3137050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Knowledge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Accumulation</a:t>
            </a:r>
            <a:endParaRPr lang="en-US" sz="7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87CD1FD-FDF6-646A-64E4-AD89980FBA48}"/>
              </a:ext>
            </a:extLst>
          </p:cNvPr>
          <p:cNvSpPr/>
          <p:nvPr/>
        </p:nvSpPr>
        <p:spPr>
          <a:xfrm>
            <a:off x="7674423" y="265090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9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75243D36-7BCB-3F7B-EE2A-F26AE69055D3}"/>
              </a:ext>
            </a:extLst>
          </p:cNvPr>
          <p:cNvSpPr/>
          <p:nvPr/>
        </p:nvSpPr>
        <p:spPr>
          <a:xfrm>
            <a:off x="6189758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DAE3A223-D7B0-20C8-622C-8DAFEB2E4AA1}"/>
              </a:ext>
            </a:extLst>
          </p:cNvPr>
          <p:cNvSpPr/>
          <p:nvPr/>
        </p:nvSpPr>
        <p:spPr>
          <a:xfrm>
            <a:off x="6189758" y="267256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DE62553-BC71-0307-9618-C17B0188E95E}"/>
              </a:ext>
            </a:extLst>
          </p:cNvPr>
          <p:cNvSpPr/>
          <p:nvPr/>
        </p:nvSpPr>
        <p:spPr>
          <a:xfrm>
            <a:off x="7674423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001C20BF-D215-A109-365D-B6F6DB9853A0}"/>
              </a:ext>
            </a:extLst>
          </p:cNvPr>
          <p:cNvSpPr/>
          <p:nvPr/>
        </p:nvSpPr>
        <p:spPr>
          <a:xfrm>
            <a:off x="7674423" y="2888445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r>
              <a:rPr lang="ko-KR" alt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800" b="1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606040" cy="9144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566160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6393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3913632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68680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261104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4334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34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tiers. Knowledge depth is the lever.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platforms connected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 sources per 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Sync 2x/day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50 orchestrator messages/mo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active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70332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platforms connected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sources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Hourly 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orchestrator messages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agents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2606040" cy="23774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304288"/>
            <a:ext cx="2194560" cy="4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53796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Everything in Pro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 workspaces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Priority support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integrations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Agent-to-agent protocol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1605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Target 70%+ gross margin at scale. Batched sync and cached knowledge reduce per-user API cost as context accumulates.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plan: 2 months free (17% off). Pro $190/yr.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ent Arrow 19">
            <a:extLst>
              <a:ext uri="{FF2B5EF4-FFF2-40B4-BE49-F238E27FC236}">
                <a16:creationId xmlns:a16="http://schemas.microsoft.com/office/drawing/2014/main" id="{13998D2B-1942-D5BA-B755-5156EE05315E}"/>
              </a:ext>
            </a:extLst>
          </p:cNvPr>
          <p:cNvSpPr/>
          <p:nvPr/>
        </p:nvSpPr>
        <p:spPr>
          <a:xfrm>
            <a:off x="0" y="1936000"/>
            <a:ext cx="9144000" cy="3207500"/>
          </a:xfrm>
          <a:prstGeom prst="bentArrow">
            <a:avLst>
              <a:gd name="adj1" fmla="val 21314"/>
              <a:gd name="adj2" fmla="val 16348"/>
              <a:gd name="adj3" fmla="val 18407"/>
              <a:gd name="adj4" fmla="val 17474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layer first. Autonomy second. Protocol third.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expands the moat. More context surfaces unlock deeper autonomy and broader interoperability.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1900000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Phase1Label"/>
          <p:cNvSpPr/>
          <p:nvPr/>
        </p:nvSpPr>
        <p:spPr>
          <a:xfrm>
            <a:off x="8686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NEAR-TERM &lt;6mo.</a:t>
            </a:r>
          </a:p>
        </p:txBody>
      </p:sp>
      <p:sp>
        <p:nvSpPr>
          <p:cNvPr id="8" name="Phase1Heading"/>
          <p:cNvSpPr/>
          <p:nvPr/>
        </p:nvSpPr>
        <p:spPr>
          <a:xfrm>
            <a:off x="8686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Expand the Context Surface</a:t>
            </a:r>
          </a:p>
        </p:txBody>
      </p:sp>
      <p:sp>
        <p:nvSpPr>
          <p:cNvPr id="9" name="Phase1Content"/>
          <p:cNvSpPr/>
          <p:nvPr/>
        </p:nvSpPr>
        <p:spPr>
          <a:xfrm>
            <a:off x="8686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Linear, GitHub, MS Office, Google Drive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Every new integration deepens the accumulation moat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Cross-platform knowledge is what makes agents intelligent</a:t>
            </a:r>
          </a:p>
        </p:txBody>
      </p:sp>
      <p:sp>
        <p:nvSpPr>
          <p:cNvPr id="10" name="Arrow1"/>
          <p:cNvSpPr/>
          <p:nvPr/>
        </p:nvSpPr>
        <p:spPr>
          <a:xfrm>
            <a:off x="3200000" y="2348661"/>
            <a:ext cx="20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2" name="Phase2Label"/>
          <p:cNvSpPr/>
          <p:nvPr/>
        </p:nvSpPr>
        <p:spPr>
          <a:xfrm>
            <a:off x="36828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MEDIUM-TERM 12-18mo.</a:t>
            </a:r>
          </a:p>
        </p:txBody>
      </p:sp>
      <p:sp>
        <p:nvSpPr>
          <p:cNvPr id="13" name="Phase2Heading"/>
          <p:cNvSpPr/>
          <p:nvPr/>
        </p:nvSpPr>
        <p:spPr>
          <a:xfrm>
            <a:off x="36828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Long-term Autonomy Agent</a:t>
            </a:r>
          </a:p>
        </p:txBody>
      </p:sp>
      <p:sp>
        <p:nvSpPr>
          <p:cNvPr id="14" name="Phase2Content"/>
          <p:cNvSpPr/>
          <p:nvPr/>
        </p:nvSpPr>
        <p:spPr>
          <a:xfrm>
            <a:off x="36828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Move from proactive review to full autonomous execution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Agent drafts, schedules, and acts on your behalf with accumulated context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Trust earned over time: the more it knows you, the more you delegate</a:t>
            </a:r>
          </a:p>
        </p:txBody>
      </p:sp>
      <p:sp>
        <p:nvSpPr>
          <p:cNvPr id="15" name="Arrow2"/>
          <p:cNvSpPr/>
          <p:nvPr/>
        </p:nvSpPr>
        <p:spPr>
          <a:xfrm>
            <a:off x="6014000" y="2348661"/>
            <a:ext cx="20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7" name="Phase3Label"/>
          <p:cNvSpPr/>
          <p:nvPr/>
        </p:nvSpPr>
        <p:spPr>
          <a:xfrm>
            <a:off x="6497080" y="2150000"/>
            <a:ext cx="20342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Arial" pitchFamily="34" charset="0"/>
              </a:rPr>
              <a:t>LONG-TERM +12mo.</a:t>
            </a:r>
          </a:p>
        </p:txBody>
      </p:sp>
      <p:sp>
        <p:nvSpPr>
          <p:cNvPr id="18" name="Phase3Heading"/>
          <p:cNvSpPr/>
          <p:nvPr/>
        </p:nvSpPr>
        <p:spPr>
          <a:xfrm>
            <a:off x="6497080" y="2350000"/>
            <a:ext cx="20342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Agent-to-Agent Protocol</a:t>
            </a:r>
          </a:p>
        </p:txBody>
      </p:sp>
      <p:sp>
        <p:nvSpPr>
          <p:cNvPr id="19" name="Phase3Content"/>
          <p:cNvSpPr/>
          <p:nvPr/>
        </p:nvSpPr>
        <p:spPr>
          <a:xfrm>
            <a:off x="6497080" y="2900000"/>
            <a:ext cx="203424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YARNNN becomes the context layer other agents talk to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Interop with external AI agents via standardized protocol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Platform play: own the work context graph, not just one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600" dirty="0"/>
          </a:p>
        </p:txBody>
      </p:sp>
      <p:sp>
        <p:nvSpPr>
          <p:cNvPr id="4" name="Column 1 Heading"/>
          <p:cNvSpPr/>
          <p:nvPr/>
        </p:nvSpPr>
        <p:spPr>
          <a:xfrm>
            <a:off x="685800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5" name="Col1 Bullet 1"/>
          <p:cNvSpPr/>
          <p:nvPr/>
        </p:nvSpPr>
        <p:spPr>
          <a:xfrm>
            <a:off x="685800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6" name="Col1 Bullet 2"/>
          <p:cNvSpPr/>
          <p:nvPr/>
        </p:nvSpPr>
        <p:spPr>
          <a:xfrm>
            <a:off x="685800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7" name="Col1 Bullet 3"/>
          <p:cNvSpPr/>
          <p:nvPr/>
        </p:nvSpPr>
        <p:spPr>
          <a:xfrm>
            <a:off x="685800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8" name="Column 2 Heading"/>
          <p:cNvSpPr/>
          <p:nvPr/>
        </p:nvSpPr>
        <p:spPr>
          <a:xfrm>
            <a:off x="685800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9" name="Col2 Bullet 1"/>
          <p:cNvSpPr/>
          <p:nvPr/>
        </p:nvSpPr>
        <p:spPr>
          <a:xfrm>
            <a:off x="685800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10" name="Col2 Bullet 2"/>
          <p:cNvSpPr/>
          <p:nvPr/>
        </p:nvSpPr>
        <p:spPr>
          <a:xfrm>
            <a:off x="685800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11" name="Col2 Bullet 3"/>
          <p:cNvSpPr/>
          <p:nvPr/>
        </p:nvSpPr>
        <p:spPr>
          <a:xfrm>
            <a:off x="685800" y="42182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12" name="Column 3 Heading"/>
          <p:cNvSpPr/>
          <p:nvPr/>
        </p:nvSpPr>
        <p:spPr>
          <a:xfrm>
            <a:off x="3318911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3" name="Col3 Bullet 1"/>
          <p:cNvSpPr/>
          <p:nvPr/>
        </p:nvSpPr>
        <p:spPr>
          <a:xfrm>
            <a:off x="3318911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4" name="Col3 Bullet 2"/>
          <p:cNvSpPr/>
          <p:nvPr/>
        </p:nvSpPr>
        <p:spPr>
          <a:xfrm>
            <a:off x="3318911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5" name="Col3 Bullet 3"/>
          <p:cNvSpPr/>
          <p:nvPr/>
        </p:nvSpPr>
        <p:spPr>
          <a:xfrm>
            <a:off x="3318911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6" name="Divider Line"/>
          <p:cNvSpPr/>
          <p:nvPr/>
        </p:nvSpPr>
        <p:spPr>
          <a:xfrm>
            <a:off x="685800" y="146304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Column 3 Heading">
            <a:extLst>
              <a:ext uri="{FF2B5EF4-FFF2-40B4-BE49-F238E27FC236}">
                <a16:creationId xmlns:a16="http://schemas.microsoft.com/office/drawing/2014/main" id="{44479857-56B0-10D6-65A7-227DCF3397A4}"/>
              </a:ext>
            </a:extLst>
          </p:cNvPr>
          <p:cNvSpPr/>
          <p:nvPr/>
        </p:nvSpPr>
        <p:spPr>
          <a:xfrm>
            <a:off x="3318911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18" name="Col3 Bullet 1">
            <a:extLst>
              <a:ext uri="{FF2B5EF4-FFF2-40B4-BE49-F238E27FC236}">
                <a16:creationId xmlns:a16="http://schemas.microsoft.com/office/drawing/2014/main" id="{95DFF53C-D704-7D38-3F2B-BDC1756CC42E}"/>
              </a:ext>
            </a:extLst>
          </p:cNvPr>
          <p:cNvSpPr/>
          <p:nvPr/>
        </p:nvSpPr>
        <p:spPr>
          <a:xfrm>
            <a:off x="3318911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2" name="Col3 Bullet 2">
            <a:extLst>
              <a:ext uri="{FF2B5EF4-FFF2-40B4-BE49-F238E27FC236}">
                <a16:creationId xmlns:a16="http://schemas.microsoft.com/office/drawing/2014/main" id="{1A2F697E-B701-20E4-109E-6B005E96A48A}"/>
              </a:ext>
            </a:extLst>
          </p:cNvPr>
          <p:cNvSpPr/>
          <p:nvPr/>
        </p:nvSpPr>
        <p:spPr>
          <a:xfrm>
            <a:off x="3318911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4" name="Column 3 Heading">
            <a:extLst>
              <a:ext uri="{FF2B5EF4-FFF2-40B4-BE49-F238E27FC236}">
                <a16:creationId xmlns:a16="http://schemas.microsoft.com/office/drawing/2014/main" id="{DC311793-3676-54EE-23C1-C4CACBF0ADAE}"/>
              </a:ext>
            </a:extLst>
          </p:cNvPr>
          <p:cNvSpPr/>
          <p:nvPr/>
        </p:nvSpPr>
        <p:spPr>
          <a:xfrm>
            <a:off x="6355080" y="183112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25" name="Col3 Bullet 1">
            <a:extLst>
              <a:ext uri="{FF2B5EF4-FFF2-40B4-BE49-F238E27FC236}">
                <a16:creationId xmlns:a16="http://schemas.microsoft.com/office/drawing/2014/main" id="{3B264F69-2732-0C6D-00B3-D2EEF6FB6B1A}"/>
              </a:ext>
            </a:extLst>
          </p:cNvPr>
          <p:cNvSpPr/>
          <p:nvPr/>
        </p:nvSpPr>
        <p:spPr>
          <a:xfrm>
            <a:off x="6355080" y="21054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sill pre-mature</a:t>
            </a:r>
            <a:endParaRPr lang="en-US" sz="1000" dirty="0"/>
          </a:p>
        </p:txBody>
      </p:sp>
      <p:sp>
        <p:nvSpPr>
          <p:cNvPr id="26" name="Col3 Bullet 2">
            <a:extLst>
              <a:ext uri="{FF2B5EF4-FFF2-40B4-BE49-F238E27FC236}">
                <a16:creationId xmlns:a16="http://schemas.microsoft.com/office/drawing/2014/main" id="{20C51AB1-3282-0099-46F4-1A028834CC6B}"/>
              </a:ext>
            </a:extLst>
          </p:cNvPr>
          <p:cNvSpPr/>
          <p:nvPr/>
        </p:nvSpPr>
        <p:spPr>
          <a:xfrm>
            <a:off x="6355080" y="23340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28" name="Column 3 Heading">
            <a:extLst>
              <a:ext uri="{FF2B5EF4-FFF2-40B4-BE49-F238E27FC236}">
                <a16:creationId xmlns:a16="http://schemas.microsoft.com/office/drawing/2014/main" id="{B85AE604-FD8F-4CC2-5349-DC6CE8F15261}"/>
              </a:ext>
            </a:extLst>
          </p:cNvPr>
          <p:cNvSpPr/>
          <p:nvPr/>
        </p:nvSpPr>
        <p:spPr>
          <a:xfrm>
            <a:off x="6355080" y="347527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Col3 Bullet 1">
            <a:extLst>
              <a:ext uri="{FF2B5EF4-FFF2-40B4-BE49-F238E27FC236}">
                <a16:creationId xmlns:a16="http://schemas.microsoft.com/office/drawing/2014/main" id="{2B14803B-EC1A-B045-314A-7AE2A5F2C587}"/>
              </a:ext>
            </a:extLst>
          </p:cNvPr>
          <p:cNvSpPr/>
          <p:nvPr/>
        </p:nvSpPr>
        <p:spPr>
          <a:xfrm>
            <a:off x="6355080" y="374959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0" name="Col3 Bullet 2">
            <a:extLst>
              <a:ext uri="{FF2B5EF4-FFF2-40B4-BE49-F238E27FC236}">
                <a16:creationId xmlns:a16="http://schemas.microsoft.com/office/drawing/2014/main" id="{309504BE-F172-A791-5031-DDC5627C1CF8}"/>
              </a:ext>
            </a:extLst>
          </p:cNvPr>
          <p:cNvSpPr/>
          <p:nvPr/>
        </p:nvSpPr>
        <p:spPr>
          <a:xfrm>
            <a:off x="6355080" y="403534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Big players can’t do cross data accumulations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3972-D4E8-3BBD-CBCA-53AC7B28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5D71C99A-C2FE-84DF-3BDB-16D910F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27" y="1961967"/>
            <a:ext cx="674702" cy="674702"/>
          </a:xfrm>
          <a:prstGeom prst="rect">
            <a:avLst/>
          </a:prstGeom>
        </p:spPr>
      </p:pic>
      <p:sp>
        <p:nvSpPr>
          <p:cNvPr id="6" name="Contact Line">
            <a:extLst>
              <a:ext uri="{FF2B5EF4-FFF2-40B4-BE49-F238E27FC236}">
                <a16:creationId xmlns:a16="http://schemas.microsoft.com/office/drawing/2014/main" id="{6C989BC5-3F86-0324-C1B5-B82645D8852E}"/>
              </a:ext>
            </a:extLst>
          </p:cNvPr>
          <p:cNvSpPr/>
          <p:nvPr/>
        </p:nvSpPr>
        <p:spPr>
          <a:xfrm>
            <a:off x="685800" y="46863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Kevin Kim  ·  kvkthecreator@gmail.com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F47C0-24C1-1792-59B8-99C400CF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2552147"/>
            <a:ext cx="1117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FounderNam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</a:t>
            </a:r>
          </a:p>
        </p:txBody>
      </p:sp>
      <p:sp>
        <p:nvSpPr>
          <p:cNvPr id="4" name="Founder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2148397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BioBlock"/>
          <p:cNvSpPr/>
          <p:nvPr/>
        </p:nvSpPr>
        <p:spPr>
          <a:xfrm>
            <a:off x="685799" y="2369597"/>
            <a:ext cx="7312981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B.S. Industrial and Systems Engineering, Virginia Tech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+10 years designing CRM and GTM systems in FMCG. </a:t>
            </a:r>
          </a:p>
          <a:p>
            <a:pPr marL="0" indent="0">
              <a:buNone/>
            </a:pPr>
            <a:br>
              <a:rPr lang="en-US" sz="1100" dirty="0">
                <a:solidFill>
                  <a:srgbClr val="444444"/>
                </a:solidFill>
                <a:latin typeface="Arial" pitchFamily="34" charset="0"/>
              </a:rPr>
            </a:b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CMO, CPO positions in Korea based startups, Ran e-commerce fashion brand for 5 years, </a:t>
            </a:r>
          </a:p>
          <a:p>
            <a:pPr marL="0" indent="0">
              <a:buNone/>
            </a:pPr>
            <a:br>
              <a:rPr lang="en-US" sz="1100" dirty="0">
                <a:solidFill>
                  <a:srgbClr val="444444"/>
                </a:solidFill>
                <a:latin typeface="Arial" pitchFamily="34" charset="0"/>
              </a:rPr>
            </a:b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Full-stack application for yarnnn, (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Next.js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FastAPI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Supabase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), four platform integrations, unified agent architecture documented across 115+ Architecture Decision Records.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Targeting US market; execute GTM and team-building as priority next step.</a:t>
            </a:r>
          </a:p>
        </p:txBody>
      </p:sp>
      <p:sp>
        <p:nvSpPr>
          <p:cNvPr id="7" name="LinkedInLabel"/>
          <p:cNvSpPr/>
          <p:nvPr/>
        </p:nvSpPr>
        <p:spPr>
          <a:xfrm>
            <a:off x="685799" y="169164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buNone/>
            </a:pPr>
            <a:r>
              <a:rPr lang="en-US" sz="1000" dirty="0">
                <a:effectLst/>
                <a:latin typeface="Calibri" panose="020F0502020204030204" pitchFamily="34" charset="0"/>
                <a:hlinkClick r:id="rId3"/>
              </a:rPr>
              <a:t>https://www.linkedin.com/in/kimseulki0727/</a:t>
            </a:r>
            <a:endParaRPr lang="en-US" sz="10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ContactLine"/>
          <p:cNvSpPr/>
          <p:nvPr/>
        </p:nvSpPr>
        <p:spPr>
          <a:xfrm>
            <a:off x="685800" y="440000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</a:rPr>
              <a:t>kvkthecreator@gmail.com  ·  yarnnn.com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 9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YARNNN Replaces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workflows. Before: manual, fragmented, time-consuming. After: autonomous, cross-platform, improving.</a:t>
            </a:r>
          </a:p>
        </p:txBody>
      </p:sp>
      <p:sp>
        <p:nvSpPr>
          <p:cNvPr id="5" name="Card1"/>
          <p:cNvSpPr/>
          <p:nvPr/>
        </p:nvSpPr>
        <p:spPr>
          <a:xfrm>
            <a:off x="685800" y="1970843"/>
            <a:ext cx="2200000" cy="2263806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Monday Catchup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Slack. Scroll 14 channels. Open Gmail. Scan 40 emails. 45 minutes gone.</a:t>
            </a: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Recap Agent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brief. All platforms. Waiting at 8am. 0 minutes of your time.</a:t>
            </a:r>
          </a:p>
        </p:txBody>
      </p:sp>
      <p:sp>
        <p:nvSpPr>
          <p:cNvPr id="6" name="Arrow1"/>
          <p:cNvSpPr/>
          <p:nvPr/>
        </p:nvSpPr>
        <p:spPr>
          <a:xfrm>
            <a:off x="298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7" name="Card2"/>
          <p:cNvSpPr/>
          <p:nvPr/>
        </p:nvSpPr>
        <p:spPr>
          <a:xfrm>
            <a:off x="3435800" y="1970843"/>
            <a:ext cx="2200000" cy="2263806"/>
          </a:xfrm>
          <a:prstGeom prst="rect">
            <a:avLst/>
          </a:prstGeom>
          <a:solidFill>
            <a:srgbClr val="E8985E"/>
          </a:solidFill>
          <a:ln>
            <a:solidFill>
              <a:srgbClr val="E8985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Client Status Update</a:t>
            </a:r>
          </a:p>
          <a:p>
            <a:pPr marL="0" indent="0">
              <a:buNone/>
            </a:pPr>
            <a:endParaRPr lang="en-US" sz="900" i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from Slack. Paste into doc. Check Gmail. Rewrite for client tone. 2 hours, every week.</a:t>
            </a:r>
          </a:p>
          <a:p>
            <a:pPr marL="0" indent="0">
              <a:buNone/>
            </a:pPr>
            <a:endParaRPr lang="en-US" sz="9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Status Agent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from all platforms. 12 weeks of accumulated context. Draft arrives Friday 5pm.</a:t>
            </a:r>
          </a:p>
        </p:txBody>
      </p:sp>
      <p:sp>
        <p:nvSpPr>
          <p:cNvPr id="8" name="Arrow2"/>
          <p:cNvSpPr/>
          <p:nvPr/>
        </p:nvSpPr>
        <p:spPr>
          <a:xfrm>
            <a:off x="573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" name="Card3"/>
          <p:cNvSpPr/>
          <p:nvPr/>
        </p:nvSpPr>
        <p:spPr>
          <a:xfrm>
            <a:off x="6185800" y="1970843"/>
            <a:ext cx="2200000" cy="2263806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Meeting Prep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Slack. Search Gmail. Check LinkedIn. Skim Notion. Scramble 10 minutes before the call.</a:t>
            </a:r>
          </a:p>
          <a:p>
            <a:pPr marL="0" indent="0">
              <a:buNone/>
            </a:pPr>
            <a:endParaRPr lang="en-US" sz="90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00" b="1" dirty="0">
              <a:solidFill>
                <a:srgbClr val="E8985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Meeting Prep Agent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auto-generated from calendar. Full context. Delivered 30 min before. Every time.</a:t>
            </a:r>
          </a:p>
        </p:txBody>
      </p:sp>
      <p:sp>
        <p:nvSpPr>
          <p:cNvPr id="10" name="Bottom Insight"/>
          <p:cNvSpPr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gets better with tenure. The 12th weekly update needs zero corrections.</a:t>
            </a:r>
          </a:p>
        </p:txBody>
      </p:sp>
    </p:spTree>
    <p:extLst>
      <p:ext uri="{BB962C8B-B14F-4D97-AF65-F5344CB8AC3E}">
        <p14:creationId xmlns:p14="http://schemas.microsoft.com/office/powerpoint/2010/main" val="418631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1760</Words>
  <Application>Microsoft Macintosh PowerPoint</Application>
  <PresentationFormat>On-screen Show (16:9)</PresentationFormat>
  <Paragraphs>328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yarnnn - IR Deck v13</dc:title>
  <dc:subject>PptxGenJS Presentation</dc:subject>
  <dc:creator>Kevin Kim</dc:creator>
  <cp:lastModifiedBy>SEULKI KIM</cp:lastModifiedBy>
  <cp:revision>20</cp:revision>
  <dcterms:created xsi:type="dcterms:W3CDTF">2026-02-24T04:44:42Z</dcterms:created>
  <dcterms:modified xsi:type="dcterms:W3CDTF">2026-03-11T11:50:41Z</dcterms:modified>
</cp:coreProperties>
</file>