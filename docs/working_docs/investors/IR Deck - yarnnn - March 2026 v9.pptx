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27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1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4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53" y="523620"/>
            <a:ext cx="650335" cy="650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43824"/>
            <a:ext cx="7315200" cy="79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Employees, </a:t>
            </a:r>
          </a:p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Not AI Tools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914400" y="2905799"/>
            <a:ext cx="7315200" cy="91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2026</a:t>
            </a:r>
          </a:p>
          <a:p>
            <a:pPr marL="0" indent="0" algn="ctr">
              <a:buNone/>
            </a:pPr>
            <a:endParaRPr lang="en-US" sz="140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agents that accumulate expertise and deliver compounding work products.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EA9B0D2-D303-4136-3B31-F93B82EBB271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75332A-BC05-D4D4-5035-BE45A960C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769" y="1344571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is bifurcating.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agent wave is here. OpenClaw: 307K GitHub stars in 60 days. Claude shipped Cowork. Cursor has a million daily users. Massive demand for AI that does real work.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product in this wave is a tool. Session-scoped. User-present. Stateless between runs. Recurring knowledge work requires something structurally different.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3716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platform cycle looks that way — until it doesn't.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didn't become Salesforce.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didn't become Shopify.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didn't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approaches to AI agents. Only one builds employees.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50164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15924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307K stars. Open-source. Session-scoped — resets every time. No scheduling, no memory.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50164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15924" y="2331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desktop agent. Powerful in-session. No persistence, no autonomy.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50164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5924" y="2834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AI employees. Persistent. Autonomous. Cross-platform. Accumulates — never resets.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7355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50164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5924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reset every session. Employees accumulate over months. The gap is structural.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 sz="140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and Cowork validate massive demand for AI that does real work. But tools reset. yarnnn is the only product where that work compounds.</a:t>
            </a:r>
            <a:endParaRPr lang="en-US" sz="1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AI employees do that tools can’t.</a:t>
            </a:r>
            <a:endParaRPr lang="en-US" sz="2400" dirty="0"/>
          </a:p>
        </p:txBody>
      </p:sp>
      <p:sp>
        <p:nvSpPr>
          <p:cNvPr id="4" name="Item 1"/>
          <p:cNvSpPr/>
          <p:nvPr/>
        </p:nvSpPr>
        <p:spPr>
          <a:xfrm>
            <a:off x="640080" y="128016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Work autonomously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Run on schedule — nights, weekends, holidays. Recurring deliverables arrive on time, every time.</a:t>
            </a:r>
            <a:endParaRPr lang="en-US" sz="1050" dirty="0"/>
          </a:p>
        </p:txBody>
      </p:sp>
      <p:sp>
        <p:nvSpPr>
          <p:cNvPr id="5" name="Item 2"/>
          <p:cNvSpPr/>
          <p:nvPr/>
        </p:nvSpPr>
        <p:spPr>
          <a:xfrm>
            <a:off x="640080" y="174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Accumulate expertise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Every run deepens domain knowledge. Every edit teaches preferences. 90 days of tenure is irreplaceable.</a:t>
            </a:r>
            <a:endParaRPr lang="en-US" sz="1050" dirty="0"/>
          </a:p>
        </p:txBody>
      </p:sp>
      <p:sp>
        <p:nvSpPr>
          <p:cNvPr id="6" name="Item 3"/>
          <p:cNvSpPr/>
          <p:nvPr/>
        </p:nvSpPr>
        <p:spPr>
          <a:xfrm>
            <a:off x="640080" y="220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Perceive across platforms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Slack, Notion, GitHub syncing continuously. Cross-platform awareness no single tool has.</a:t>
            </a:r>
            <a:endParaRPr lang="en-US" sz="1050" dirty="0"/>
          </a:p>
        </p:txBody>
      </p:sp>
      <p:sp>
        <p:nvSpPr>
          <p:cNvPr id="7" name="Item 4"/>
          <p:cNvSpPr/>
          <p:nvPr/>
        </p:nvSpPr>
        <p:spPr>
          <a:xfrm>
            <a:off x="640080" y="266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Coordinate as a team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10-agent roster + task pipeline. Autonomous execution, not solo prompting.</a:t>
            </a:r>
            <a:endParaRPr lang="en-US" sz="1050" dirty="0"/>
          </a:p>
        </p:txBody>
      </p:sp>
      <p:sp>
        <p:nvSpPr>
          <p:cNvPr id="8" name="Item 5"/>
          <p:cNvSpPr/>
          <p:nvPr/>
        </p:nvSpPr>
        <p:spPr>
          <a:xfrm>
            <a:off x="640080" y="312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Deliver real work product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Weekly briefs, research reports, competitive intel. Not chat responses — formatted deliverables.</a:t>
            </a:r>
            <a:endParaRPr lang="en-US" sz="1050" dirty="0"/>
          </a:p>
        </p:txBody>
      </p:sp>
      <p:sp>
        <p:nvSpPr>
          <p:cNvPr id="9" name="Callout Box"/>
          <p:cNvSpPr/>
          <p:nvPr/>
        </p:nvSpPr>
        <p:spPr>
          <a:xfrm>
            <a:off x="640080" y="3700000"/>
            <a:ext cx="7863840" cy="73152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Callout Text"/>
          <p:cNvSpPr/>
          <p:nvPr/>
        </p:nvSpPr>
        <p:spPr>
          <a:xfrm>
            <a:off x="822960" y="3780000"/>
            <a:ext cx="7498080" cy="57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employee layer. Not a better chatbot — a new category of autonomous knowledge worker.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Your AI Employees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workforce. Ready on day 1.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2940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Dump, Connect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work. Your AI employees are pre-built and ready.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60604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1779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Ready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assigned to the right specialist. Context loading begins.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75488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2060" y="374348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knowledge. Every edit refines quality. Teams coordinate.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90372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37522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coordination matures. Cross-phase handoffs refine. Output quality compounds.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82499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0292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1" name="Image 0" descr="/sessions/focused-upbeat-hopper/mnt/yarnnn/docs/working_docs/assets/page_TP(chat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7480" y="1618083"/>
            <a:ext cx="1828800" cy="158314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65176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3" name="Image 1" descr="/sessions/focused-upbeat-hopper/mnt/yarnnn/docs/working_docs/assets/page_syste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18083"/>
            <a:ext cx="1828800" cy="158314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80060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5" name="Image 2" descr="/sessions/focused-upbeat-hopper/mnt/yarnnn/docs/working_docs/assets/page_deliverabl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320" y="1554090"/>
            <a:ext cx="1828800" cy="158314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94944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7" name="Image 3" descr="/sessions/focused-upbeat-hopper/mnt/yarnnn/docs/working_docs/assets/page_context(slack)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554090"/>
            <a:ext cx="1828800" cy="1583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Employees Work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behind autonomous employees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systems that work together. Each one compounds with tenure.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267" y="1828693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68267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MCP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267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· GitHub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3578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263578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3578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Accumulated intelligence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889" y="1828800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3758889" y="187452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889" y="237744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AGENT.md + TASK.md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+ memory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4200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254200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4200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10-agent roster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pipeline + compose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9511" y="1805940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749511" y="185166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9511" y="235458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PPTX · XLSX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3604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 can't replicate this: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(OpenClaw, Cowork, Claude Code)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Session-scoped. User must be present. Context resets between runs. No autonomous execution.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Memory Startups (Mem.ai, Granola)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without execution. Recall facts but don’t produce autonomous work products.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 AI, Gemini)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Single-platform. No cross-platform synthesis. No cross-LLM continuity.</a:t>
            </a:r>
            <a:endParaRPr lang="en-US" sz="1000" dirty="0"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6B762895-3766-7E59-F7D6-A2F33611841C}"/>
              </a:ext>
            </a:extLst>
          </p:cNvPr>
          <p:cNvCxnSpPr/>
          <p:nvPr/>
        </p:nvCxnSpPr>
        <p:spPr>
          <a:xfrm>
            <a:off x="502920" y="3139725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What your employees deliver.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13 job descriptions across 5 departments. Each is a concrete deliverable with a team of AI employees behind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173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Pipeline (agents)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173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Default cadence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627632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69164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9164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Competitive Intel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9164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2938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Market Research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293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92938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16712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Industry Signal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671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671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242316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47802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47802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Meeting Prep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4780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CRM →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7802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71576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Stakeholder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7157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7157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295351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Project Status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95351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→ CRM →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95351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320954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326440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26440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Slack Recap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26440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26440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Daily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350215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Notion Sync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5021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Notion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50215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375818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3813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CONTENT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81304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Content Brief / Blog Draft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81304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81304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0507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Launch Material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05079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0507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430682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436168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36168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GTM Tracker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3616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36168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461772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02920" y="4809744"/>
            <a:ext cx="8138160" cy="502920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87375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You describe the work. Your employees figure out the team, the handoffs, and the schedule. Deterministic cost, no ad-hoc prompting.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How Employees Onboard and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Like real employees — they learn your business, then produce. And they get better every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Connect Slack, Notion,
GitHub. Context domains
accumulate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4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System reads your work.
Extracts identity, brand,
scopes from docs + chat.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5304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Task Type
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Pick deliverables from
the catalog. Each has a
pre-built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2936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Pipeline
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Task pipeline runs on
schedule. Compose substrate
assembles structured output.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8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Autonomous
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Output compounds weekly.
Feedback refines agents.
Quality improves with use.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2880360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017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What makes this an employee, not a tool: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Job descriptions, not ad-hoc prompts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Every task has a defined execution plan. Employees run on schedule, metered transparently. No prompting required.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Transparent, editable work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TASK.md + AGENT.md define everything. No hidden state. You can read and edit the same files your employees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Tenure creates irreplaceable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Tools reset every session. Employees accumulate expertise. Every run deepens knowledge. 90 days of tenure is irreplaceable.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Tenure Is the Moat. Switching Costs Follow.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reset. Employees accumulate. Every run deepens expertise. Every edit teaches preferences. 90 days of tenure is irreplaceable.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66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7866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Every execution cycle deepens cross-platform understanding. AI employees don’t start from zero — they compound.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066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7866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Cross-LLM Hub: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Cross-LLM continuity via MCP. Every LLM the user connects becomes a client of accumulated context. Network effect compounds.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066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866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Irreversibility: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90 days of accumulated employee intelligence — domain knowledge, learned preferences, feedback history — can’t be replicated by downloading a new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066" y="2423160"/>
            <a:ext cx="1463040" cy="1463040"/>
          </a:xfrm>
          <a:prstGeom prst="ellipse">
            <a:avLst/>
          </a:prstGeom>
          <a:solidFill>
            <a:srgbClr val="E894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217066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1386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15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9946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83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</a:t>
            </a:r>
            <a:endParaRPr lang="en-US" sz="1100" dirty="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16DD62-E25B-D49E-C852-B1BFA1C6DE7D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405786" y="2011680"/>
            <a:ext cx="91440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2BD9378-8CCC-6F5A-2B44-D8B54A898876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7428646" y="3314700"/>
            <a:ext cx="960120" cy="82296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9156217-C786-CD09-58CD-2F6ED9430DEE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rot="5400000" flipH="1" flipV="1">
            <a:off x="5554126" y="2034540"/>
            <a:ext cx="960120" cy="91440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D2523D0D-0180-EBF8-BA4A-B506C0FE5CCA}"/>
              </a:ext>
            </a:extLst>
          </p:cNvPr>
          <p:cNvCxnSpPr>
            <a:cxnSpLocks/>
            <a:stCxn id="16" idx="1"/>
            <a:endCxn id="17" idx="2"/>
          </p:cNvCxnSpPr>
          <p:nvPr/>
        </p:nvCxnSpPr>
        <p:spPr>
          <a:xfrm rot="10800000">
            <a:off x="5576986" y="3246120"/>
            <a:ext cx="82296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sld xmlns="http://schemas.openxmlformats.org/presentationml/2006/main" xmlns:a="http://schemas.openxmlformats.org/drawingml/2006/main" xmlns:a16="http://schemas.microsoft.com/office/drawing/2014/main" xmlns:ns2="http://schemas.microsoft.com/office/powerpoint/2010/main">
  <cSld name="Slide 12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vs. Employees. Two structurally different categories.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43000"/>
            <a:ext cx="7772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local-first wave proves demand. yarnnn is where tool users graduate when they need work to run without them.</a:t>
            </a:r>
            <a:endParaRPr lang="en-US" sz="1200" dirty="0"/>
          </a:p>
        </txBody>
      </sp>
      <graphicFrame>
        <nvGraphicFramePr>
          <cNvPr id="13" name="Table 0"/>
          <cNvGraphicFramePr>
            <a:graphicFrameLocks noGrp="1"/>
          </cNvGraphicFramePr>
          <nvPr>
            <extLst>
              <ext uri="{D42A27DB-BD31-4B8C-83A1-F6EECF244321}">
                <ns2:modId val="1495768405"/>
              </ext>
            </extLst>
          </nvPr>
        </nvGraphicFramePr>
        <xfrm>
          <a:off x="457200" y="1645920"/>
          <a:ext cx="4937760" cy="2712720"/>
        </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val="20000"/>
                    </a:ext>
                  </a:extLst>
                </a:gridCol>
                <a:gridCol w="822960">
                  <a:extLst>
                    <a:ext uri="{9D8B030D-6E8A-4147-A177-3AD203B41FA5}">
                      <a16:colId val="20001"/>
                    </a:ext>
                  </a:extLst>
                </a:gridCol>
                <a:gridCol w="822960">
                  <a:extLst>
                    <a:ext uri="{9D8B030D-6E8A-4147-A177-3AD203B41FA5}">
                      <a16:colId val="20002"/>
                    </a:ext>
                  </a:extLst>
                </a:gridCol>
                <a:gridCol w="822960">
                  <a:extLst>
                    <a:ext uri="{9D8B030D-6E8A-4147-A177-3AD203B41FA5}">
                      <a16:colId val="20003"/>
                    </a:ext>
                  </a:extLst>
                </a:gridCol>
                <a:gridCol w="822960">
                  <a:extLst>
                    <a:ext uri="{9D8B030D-6E8A-4147-A177-3AD203B41FA5}">
                      <a16:colId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yarnnn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Tools (OpenClaw, Claude Code, Cowork)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+ Memory</a:t>
                      </a:r>
                      <a:b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/Claude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Startups (Mem.ai, Granola)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Mem.ai, Genspark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 AI (Notion, Gemini)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Notion, Slack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agent identity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scheduled execution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accumulation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compounds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Scheduled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coordination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Accumulation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Cloud-native (runs without user)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6"/>
                  </a:ext>
                </a:extLst>
              </a:tr>
            </a:tbl>
          </a:graphicData>
        </a:graphic>
      </graphicFrame>
      <sp>
        <nvSpPr>
          <cNvPr id="6" name="Shape 3"/>
          <cNvSpPr/>
          <nvPr/>
        </nvSpPr>
        <spPr>
          <a:xfrm>
            <a:off x="7406641" y="1714500"/>
            <a:ext cx="0" cy="29260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7" name="Shape 4"/>
          <cNvSpPr/>
          <nvPr/>
        </nvSpPr>
        <spPr>
          <a:xfrm>
            <a:off x="5943600" y="3108960"/>
            <a:ext cx="2743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8" name="Text 5"/>
          <cNvSpPr/>
          <nvPr/>
        </nvSpPr>
        <spPr>
          <a:xfrm>
            <a:off x="7040881" y="1531620"/>
            <a:ext cx="731520" cy="2286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900" i="1" dirty="0"/>
          </a:p>
        </txBody>
      </sp>
      <sp>
        <nvSpPr>
          <cNvPr id="9" name="Text 6"/>
          <cNvSpPr/>
          <nvPr/>
        </nvSpPr>
        <spPr>
          <a:xfrm>
            <a:off x="8046720" y="3114941"/>
            <a:ext cx="91440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i="1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</a:t>
            </a:r>
            <a:endParaRPr lang="en-US" sz="900" i="1" dirty="0"/>
          </a:p>
        </txBody>
      </sp>
      <sp>
        <nvSpPr>
          <cNvPr id="10" name="Text 7"/>
          <cNvSpPr/>
          <nvPr/>
        </nvSpPr>
        <spPr>
          <a:xfrm>
            <a:off x="7589520" y="1838200"/>
            <a:ext cx="914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txBody>
      </sp>
      <sp>
        <nvSpPr>
          <cNvPr id="11" name="Text 8"/>
          <cNvSpPr/>
          <nvPr/>
        </nvSpPr>
        <spPr>
          <a:xfrm>
            <a:off x="6217921" y="2537033"/>
            <a:ext cx="914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+ Memory</a:t>
            </a:r>
            <a:endParaRPr lang="en-US" sz="900" dirty="0"/>
          </a:p>
        </txBody>
      </sp>
      <sp>
        <nvSpPr>
          <cNvPr id="12" name="Text 9"/>
          <cNvSpPr/>
          <nvPr/>
        </nvSpPr>
        <spPr>
          <a:xfrm>
            <a:off x="7578411" y="2468880"/>
            <a:ext cx="13716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900" dirty="0"/>
          </a:p>
        </txBody>
      </sp>
      <sp>
        <nvSpPr>
          <cNvPr id="5" name="Text 10"/>
          <cNvSpPr/>
          <nvPr/>
        </nvSpPr>
        <spPr>
          <a:xfrm>
            <a:off x="6217921" y="4045794"/>
            <a:ext cx="914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(Notion, Gemini)</a:t>
            </a:r>
            <a:endParaRPr lang="en-US" sz="900" dirty="0"/>
          </a:p>
        </txBody>
      </sp>
      <sp>
        <nvSpPr>
          <cNvPr id="14" name="Text 11"/>
          <cNvSpPr/>
          <nvPr/>
        </nvSpPr>
        <spPr>
          <a:xfrm>
            <a:off x="7589520" y="4045794"/>
            <a:ext cx="914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  <a:endParaRPr lang="en-US" sz="900" dirty="0"/>
          </a:p>
        </txBody>
      </sp>
    </spTree>
  </cSld>
  <clrMapOvr>
    <a:masterClrMapping/>
  </clrMapOvr>
</sld>
</file>

<file path=ppt/slides/slide13.xml><?xml version="1.0" encoding="utf-8"?>
<sld xmlns="http://schemas.openxmlformats.org/presentationml/2006/main" xmlns:a="http://schemas.openxmlformats.org/drawingml/2006/main">
  <cSld name="Slide 13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88720"/>
            <a:ext cx="7315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txBody>
      </sp>
      <sp>
        <nvSpPr>
          <cNvPr id="5" name="Shape 3"/>
          <cNvSpPr/>
          <nvPr/>
        </nvSpPr>
        <spPr>
          <a:xfrm>
            <a:off x="45720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6" name="Text 4"/>
          <cNvSpPr/>
          <nvPr/>
        </nvSpPr>
        <spPr>
          <a:xfrm>
            <a:off x="59436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txBody>
      </sp>
      <sp>
        <nvSpPr>
          <cNvPr id="7" name="Text 5"/>
          <cNvSpPr/>
          <nvPr/>
        </nvSpPr>
        <spPr>
          <a:xfrm>
            <a:off x="59436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400" dirty="0"/>
          </a:p>
        </txBody>
      </sp>
      <sp>
        <nvSpPr>
          <cNvPr id="8" name="Text 6"/>
          <cNvSpPr/>
          <nvPr/>
        </nvSpPr>
        <spPr>
          <a:xfrm>
            <a:off x="59436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800" dirty="0"/>
          </a:p>
        </txBody>
      </sp>
      <sp>
        <nvSpPr>
          <cNvPr id="9" name="Shape 7"/>
          <cNvSpPr/>
          <nvPr/>
        </nvSpPr>
        <spPr>
          <a:xfrm>
            <a:off x="329184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0" name="Text 8"/>
          <cNvSpPr/>
          <nvPr/>
        </nvSpPr>
        <spPr>
          <a:xfrm>
            <a:off x="342900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txBody>
      </sp>
      <sp>
        <nvSpPr>
          <cNvPr id="11" name="Text 9"/>
          <cNvSpPr/>
          <nvPr/>
        </nvSpPr>
        <spPr>
          <a:xfrm>
            <a:off x="342900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400" dirty="0"/>
          </a:p>
        </txBody>
      </sp>
      <sp>
        <nvSpPr>
          <cNvPr id="12" name="Text 10"/>
          <cNvSpPr/>
          <nvPr/>
        </nvSpPr>
        <spPr>
          <a:xfrm>
            <a:off x="342900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800" dirty="0"/>
          </a:p>
        </txBody>
      </sp>
      <sp>
        <nvSpPr>
          <cNvPr id="13" name="Shape 11"/>
          <cNvSpPr/>
          <nvPr/>
        </nvSpPr>
        <spPr>
          <a:xfrm>
            <a:off x="6126480" y="1645920"/>
            <a:ext cx="2651760" cy="11887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4" name="Text 12"/>
          <cNvSpPr/>
          <nvPr/>
        </nvSpPr>
        <spPr>
          <a:xfrm>
            <a:off x="626364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txBody>
      </sp>
      <sp>
        <nvSpPr>
          <cNvPr id="15" name="Text 13"/>
          <cNvSpPr/>
          <nvPr/>
        </nvSpPr>
        <spPr>
          <a:xfrm>
            <a:off x="626364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400" dirty="0"/>
          </a:p>
        </txBody>
      </sp>
      <sp>
        <nvSpPr>
          <cNvPr id="16" name="Text 14"/>
          <cNvSpPr/>
          <nvPr/>
        </nvSpPr>
        <spPr>
          <a:xfrm>
            <a:off x="626364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800" dirty="0"/>
          </a:p>
        </txBody>
      </sp>
      <sp>
        <nvSpPr>
          <cNvPr id="17" name="Text 15"/>
          <cNvSpPr/>
          <nvPr/>
        </nvSpPr>
        <spPr>
          <a:xfrm>
            <a:off x="640080" y="310896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400" dirty="0"/>
          </a:p>
        </txBody>
      </sp>
      <sp>
        <nvSpPr>
          <cNvPr id="18" name="Text 16"/>
          <cNvSpPr/>
          <nvPr/>
        </nvSpPr>
        <spPr>
          <a:xfrm>
            <a:off x="640080" y="3520440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txBody>
      </sp>
      <sp>
        <nvSpPr>
          <cNvPr id="19" name="Text 17"/>
          <cNvSpPr/>
          <nvPr/>
        </nvSpPr>
        <spPr>
          <a:xfrm>
            <a:off x="1463040" y="3520440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 graduating from AI tools</a:t>
            </a:r>
            <a:endParaRPr lang="en-US" sz="1200" dirty="0"/>
          </a:p>
        </txBody>
      </sp>
      <sp>
        <nvSpPr>
          <cNvPr id="20" name="Text 18"/>
          <cNvSpPr/>
          <nvPr/>
        </nvSpPr>
        <spPr>
          <a:xfrm>
            <a:off x="3566160" y="3520440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100" dirty="0"/>
          </a:p>
        </txBody>
      </sp>
      <sp>
        <nvSpPr>
          <cNvPr id="21" name="Text 19"/>
          <cNvSpPr/>
          <nvPr/>
        </nvSpPr>
        <spPr>
          <a:xfrm>
            <a:off x="640080" y="3904488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txBody>
      </sp>
      <sp>
        <nvSpPr>
          <cNvPr id="22" name="Text 20"/>
          <cNvSpPr/>
          <nvPr/>
        </nvSpPr>
        <spPr>
          <a:xfrm>
            <a:off x="1463040" y="3904488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200" dirty="0"/>
          </a:p>
        </txBody>
      </sp>
      <sp>
        <nvSpPr>
          <cNvPr id="23" name="Text 21"/>
          <cNvSpPr/>
          <nvPr/>
        </nvSpPr>
        <spPr>
          <a:xfrm>
            <a:off x="3566160" y="3904488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100" dirty="0"/>
          </a:p>
        </txBody>
      </sp>
      <sp>
        <nvSpPr>
          <cNvPr id="24" name="Text 22"/>
          <cNvSpPr/>
          <nvPr/>
        </nvSpPr>
        <spPr>
          <a:xfrm>
            <a:off x="640080" y="4288536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100" dirty="0"/>
          </a:p>
        </txBody>
      </sp>
      <sp>
        <nvSpPr>
          <cNvPr id="25" name="Text 23"/>
          <cNvSpPr/>
          <nvPr/>
        </nvSpPr>
        <spPr>
          <a:xfrm>
            <a:off x="1463040" y="4288536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200" dirty="0"/>
          </a:p>
        </txBody>
      </sp>
      <sp>
        <nvSpPr>
          <cNvPr id="26" name="Text 24"/>
          <cNvSpPr/>
          <nvPr/>
        </nvSpPr>
        <spPr>
          <a:xfrm>
            <a:off x="3566160" y="4288536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100" dirty="0"/>
          </a:p>
        </txBody>
      </sp>
      <sp>
        <nvSpPr>
          <cNvPr id="27" name="Text 25"/>
          <cNvSpPr/>
          <nvPr/>
        </nvSpPr>
        <spPr>
          <a:xfrm>
            <a:off x="640080" y="4672584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txBody>
      </sp>
      <sp>
        <nvSpPr>
          <cNvPr id="28" name="Text 26"/>
          <cNvSpPr/>
          <nvPr/>
        </nvSpPr>
        <spPr>
          <a:xfrm>
            <a:off x="1463040" y="4672584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 &amp;#x2014; anyone hiring AI employees instead of operating AI tools</a:t>
            </a:r>
            <a:endParaRPr lang="en-US" sz="1200" dirty="0"/>
          </a:p>
        </txBody>
      </sp>
      <sp>
        <nvSpPr>
          <cNvPr id="29" name="Text 27"/>
          <cNvSpPr/>
          <nvPr/>
        </nvSpPr>
        <spPr>
          <a:xfrm>
            <a:off x="3566160" y="4672584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100" dirty="0"/>
          </a:p>
        </txBody>
      </sp>
    </spTree>
  </cSld>
  <clrMapOvr>
    <a:masterClrMapping/>
  </clrMapOvr>
</sld>
</file>

<file path=ppt/slides/slide14.xml><?xml version="1.0" encoding="utf-8"?>
<sld xmlns="http://schemas.openxmlformats.org/presentationml/2006/main" xmlns:a="http://schemas.openxmlformats.org/drawingml/2006/main">
  <cSld name="Slide 14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Box 1"/>
          <cNvSpPr txBox="1"/>
          <nvPr/>
        </nvSpPr>
        <spPr>
          <a:xfrm>
            <a:off x="502920" y="228600"/>
            <a:ext cx="365760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Pricing Model</a:t>
            </a:r>
          </a:p>
        </txBody>
      </sp>
      <sp>
        <nvSpPr>
          <cNvPr id="3" name="TextBox 2"/>
          <cNvSpPr txBox="1"/>
          <nvPr/>
        </nvSpPr>
        <spPr>
          <a:xfrm>
            <a:off x="502920" y="502920"/>
            <a:ext cx="77724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Usage-first billing. Balance is the single gate.</a:t>
            </a:r>
          </a:p>
        </txBody>
      </sp>
      <sp>
        <nvSpPr>
          <cNvPr id="4" name="Rectangle 3"/>
          <cNvSpPr/>
          <nvPr/>
        </nvSpPr>
        <spPr>
          <a:xfrm>
            <a:off x="64008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5" name="TextBox 4"/>
          <cNvSpPr txBox="1"/>
          <nvPr/>
        </nvSpPr>
        <spPr>
          <a:xfrm>
            <a:off x="82296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Free</a:t>
            </a:r>
          </a:p>
        </txBody>
      </sp>
      <sp>
        <nvSpPr>
          <cNvPr id="6" name="TextBox 5"/>
          <cNvSpPr txBox="1"/>
          <nvPr/>
        </nvSpPr>
        <spPr>
          <a:xfrm>
            <a:off x="82296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$0</a:t>
            </a:r>
          </a:p>
        </txBody>
      </sp>
      <sp>
        <nvSpPr>
          <cNvPr id="7" name="TextBox 6"/>
          <cNvSpPr txBox="1"/>
          <nvPr/>
        </nvSpPr>
        <spPr>
          <a:xfrm>
            <a:off x="201168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txBody>
      </sp>
      <sp>
        <nvSpPr>
          <cNvPr id="8" name="TextBox 7"/>
          <cNvSpPr txBox="1"/>
          <nvPr/>
        </nvSpPr>
        <spPr>
          <a:xfrm>
            <a:off x="82296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$3 signup balance included</a:t>
            </a:r>
          </a:p>
        </txBody>
      </sp>
      <sp>
        <nvSpPr>
          <cNvPr id="9" name="TextBox 8"/>
          <cNvSpPr txBox="1"/>
          <nvPr/>
        </nvSpPr>
        <spPr>
          <a:xfrm>
            <a:off x="82296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All platforms + tasks unlocked</a:t>
            </a:r>
          </a:p>
        </txBody>
      </sp>
      <sp>
        <nvSpPr>
          <cNvPr id="10" name="TextBox 9"/>
          <cNvSpPr txBox="1"/>
          <nvPr/>
        </nvSpPr>
        <spPr>
          <a:xfrm>
            <a:off x="82296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~40 chat turns + 10 task runs</a:t>
            </a:r>
          </a:p>
        </txBody>
      </sp>
      <sp>
        <nvSpPr>
          <cNvPr id="11" name="TextBox 10"/>
          <cNvSpPr txBox="1"/>
          <nvPr/>
        </nvSpPr>
        <spPr>
          <a:xfrm>
            <a:off x="82296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Token spend metered in USD</a:t>
            </a:r>
          </a:p>
        </txBody>
      </sp>
      <sp>
        <nvSpPr>
          <cNvPr id="12" name="TextBox 11"/>
          <cNvSpPr txBox="1"/>
          <nvPr/>
        </nvSpPr>
        <spPr>
          <a:xfrm>
            <a:off x="82296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Top up anytime: $10 / $25 / $50</a:t>
            </a:r>
          </a:p>
        </txBody>
      </sp>
      <sp>
        <nvSpPr>
          <cNvPr id="13" name="Rectangle 12"/>
          <cNvSpPr/>
          <nvPr/>
        </nvSpPr>
        <spPr>
          <a:xfrm>
            <a:off x="333756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14" name="TextBox 13"/>
          <cNvSpPr txBox="1"/>
          <nvPr/>
        </nvSpPr>
        <spPr>
          <a:xfrm>
            <a:off x="352044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Pro</a:t>
            </a:r>
          </a:p>
        </txBody>
      </sp>
      <sp>
        <nvSpPr>
          <cNvPr id="15" name="TextBox 14"/>
          <cNvSpPr txBox="1"/>
          <nvPr/>
        </nvSpPr>
        <spPr>
          <a:xfrm>
            <a:off x="352044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$19</a:t>
            </a:r>
          </a:p>
        </txBody>
      </sp>
      <sp>
        <nvSpPr>
          <cNvPr id="16" name="TextBox 15"/>
          <cNvSpPr txBox="1"/>
          <nvPr/>
        </nvSpPr>
        <spPr>
          <a:xfrm>
            <a:off x="470916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txBody>
      </sp>
      <sp>
        <nvSpPr>
          <cNvPr id="17" name="TextBox 16"/>
          <cNvSpPr txBox="1"/>
          <nvPr/>
        </nvSpPr>
        <spPr>
          <a:xfrm>
            <a:off x="352044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$20/mo balance auto-refills</a:t>
            </a:r>
          </a:p>
        </txBody>
      </sp>
      <sp>
        <nvSpPr>
          <cNvPr id="18" name="TextBox 17"/>
          <cNvSpPr txBox="1"/>
          <nvPr/>
        </nvSpPr>
        <spPr>
          <a:xfrm>
            <a:off x="352044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All platforms + tasks unlocked</a:t>
            </a:r>
          </a:p>
        </txBody>
      </sp>
      <sp>
        <nvSpPr>
          <cNvPr id="19" name="TextBox 18"/>
          <cNvSpPr txBox="1"/>
          <nvPr/>
        </nvSpPr>
        <spPr>
          <a:xfrm>
            <a:off x="352044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Meaningful autonomous workload</a:t>
            </a:r>
          </a:p>
        </txBody>
      </sp>
      <sp>
        <nvSpPr>
          <cNvPr id="20" name="TextBox 19"/>
          <cNvSpPr txBox="1"/>
          <nvPr/>
        </nvSpPr>
        <spPr>
          <a:xfrm>
            <a:off x="352044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$19/mo or $180/yr</a:t>
            </a:r>
          </a:p>
        </txBody>
      </sp>
      <sp>
        <nvSpPr>
          <cNvPr id="21" name="TextBox 20"/>
          <cNvSpPr txBox="1"/>
          <nvPr/>
        </nvSpPr>
        <spPr>
          <a:xfrm>
            <a:off x="352044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Best value for regular users</a:t>
            </a:r>
          </a:p>
        </txBody>
      </sp>
      <sp>
        <nvSpPr>
          <cNvPr id="22" name="Rectangle 21"/>
          <cNvSpPr/>
          <nvPr/>
        </nvSpPr>
        <spPr>
          <a:xfrm>
            <a:off x="6035040" y="1188720"/>
            <a:ext cx="2468880" cy="2926080"/>
          </a:xfrm>
          <a:prstGeom prst="rect">
            <a:avLst/>
          </a:prstGeom>
          <a:solidFill>
            <a:srgbClr val="E8943B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23" name="TextBox 22"/>
          <cNvSpPr txBox="1"/>
          <nvPr/>
        </nvSpPr>
        <spPr>
          <a:xfrm>
            <a:off x="621792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Enterprise</a:t>
            </a:r>
          </a:p>
        </txBody>
      </sp>
      <sp>
        <nvSpPr>
          <cNvPr id="24" name="TextBox 23"/>
          <cNvSpPr txBox="1"/>
          <nvPr/>
        </nvSpPr>
        <spPr>
          <a:xfrm>
            <a:off x="621792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TBD</a:t>
            </a:r>
          </a:p>
        </txBody>
      </sp>
      <sp>
        <nvSpPr>
          <cNvPr id="25" name="TextBox 24"/>
          <cNvSpPr txBox="1"/>
          <nvPr/>
        </nvSpPr>
        <spPr>
          <a:xfrm>
            <a:off x="740664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FFE8D0"/>
                </a:solidFill>
                <a:latin typeface="Arial"/>
              </a:rPr>
              <a:t>/mo</a:t>
            </a:r>
          </a:p>
        </txBody>
      </sp>
      <sp>
        <nvSpPr>
          <cNvPr id="26" name="TextBox 25"/>
          <cNvSpPr txBox="1"/>
          <nvPr/>
        </nvSpPr>
        <spPr>
          <a:xfrm>
            <a:off x="621792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Everything in Pro</a:t>
            </a:r>
          </a:p>
        </txBody>
      </sp>
      <sp>
        <nvSpPr>
          <cNvPr id="27" name="TextBox 26"/>
          <cNvSpPr txBox="1"/>
          <nvPr/>
        </nvSpPr>
        <spPr>
          <a:xfrm>
            <a:off x="621792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Team workspaces</a:t>
            </a:r>
          </a:p>
        </txBody>
      </sp>
      <sp>
        <nvSpPr>
          <cNvPr id="28" name="TextBox 27"/>
          <cNvSpPr txBox="1"/>
          <nvPr/>
        </nvSpPr>
        <spPr>
          <a:xfrm>
            <a:off x="621792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Priority support</a:t>
            </a:r>
          </a:p>
        </txBody>
      </sp>
      <sp>
        <nvSpPr>
          <cNvPr id="29" name="TextBox 28"/>
          <cNvSpPr txBox="1"/>
          <nvPr/>
        </nvSpPr>
        <spPr>
          <a:xfrm>
            <a:off x="621792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Custom integrations</a:t>
            </a:r>
          </a:p>
        </txBody>
      </sp>
      <sp>
        <nvSpPr>
          <cNvPr id="30" name="TextBox 29"/>
          <cNvSpPr txBox="1"/>
          <nvPr/>
        </nvSpPr>
        <spPr>
          <a:xfrm>
            <a:off x="621792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Agent-to-agent protocol</a:t>
            </a:r>
          </a:p>
        </txBody>
      </sp>
      <sp>
        <nvSpPr>
          <cNvPr id="31" name="TextBox 30"/>
          <cNvSpPr txBox="1"/>
          <nvPr/>
        </nvSpPr>
        <spPr>
          <a:xfrm>
            <a:off x="502920" y="4297680"/>
            <a:ext cx="822960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2x markup on Anthropic API rates = ~50% gross margin. No operational limits. Balance is the single gate.</a:t>
            </a:r>
          </a:p>
        </txBody>
      </sp>
      <sp>
        <nvSpPr>
          <cNvPr id="32" name="TextBox 31"/>
          <cNvSpPr txBox="1"/>
          <nvPr/>
        </nvSpPr>
        <spPr>
          <a:xfrm>
            <a:off x="502920" y="4572000"/>
            <a:ext cx="8229600" cy="18288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Every LLM call metered transparently in USD. Users see exactly what they spend. You pay employees, not for features.</a:t>
            </a:r>
          </a:p>
        </txBody>
      </sp>
    </spTree>
  </cSld>
  <clrMapOvr>
    <a:masterClrMapping/>
  </clrMapOvr>
</sld>
</file>

<file path=ppt/slides/slide15.xml><?xml version="1.0" encoding="utf-8"?>
<sld xmlns="http://schemas.openxmlformats.org/presentationml/2006/main" xmlns:a="http://schemas.openxmlformats.org/drawingml/2006/main">
  <cSld name="Slide 15">
    <bg>
      <bgPr>
        <a:solidFill>
          <a:srgbClr val="F9F9F9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Workforce + MCP Hub (shipped) → Platform Expansion → Agent Protocol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43000"/>
            <a:ext cx="7772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deepens the value chain. Shipped work compounds into the next layer of capability.</a:t>
            </a:r>
            <a:endParaRPr lang="en-US" sz="1050" dirty="0"/>
          </a:p>
        </txBody>
      </sp>
      <sp>
        <nvSpPr>
          <cNvPr id="5" name="Shape 3"/>
          <cNvSpPr/>
          <nvPr/>
        </nvSpPr>
        <spPr>
          <a:xfrm>
            <a:off x="365760" y="1554480"/>
            <a:ext cx="2743200" cy="3383280"/>
          </a:xfrm>
          <a:prstGeom prst="rect">
            <a:avLst/>
          </a:prstGeom>
          <a:solidFill>
            <a:srgbClr val="FDF0E4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6" name="Text 4"/>
          <cNvSpPr/>
          <nvPr/>
        </nvSpPr>
        <spPr>
          <a:xfrm>
            <a:off x="50292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✓</a:t>
            </a:r>
            <a:endParaRPr lang="en-US" sz="900" dirty="0"/>
          </a:p>
        </txBody>
      </sp>
      <sp>
        <nvSpPr>
          <cNvPr id="7" name="Text 5"/>
          <cNvSpPr/>
          <nvPr/>
        </nvSpPr>
        <spPr>
          <a:xfrm>
            <a:off x="50292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600" dirty="0"/>
          </a:p>
        </txBody>
      </sp>
      <sp>
        <nvSpPr>
          <cNvPr id="8" name="Text 6"/>
          <cNvSpPr/>
          <nvPr/>
        </nvSpPr>
        <spPr>
          <a:xfrm>
            <a:off x="50292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Work-first onboarding + project scaffolding</a:t>
            </a:r>
            <a:endParaRPr lang="en-US" sz="800" dirty="0"/>
          </a:p>
        </txBody>
      </sp>
      <sp>
        <nvSpPr>
          <cNvPr id="9" name="Text 7"/>
          <cNvSpPr/>
          <nvPr/>
        </nvSpPr>
        <spPr>
          <a:xfrm>
            <a:off x="50292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phase dispatch + quality gating</a:t>
            </a:r>
            <a:endParaRPr lang="en-US" sz="800" dirty="0"/>
          </a:p>
        </txBody>
      </sp>
      <sp>
        <nvSpPr>
          <cNvPr id="10" name="Text 8"/>
          <cNvSpPr/>
          <nvPr/>
        </nvSpPr>
        <spPr>
          <a:xfrm>
            <a:off x="50292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 types (three-registry)</a:t>
            </a:r>
            <a:endParaRPr lang="en-US" sz="800" dirty="0"/>
          </a:p>
        </txBody>
      </sp>
      <sp>
        <nvSpPr>
          <cNvPr id="11" name="Text 9"/>
          <cNvSpPr/>
          <nvPr/>
        </nvSpPr>
        <spPr>
          <a:xfrm>
            <a:off x="502920" y="347472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gateway: HTML compose, PDF, PPTX, XLSX</a:t>
            </a:r>
            <a:endParaRPr lang="en-US" sz="800" dirty="0"/>
          </a:p>
        </txBody>
      </sp>
      <sp>
        <nvSpPr>
          <cNvPr id="12" name="Text 10"/>
          <cNvSpPr/>
          <nvPr/>
        </nvSpPr>
        <spPr>
          <a:xfrm>
            <a:off x="502920" y="379476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substrate: edit distillation + self-reflection</a:t>
            </a:r>
            <a:endParaRPr lang="en-US" sz="800" dirty="0"/>
          </a:p>
        </txBody>
      </sp>
      <sp>
        <nvSpPr>
          <cNvPr id="13" name="Text 11"/>
          <cNvSpPr/>
          <nvPr/>
        </nvSpPr>
        <spPr>
          <a:xfrm>
            <a:off x="502920" y="41148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 + cross-agent collaboration</a:t>
            </a:r>
            <a:endParaRPr lang="en-US" sz="800" dirty="0"/>
          </a:p>
        </txBody>
      </sp>
      <sp>
        <nvSpPr>
          <cNvPr id="14" name="Text 12"/>
          <cNvSpPr/>
          <nvPr/>
        </nvSpPr>
        <spPr>
          <a:xfrm>
            <a:off x="502920" y="44348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170+ Architecture Decision Records</a:t>
            </a:r>
            <a:endParaRPr lang="en-US" sz="800" dirty="0"/>
          </a:p>
        </txBody>
      </sp>
      <sp>
        <nvSpPr>
          <cNvPr id="15" name="Text 13"/>
          <cNvSpPr/>
          <nvPr/>
        </nvSpPr>
        <spPr>
          <a:xfrm>
            <a:off x="3108960" y="2560320"/>
            <a:ext cx="18288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txBody>
      </sp>
      <sp>
        <nvSpPr>
          <cNvPr id="16" name="Shape 14"/>
          <cNvSpPr/>
          <nvPr/>
        </nvSpPr>
        <spPr>
          <a:xfrm>
            <a:off x="329184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17" name="Text 15"/>
          <cNvSpPr/>
          <nvPr/>
        </nvSpPr>
        <spPr>
          <a:xfrm>
            <a:off x="342900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6-12mo.</a:t>
            </a:r>
            <a:endParaRPr lang="en-US" sz="900" dirty="0"/>
          </a:p>
        </txBody>
      </sp>
      <sp>
        <nvSpPr>
          <cNvPr id="18" name="Text 16"/>
          <cNvSpPr/>
          <nvPr/>
        </nvSpPr>
        <spPr>
          <a:xfrm>
            <a:off x="342900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600" dirty="0"/>
          </a:p>
        </txBody>
      </sp>
      <sp>
        <nvSpPr>
          <cNvPr id="19" name="Text 17"/>
          <cNvSpPr/>
          <nvPr/>
        </nvSpPr>
        <spPr>
          <a:xfrm>
            <a:off x="342900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Context Hub: cross-LLM continuity (shipped)</a:t>
            </a:r>
            <a:endParaRPr lang="en-US" sz="800" dirty="0"/>
          </a:p>
        </txBody>
      </sp>
      <sp>
        <nvSpPr>
          <cNvPr id="20" name="Text 18"/>
          <cNvSpPr/>
          <nvPr/>
        </nvSpPr>
        <spPr>
          <a:xfrm>
            <a:off x="342900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substrate: section-scoped revision</a:t>
            </a:r>
            <a:endParaRPr lang="en-US" sz="800" dirty="0"/>
          </a:p>
        </txBody>
      </sp>
      <sp>
        <nvSpPr>
          <cNvPr id="21" name="Text 19"/>
          <cNvSpPr/>
          <nvPr/>
        </nvSpPr>
        <spPr>
          <a:xfrm>
            <a:off x="342900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Usage-first billing: token spend metering (shipped)</a:t>
            </a:r>
            <a:endParaRPr lang="en-US" sz="800" dirty="0"/>
          </a:p>
        </txBody>
      </sp>
      <sp>
        <nvSpPr>
          <cNvPr id="22" name="Text 20"/>
          <cNvSpPr/>
          <nvPr/>
        </nvSpPr>
        <spPr>
          <a:xfrm>
            <a:off x="3429000" y="347472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platform coverage: 365, Google Drive</a:t>
            </a:r>
            <a:endParaRPr lang="en-US" sz="800" dirty="0"/>
          </a:p>
        </txBody>
      </sp>
      <sp>
        <nvSpPr>
          <cNvPr id="23" name="Text 21"/>
          <cNvSpPr/>
          <nvPr/>
        </nvSpPr>
        <spPr>
          <a:xfrm>
            <a:off x="6035040" y="2560320"/>
            <a:ext cx="18288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txBody>
      </sp>
      <sp>
        <nvSpPr>
          <cNvPr id="24" name="Shape 22"/>
          <cNvSpPr/>
          <nvPr/>
        </nvSpPr>
        <spPr>
          <a:xfrm>
            <a:off x="621792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25" name="Text 23"/>
          <cNvSpPr/>
          <nvPr/>
        </nvSpPr>
        <spPr>
          <a:xfrm>
            <a:off x="635508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+12mo.</a:t>
            </a:r>
            <a:endParaRPr lang="en-US" sz="900" dirty="0"/>
          </a:p>
        </txBody>
      </sp>
      <sp>
        <nvSpPr>
          <cNvPr id="26" name="Text 24"/>
          <cNvSpPr/>
          <nvPr/>
        </nvSpPr>
        <spPr>
          <a:xfrm>
            <a:off x="635508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600" dirty="0"/>
          </a:p>
        </txBody>
      </sp>
      <sp>
        <nvSpPr>
          <cNvPr id="27" name="Text 25"/>
          <cNvSpPr/>
          <nvPr/>
        </nvSpPr>
        <spPr>
          <a:xfrm>
            <a:off x="635508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protocol. Agents across systems coordinate</a:t>
            </a:r>
            <a:endParaRPr lang="en-US" sz="800" dirty="0"/>
          </a:p>
        </txBody>
      </sp>
      <sp>
        <nvSpPr>
          <cNvPr id="28" name="Text 26"/>
          <cNvSpPr/>
          <nvPr/>
        </nvSpPr>
        <spPr>
          <a:xfrm>
            <a:off x="635508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workspaces: multi-user shared context</a:t>
            </a:r>
            <a:endParaRPr lang="en-US" sz="800" dirty="0"/>
          </a:p>
        </txBody>
      </sp>
      <sp>
        <nvSpPr>
          <cNvPr id="29" name="Text 27"/>
          <cNvSpPr/>
          <nvPr/>
        </nvSpPr>
        <spPr>
          <a:xfrm>
            <a:off x="635508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play: own the work context graph</a:t>
            </a:r>
            <a:endParaRPr lang="en-US" sz="800" dirty="0"/>
          </a:p>
        </txBody>
      </sp>
    </spTree>
  </cSld>
  <clrMapOvr>
    <a:masterClrMapping/>
  </clrMapOvr>
</sld>
</file>

<file path=ppt/slides/slide16.xml><?xml version="1.0" encoding="utf-8"?>
<sld xmlns="http://schemas.openxmlformats.org/presentationml/2006/main" xmlns:a="http://schemas.openxmlformats.org/drawingml/2006/main">
  <cSld name="Slide 16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000" dirty="0"/>
          </a:p>
        </txBody>
      </sp>
      <sp>
        <nvSpPr>
          <cNvPr id="4" name="Shape 2"/>
          <cNvSpPr/>
          <nvPr/>
        </nvSpPr>
        <spPr>
          <a:xfrm>
            <a:off x="45720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5" name="Text 3"/>
          <cNvSpPr/>
          <nvPr/>
        </nvSpPr>
        <spPr>
          <a:xfrm>
            <a:off x="45720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txBody>
      </sp>
      <sp>
        <nvSpPr>
          <cNvPr id="6" name="Text 4"/>
          <cNvSpPr/>
          <nvPr/>
        </nvSpPr>
        <spPr>
          <a:xfrm>
            <a:off x="45720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txBody>
      </sp>
      <sp>
        <nvSpPr>
          <cNvPr id="7" name="Text 5"/>
          <cNvSpPr/>
          <nvPr/>
        </nvSpPr>
        <spPr>
          <a:xfrm>
            <a:off x="45720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txBody>
      </sp>
      <sp>
        <nvSpPr>
          <cNvPr id="8" name="Text 6"/>
          <cNvSpPr/>
          <nvPr/>
        </nvSpPr>
        <spPr>
          <a:xfrm>
            <a:off x="457200" y="236829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txBody>
      </sp>
      <sp>
        <nvSpPr>
          <cNvPr id="9" name="Shape 7"/>
          <cNvSpPr/>
          <nvPr/>
        </nvSpPr>
        <spPr>
          <a:xfrm>
            <a:off x="329184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0" name="Text 8"/>
          <cNvSpPr/>
          <nvPr/>
        </nvSpPr>
        <spPr>
          <a:xfrm>
            <a:off x="329184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txBody>
      </sp>
      <sp>
        <nvSpPr>
          <cNvPr id="11" name="Text 9"/>
          <cNvSpPr/>
          <nvPr/>
        </nvSpPr>
        <spPr>
          <a:xfrm>
            <a:off x="329184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OpenClaw: 307K stars / 60 days</a:t>
            </a:r>
            <a:endParaRPr lang="en-US" sz="1000" dirty="0"/>
          </a:p>
        </txBody>
      </sp>
      <sp>
        <nvSpPr>
          <cNvPr id="12" name="Text 10"/>
          <cNvSpPr/>
          <nvPr/>
        </nvSpPr>
        <spPr>
          <a:xfrm>
            <a:off x="329184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employee layer</a:t>
            </a:r>
            <a:endParaRPr lang="en-US" sz="1000" dirty="0"/>
          </a:p>
        </txBody>
      </sp>
      <sp>
        <nvSpPr>
          <cNvPr id="13" name="Text 11"/>
          <cNvSpPr/>
          <nvPr/>
        </nvSpPr>
        <spPr>
          <a:xfrm>
            <a:off x="3291840" y="236829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txBody>
      </sp>
      <sp>
        <nvSpPr>
          <cNvPr id="14" name="Shape 12"/>
          <cNvSpPr/>
          <nvPr/>
        </nvSpPr>
        <spPr>
          <a:xfrm>
            <a:off x="612648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5" name="Text 13"/>
          <cNvSpPr/>
          <nvPr/>
        </nvSpPr>
        <spPr>
          <a:xfrm>
            <a:off x="612648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txBody>
      </sp>
      <sp>
        <nvSpPr>
          <cNvPr id="16" name="Text 14"/>
          <cNvSpPr/>
          <nvPr/>
        </nvSpPr>
        <spPr>
          <a:xfrm>
            <a:off x="612648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Tools are everywhere. Employees are greenfield.</a:t>
            </a:r>
            <a:endParaRPr lang="en-US" sz="1000" dirty="0"/>
          </a:p>
        </txBody>
      </sp>
      <sp>
        <nvSpPr>
          <cNvPr id="17" name="Text 15"/>
          <cNvSpPr/>
          <nvPr/>
        </nvSpPr>
        <spPr>
          <a:xfrm>
            <a:off x="612648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AI employees, not AI tools</a:t>
            </a:r>
            <a:endParaRPr lang="en-US" sz="1000" dirty="0"/>
          </a:p>
        </txBody>
      </sp>
      <sp>
        <nvSpPr>
          <cNvPr id="18" name="Shape 16"/>
          <cNvSpPr/>
          <nvPr/>
        </nvSpPr>
        <spPr>
          <a:xfrm>
            <a:off x="45720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9" name="Text 17"/>
          <cNvSpPr/>
          <nvPr/>
        </nvSpPr>
        <spPr>
          <a:xfrm>
            <a:off x="45720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txBody>
      </sp>
      <sp>
        <nvSpPr>
          <cNvPr id="20" name="Text 18"/>
          <cNvSpPr/>
          <nvPr/>
        </nvSpPr>
        <spPr>
          <a:xfrm>
            <a:off x="45720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txBody>
      </sp>
      <sp>
        <nvSpPr>
          <cNvPr id="21" name="Text 19"/>
          <cNvSpPr/>
          <nvPr/>
        </nvSpPr>
        <spPr>
          <a:xfrm>
            <a:off x="45720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txBody>
      </sp>
      <sp>
        <nvSpPr>
          <cNvPr id="22" name="Text 20"/>
          <cNvSpPr/>
          <nvPr/>
        </nvSpPr>
        <spPr>
          <a:xfrm>
            <a:off x="457200" y="401421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txBody>
      </sp>
      <sp>
        <nvSpPr>
          <cNvPr id="23" name="Shape 21"/>
          <cNvSpPr/>
          <nvPr/>
        </nvSpPr>
        <spPr>
          <a:xfrm>
            <a:off x="329184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24" name="Text 22"/>
          <cNvSpPr/>
          <nvPr/>
        </nvSpPr>
        <spPr>
          <a:xfrm>
            <a:off x="329184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txBody>
      </sp>
      <sp>
        <nvSpPr>
          <cNvPr id="25" name="Text 23"/>
          <cNvSpPr/>
          <nvPr/>
        </nvSpPr>
        <spPr>
          <a:xfrm>
            <a:off x="329184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Demand proven (307K stars). Employee gap open.</a:t>
            </a:r>
            <a:endParaRPr lang="en-US" sz="1000" dirty="0"/>
          </a:p>
        </txBody>
      </sp>
      <sp>
        <nvSpPr>
          <cNvPr id="26" name="Text 24"/>
          <cNvSpPr/>
          <nvPr/>
        </nvSpPr>
        <spPr>
          <a:xfrm>
            <a:off x="329184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Tools create demand. Employees capture it.</a:t>
            </a:r>
            <a:endParaRPr lang="en-US" sz="1000" dirty="0"/>
          </a:p>
        </txBody>
      </sp>
      <sp>
        <nvSpPr>
          <cNvPr id="27" name="Shape 25"/>
          <cNvSpPr/>
          <nvPr/>
        </nvSpPr>
        <spPr>
          <a:xfrm>
            <a:off x="612648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28" name="Text 26"/>
          <cNvSpPr/>
          <nvPr/>
        </nvSpPr>
        <spPr>
          <a:xfrm>
            <a:off x="612648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txBody>
      </sp>
      <sp>
        <nvSpPr>
          <cNvPr id="29" name="Text 27"/>
          <cNvSpPr/>
          <nvPr/>
        </nvSpPr>
        <spPr>
          <a:xfrm>
            <a:off x="612648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Persistent employees, not session-scoped tools</a:t>
            </a:r>
            <a:endParaRPr lang="en-US" sz="1000" dirty="0"/>
          </a:p>
        </txBody>
      </sp>
      <sp>
        <nvSpPr>
          <cNvPr id="30" name="Text 28"/>
          <cNvSpPr/>
          <nvPr/>
        </nvSpPr>
        <spPr>
          <a:xfrm>
            <a:off x="612648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Cloud-native by structural necessity</a:t>
            </a:r>
            <a:endParaRPr lang="en-US" sz="1000" dirty="0"/>
          </a:p>
        </txBody>
      </sp>
      <sp>
        <nvSpPr>
          <cNvPr id="31" name="Text 29"/>
          <cNvSpPr/>
          <nvPr/>
        </nvSpPr>
        <spPr>
          <a:xfrm>
            <a:off x="6126480" y="401421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170+ ADRs = architectural rigor</a:t>
            </a:r>
            <a:endParaRPr lang="en-US" sz="1000" dirty="0"/>
          </a:p>
        </txBody>
      </sp>
    </spTree>
  </cSld>
  <clrMapOvr>
    <a:masterClrMapping/>
  </clrMapOvr>
</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630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ADF6D-BC9A-C5D6-246F-F756DEDA7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898" y="2651760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(Seul Ki) Kim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000" dirty="0" err="1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www.linkedin.com</a:t>
            </a: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/in/kimseulki0727/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288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640080" y="20920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 Industrial and Systems Engineering, Virginia 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40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years designing CRM and GTM systems in FMCG.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60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CPO positions in Korea based startups, Ran e-commerce fashion brand for 5 years,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72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application for yarnnn, (Next.js + FastAPI + Supabase), two platform integrations,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28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employee architecture with task execution pipeline, documented across 170+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4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40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US market; execute GTM and team-building as priority next step.</a:t>
            </a:r>
            <a:endParaRPr lang="en-US" sz="10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57FF407-4D8F-390F-55CA-087BD5988C05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Value Realization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Experiences: Describe to Compound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→ Scaffold → Connect → First Value → Accumulate → Coordinate → Compound ↻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1607"/>
              </p:ext>
            </p:extLst>
          </p:nvPr>
        </p:nvGraphicFramePr>
        <p:xfrm>
          <a:off x="457200" y="1554480"/>
          <a:ext cx="8229600" cy="2880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user sees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describes work, tasks scaffold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"I've set up 3 projects for your client work"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 connect, sources mapped to tasks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Dashboard: "Slack connected — channels mapped"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T+90s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Scheduler dispatches first task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deliverables appear per 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pulse cycles, agents accumulate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Deliverables arrive, improving each 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Cross-LLM context hub via MCP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collaboration visible in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agents running, feedback refining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noticeably tailored to preferences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identifies cross-task opportunities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understands work deeply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Architecture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Well-Funded Team Can't Shortcut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6" name="Text 4"/>
          <p:cNvSpPr/>
          <p:nvPr/>
        </p:nvSpPr>
        <p:spPr>
          <a:xfrm>
            <a:off x="59436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Code Online" — Output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capabilities model as Claude Code (SKILL.md + local tools + filesystem), but persistent, autonomous, and cloud-native — the structural requirements tools can’t satisfy. Two-filesystem architecture: capability filesystem (skills on Docker) + content filesystem (workspace per agent). Adding a new output format = adding a skill folder.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9" name="Text 7"/>
          <p:cNvSpPr/>
          <p:nvPr/>
        </p:nvSpPr>
        <p:spPr>
          <a:xfrm>
            <a:off x="489204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Task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define execution. Agents dispatched per TASK.md. Cross-agent context injection.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2" name="Text 10"/>
          <p:cNvSpPr/>
          <p:nvPr/>
        </p:nvSpPr>
        <p:spPr>
          <a:xfrm>
            <a:off x="59436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Feedback-to-Intelligence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unified feedback rails: user edits distilled to persistent preferences, agent self-reflection after every run, PM reads contributor trajectories. Employees improve with tenure is structural, not aspirational.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5" name="Text 13"/>
          <p:cNvSpPr/>
          <p:nvPr/>
        </p:nvSpPr>
        <p:spPr>
          <a:xfrm>
            <a:off x="489204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Charter-Driven Deterministic 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charter files (TASK.md + DELIVERABLE.md + AGENT.md) define execution deterministically. Cadence enforcement prevents runaway loops. ~$0.06–$0.16 per task run at steady state. Predictable cost model.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1650"/>
            <a:ext cx="8229600" cy="4572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 sz="1600"/>
          </a:p>
        </p:txBody>
      </p:sp>
      <p:sp>
        <p:nvSpPr>
          <p:cNvPr id="18" name="Text 16"/>
          <p:cNvSpPr/>
          <p:nvPr/>
        </p:nvSpPr>
        <p:spPr>
          <a:xfrm>
            <a:off x="457200" y="415881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 into defensibility: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416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PM coordination can't work without the feedback substrate. The feedback substrate can't work without the workspace filesystem. The workspace filesystem can't work without the perception pipeline populating it. A team starting today would need to discover these interdependencies through the same 170+ decisions — or build a simpler system that can't compound.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rial"/>
              </a:rPr>
              <a:t>Your team. Eight specialists, each with a role.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i="0" dirty="0">
                <a:solidFill>
                  <a:srgbClr val="999999"/>
                </a:solidFill>
                <a:latin typeface="Arial"/>
              </a:rPr>
              <a:t>Persistent identities. Individual memory. Learned preferences. Team collaboration.</a:t>
            </a:r>
            <a:endParaRPr sz="1200" b="0" i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Briefer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Recurring digests from platform activity. Your daily pulse on what happened.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Watches for changes and patterns. Alerts on what matters, ignores what doesn't.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Deep dives with web search. Finds context beyond your connected platforms.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Cross-references sources. Surfaces patterns humans miss across platforms.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Drafter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Produces first drafts from briefs. Turns PM instructions into starting points.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2432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Writer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Polished final output. Blog posts, reports, memos that ship as-is.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Planner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Roadmaps, strategies, structured plans. Turns goals into actionable sequences.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Scout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Tracks competitors and market signals. Watches the outside while you work inside.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32316"/>
            <a:ext cx="8321040" cy="782584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205468"/>
            <a:ext cx="109728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E8873B"/>
                </a:solidFill>
                <a:latin typeface="Arial"/>
              </a:rPr>
              <a:t>P</a:t>
            </a:r>
            <a:r>
              <a:rPr lang="en-US" sz="1300" b="1" i="0" dirty="0">
                <a:solidFill>
                  <a:srgbClr val="E8873B"/>
                </a:solidFill>
                <a:latin typeface="Arial"/>
              </a:rPr>
              <a:t>roject Manager Agent</a:t>
            </a:r>
            <a:endParaRPr sz="1300" b="1" i="0" dirty="0">
              <a:solidFill>
                <a:srgbClr val="E8873B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91640" y="4354331"/>
            <a:ext cx="6858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 xml:space="preserve">Coordinates the team, gates quality, steers contributors. Your AI chief of staff.</a:t>
            </a:r>
            <a:endParaRPr lang="en-US" sz="1100" b="0" i="0" dirty="0">
              <a:solidFill>
                <a:srgbClr val="666666"/>
              </a:solidFill>
              <a:latin typeface="Arial"/>
            </a:endParaRPr>
          </a:p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One per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2143</Words>
  <Application>Microsoft Macintosh PowerPoint</Application>
  <PresentationFormat>On-screen Show (16:9)</PresentationFormat>
  <Paragraphs>390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Deck - yarnnn - March 2026 v3</dc:title>
  <dc:subject>PptxGenJS Presentation</dc:subject>
  <dc:creator>Kevin Kim</dc:creator>
  <cp:lastModifiedBy>SEULKI KIM</cp:lastModifiedBy>
  <cp:revision>6</cp:revision>
  <dcterms:created xsi:type="dcterms:W3CDTF">2026-03-24T05:11:00Z</dcterms:created>
  <dcterms:modified xsi:type="dcterms:W3CDTF">2026-03-24T09:21:17Z</dcterms:modified>
</cp:coreProperties>
</file>