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27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AI employees that run your content business. They research, produce, and improve every cycle.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is bifurcating.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wave is here. OpenClaw: 307K GitHub stars in 60 days. Claude shipped Cowork. Cursor has a million daily users. Massive demand for AI that does real 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product in this wave is a tool. Session-scoped. User-present. Stateless between runs. Running a content business requires something structurally different.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approaches to AI agents. Only one builds employees.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307K stars. Open-source. Session-scoped — resets every time. No scheduling, no memory.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desktop agent. Powerful in-session. No persistence, no autonomy.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AI employees. Persistent. Autonomous. Cross-platform. Run your content business — never reset.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 every session. Employees accumulate over months. The gap is structural.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and Cowork validate massive demand for AI that does real work. But tools reset. yarnnn is the only product where work compounds into a content business.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AI employees do that tools can’t.</a:t>
            </a:r>
            <a:endParaRPr lang="en-US" sz="2400" dirty="0"/>
          </a:p>
        </p:txBody>
      </p:sp>
      <p:sp>
        <p:nvSpPr>
          <p:cNvPr id="4" name="Item 1"/>
          <p:cNvSpPr/>
          <p:nvPr/>
        </p:nvSpPr>
        <p:spPr>
          <a:xfrm>
            <a:off x="640080" y="128016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Work autonomously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Run on schedule — nights, weekends, holidays. Recurring deliverables arrive on time, every time.</a:t>
            </a:r>
            <a:endParaRPr lang="en-US" sz="1050" dirty="0"/>
          </a:p>
        </p:txBody>
      </p:sp>
      <p:sp>
        <p:nvSpPr>
          <p:cNvPr id="5" name="Item 2"/>
          <p:cNvSpPr/>
          <p:nvPr/>
        </p:nvSpPr>
        <p:spPr>
          <a:xfrm>
            <a:off x="640080" y="174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Accumulate expertise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Every run deepens domain knowledge. Every edit teaches preferences. 90 days of tenure is irreplaceable.</a:t>
            </a:r>
            <a:endParaRPr lang="en-US" sz="1050" dirty="0"/>
          </a:p>
        </p:txBody>
      </p:sp>
      <p:sp>
        <p:nvSpPr>
          <p:cNvPr id="6" name="Item 3"/>
          <p:cNvSpPr/>
          <p:nvPr/>
        </p:nvSpPr>
        <p:spPr>
          <a:xfrm>
            <a:off x="640080" y="220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Perceive across platforms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Slack, Notion, GitHub syncing continuously. Cross-platform awareness no single tool has.</a:t>
            </a:r>
            <a:endParaRPr lang="en-US" sz="1050" dirty="0"/>
          </a:p>
        </p:txBody>
      </p:sp>
      <p:sp>
        <p:nvSpPr>
          <p:cNvPr id="7" name="Item 4"/>
          <p:cNvSpPr/>
          <p:nvPr/>
        </p:nvSpPr>
        <p:spPr>
          <a:xfrm>
            <a:off x="640080" y="266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Coordinate as a team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10-agent roster + task pipeline. Autonomous execution, not solo prompting.</a:t>
            </a:r>
            <a:endParaRPr lang="en-US" sz="1050" dirty="0"/>
          </a:p>
        </p:txBody>
      </p:sp>
      <p:sp>
        <p:nvSpPr>
          <p:cNvPr id="8" name="Item 5"/>
          <p:cNvSpPr/>
          <p:nvPr/>
        </p:nvSpPr>
        <p:spPr>
          <a:xfrm>
            <a:off x="640080" y="312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Produce subscriber-ready content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  Newsletters, reports, data products. Not chat responses — revenue-generating content.</a:t>
            </a:r>
            <a:endParaRPr lang="en-US" sz="1050" dirty="0"/>
          </a:p>
        </p:txBody>
      </p:sp>
      <p:sp>
        <p:nvSpPr>
          <p:cNvPr id="9" name="Callout Box"/>
          <p:cNvSpPr/>
          <p:nvPr/>
        </p:nvSpPr>
        <p:spPr>
          <a:xfrm>
            <a:off x="640080" y="3700000"/>
            <a:ext cx="7863840" cy="73152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Callout Text"/>
          <p:cNvSpPr/>
          <p:nvPr/>
        </p:nvSpPr>
        <p:spPr>
          <a:xfrm>
            <a:off x="822960" y="3780000"/>
            <a:ext cx="7498080" cy="57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employee layer. Not a better chatbot — an autonomous team that runs your content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visibly improves. Content finds its audience. Switching cost crystallizes.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systems that work together. Each one compounds with tenure.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· 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intelligence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AGENT.md + TASK.md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+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10-agent roster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pipeline + compose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can't replicate this: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cross-LLM continuity.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What your employees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Content products your AI team produces. Each has a defined pipeline, cadence, and quality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BUSINESS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 describe the work. Your employees figure out the team, the handoffs, and the schedule. Deterministic cost, no ad-hoc prompting.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How Employees Onboard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Like real employees — they learn your business, then produce. And they get better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Slack, Notion,
GitHub. Context domains
accumulate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Task pipeline runs on
schedule. Compose substrate
assembles structured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this an employee, not a tool: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Job descriptions, not ad-hoc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task has a defined execution plan. Employees run on schedule, metered transparently. No prompting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Transparent, editable work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You can read and edit the same files your employees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Tenure creates irreplaceable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 every session. Employees accumulate expertise. Every run deepens knowledge. 90 days of tenure is irreplaceable.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Regression Proves the Moat.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ChatGPT + Beehiiv and content quality drops. Revenue follows. Six months of accumulated team intelligence can't be replicated.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Every cycle deepens domain knowledge. Research sharpens. Production aligns with audience. Quality compounds measurably.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Cross-LLM Hub: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MCP context hub: any LLM the user connects reads the same accumulated intelligence. The workspace becomes the single source of truth across tools.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Regression: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Content revenue regresses when accumulated intelligence is lost. Domain knowledge, audience preferences, production cadence — none transfer to a new tool.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sld xmlns="http://schemas.openxmlformats.org/presentationml/2006/main" xmlns:a="http://schemas.openxmlformats.org/drawingml/2006/main" xmlns:a16="http://schemas.microsoft.com/office/drawing/2014/main" xmlns:ns2="http://schemas.microsoft.com/office/powerpoint/2010/main">
  <cSld name="Slide 12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vs. Employees. Two structurally different categories.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local-first wave proves demand. yarnnn is where tool users graduate when they need work to run without them.</a:t>
            </a:r>
            <a:endParaRPr lang="en-US" sz="1200" dirty="0"/>
          </a:p>
        </txBody>
      </sp>
      <graphicFrame>
        <nvGraphicFramePr>
          <cNvPr id="13" name="Table 0"/>
          <cNvGraphicFramePr>
            <a:graphicFrameLocks noGrp="1"/>
          </cNvGraphicFramePr>
          <nvPr>
            <extLst>
              <ext uri="{D42A27DB-BD31-4B8C-83A1-F6EECF244321}">
                <ns2:modId val="1495768405"/>
              </ext>
            </extLst>
          </nvPr>
        </nvGraphicFramePr>
        <xfrm>
          <a:off x="457200" y="1645920"/>
          <a:ext cx="4937760" cy="2712720"/>
        </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val="20000"/>
                    </a:ext>
                  </a:extLst>
                </a:gridCol>
                <a:gridCol w="822960">
                  <a:extLst>
                    <a:ext uri="{9D8B030D-6E8A-4147-A177-3AD203B41FA5}">
                      <a16:colId val="20001"/>
                    </a:ext>
                  </a:extLst>
                </a:gridCol>
                <a:gridCol w="822960">
                  <a:extLst>
                    <a:ext uri="{9D8B030D-6E8A-4147-A177-3AD203B41FA5}">
                      <a16:colId val="20002"/>
                    </a:ext>
                  </a:extLst>
                </a:gridCol>
                <a:gridCol w="822960">
                  <a:extLst>
                    <a:ext uri="{9D8B030D-6E8A-4147-A177-3AD203B41FA5}">
                      <a16:colId val="20003"/>
                    </a:ext>
                  </a:extLst>
                </a:gridCol>
                <a:gridCol w="82296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(OpenClaw, Claude Code, Cowork)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+ Memory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Startups (Mem.ai, Granola)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AI (Notion, Gemini)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agent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scheduled 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accumulation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compounds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(runs without 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</a:tbl>
          </a:graphicData>
        </a:graphic>
      </graphicFrame>
      <sp>
        <nvSpPr>
          <cNvPr id="6" name="Shape 3"/>
          <cNvSpPr/>
          <nvPr/>
        </nvSpPr>
        <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7" name="Shape 4"/>
          <cNvSpPr/>
          <nvPr/>
        </nvSpPr>
        <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8" name="Text 5"/>
          <cNvSpPr/>
          <nvPr/>
        </nvSpPr>
        <spPr>
          <a:xfrm>
            <a:off x="7040881" y="1531620"/>
            <a:ext cx="731520" cy="2286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txBody>
      </sp>
      <sp>
        <nvSpPr>
          <cNvPr id="9" name="Text 6"/>
          <cNvSpPr/>
          <nvPr/>
        </nvSpPr>
        <spPr>
          <a:xfrm>
            <a:off x="8046720" y="3114941"/>
            <a:ext cx="91440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txBody>
      </sp>
      <sp>
        <nvSpPr>
          <cNvPr id="10" name="Text 7"/>
          <cNvSpPr/>
          <nvPr/>
        </nvSpPr>
        <spPr>
          <a:xfrm>
            <a:off x="7589520" y="1838200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txBody>
      </sp>
      <sp>
        <nvSpPr>
          <cNvPr id="11" name="Text 8"/>
          <cNvSpPr/>
          <nvPr/>
        </nvSpPr>
        <spPr>
          <a:xfrm>
            <a:off x="6217921" y="2537033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Memory</a:t>
            </a:r>
            <a:endParaRPr lang="en-US" sz="900" dirty="0"/>
          </a:p>
        </txBody>
      </sp>
      <sp>
        <nvSpPr>
          <cNvPr id="12" name="Text 9"/>
          <cNvSpPr/>
          <nvPr/>
        </nvSpPr>
        <spPr>
          <a:xfrm>
            <a:off x="7578411" y="2468880"/>
            <a:ext cx="13716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txBody>
      </sp>
      <sp>
        <nvSpPr>
          <cNvPr id="5" name="Text 10"/>
          <cNvSpPr/>
          <nvPr/>
        </nvSpPr>
        <spPr>
          <a:xfrm>
            <a:off x="6217921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(Notion, Gemini)</a:t>
            </a:r>
            <a:endParaRPr lang="en-US" sz="900" dirty="0"/>
          </a:p>
        </txBody>
      </sp>
      <sp>
        <nvSpPr>
          <cNvPr id="14" name="Text 11"/>
          <cNvSpPr/>
          <nvPr/>
        </nvSpPr>
        <spPr>
          <a:xfrm>
            <a:off x="7589520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 name="Slide 13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content product operators. Expanding from there.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88720"/>
            <a:ext cx="7315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Domain experts who direct content, AI employees who produce it</a:t>
            </a:r>
            <a:endParaRPr lang="en-US" sz="1200" dirty="0"/>
          </a:p>
        </txBody>
      </sp>
      <sp>
        <nvSpPr>
          <cNvPr id="5" name="Shape 3"/>
          <cNvSpPr/>
          <nvPr/>
        </nvSpPr>
        <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6" name="Text 4"/>
          <cNvSpPr/>
          <nvPr/>
        </nvSpPr>
        <spPr>
          <a:xfrm>
            <a:off x="59436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59436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txBody>
      </sp>
      <sp>
        <nvSpPr>
          <cNvPr id="8" name="Text 6"/>
          <cNvSpPr/>
          <nvPr/>
        </nvSpPr>
        <spPr>
          <a:xfrm>
            <a:off x="59436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+ AI productivity tools (31% CAGR)</a:t>
            </a:r>
            <a:endParaRPr lang="en-US" sz="800" dirty="0"/>
          </a:p>
        </txBody>
      </sp>
      <sp>
        <nvSpPr>
          <cNvPr id="9" name="Shape 7"/>
          <cNvSpPr/>
          <nvPr/>
        </nvSpPr>
        <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42900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txBody>
      </sp>
      <sp>
        <nvSpPr>
          <cNvPr id="11" name="Text 9"/>
          <cNvSpPr/>
          <nvPr/>
        </nvSpPr>
        <spPr>
          <a:xfrm>
            <a:off x="342900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txBody>
      </sp>
      <sp>
        <nvSpPr>
          <cNvPr id="12" name="Text 10"/>
          <cNvSpPr/>
          <nvPr/>
        </nvSpPr>
        <spPr>
          <a:xfrm>
            <a:off x="342900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content creators globally × $228/yr (Pro annual)</a:t>
            </a:r>
            <a:endParaRPr lang="en-US" sz="800" dirty="0"/>
          </a:p>
        </txBody>
      </sp>
      <sp>
        <nvSpPr>
          <cNvPr id="13" name="Shape 11"/>
          <cNvSpPr/>
          <nvPr/>
        </nvSpPr>
        <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4" name="Text 12"/>
          <cNvSpPr/>
          <nvPr/>
        </nvSpPr>
        <spPr>
          <a:xfrm>
            <a:off x="626364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txBody>
      </sp>
      <sp>
        <nvSpPr>
          <cNvPr id="15" name="Text 13"/>
          <cNvSpPr/>
          <nvPr/>
        </nvSpPr>
        <spPr>
          <a:xfrm>
            <a:off x="626364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txBody>
      </sp>
      <sp>
        <nvSpPr>
          <cNvPr id="16" name="Text 14"/>
          <cNvSpPr/>
          <nvPr/>
        </nvSpPr>
        <spPr>
          <a:xfrm>
            <a:off x="626364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txBody>
      </sp>
      <sp>
        <nvSpPr>
          <cNvPr id="17" name="Text 15"/>
          <cNvSpPr/>
          <nvPr/>
        </nvSpPr>
        <spPr>
          <a:xfrm>
            <a:off x="640080" y="310896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txBody>
      </sp>
      <sp>
        <nvSpPr>
          <cNvPr id="18" name="Text 16"/>
          <cNvSpPr/>
          <nvPr/>
        </nvSpPr>
        <spPr>
          <a:xfrm>
            <a:off x="640080" y="3520440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txBody>
      </sp>
      <sp>
        <nvSpPr>
          <cNvPr id="19" name="Text 17"/>
          <cNvSpPr/>
          <nvPr/>
        </nvSpPr>
        <spPr>
          <a:xfrm>
            <a:off x="1463040" y="3520440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 graduating from AI tools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3566160" y="3520440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Newsletters, data products, recurring content</a:t>
            </a:r>
            <a:endParaRPr lang="en-US" sz="1100" dirty="0"/>
          </a:p>
        </txBody>
      </sp>
      <sp>
        <nvSpPr>
          <cNvPr id="21" name="Text 19"/>
          <cNvSpPr/>
          <nvPr/>
        </nvSpPr>
        <spPr>
          <a:xfrm>
            <a:off x="640080" y="3904488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txBody>
      </sp>
      <sp>
        <nvSpPr>
          <cNvPr id="22" name="Text 20"/>
          <cNvSpPr/>
          <nvPr/>
        </nvSpPr>
        <spPr>
          <a:xfrm>
            <a:off x="1463040" y="3904488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&amp; analysts</a:t>
            </a:r>
            <a:endParaRPr lang="en-US" sz="1200" dirty="0"/>
          </a:p>
        </txBody>
      </sp>
      <sp>
        <nvSpPr>
          <cNvPr id="23" name="Text 21"/>
          <cNvSpPr/>
          <nvPr/>
        </nvSpPr>
        <spPr>
          <a:xfrm>
            <a:off x="3566160" y="3904488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reports, market briefs, strategic content</a:t>
            </a:r>
            <a:endParaRPr lang="en-US" sz="1100" dirty="0"/>
          </a:p>
        </txBody>
      </sp>
      <sp>
        <nvSpPr>
          <cNvPr id="24" name="Text 22"/>
          <cNvSpPr/>
          <nvPr/>
        </nvSpPr>
        <spPr>
          <a:xfrm>
            <a:off x="640080" y="4288536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txBody>
      </sp>
      <sp>
        <nvSpPr>
          <cNvPr id="25" name="Text 23"/>
          <cNvSpPr/>
          <nvPr/>
        </nvSpPr>
        <spPr>
          <a:xfrm>
            <a:off x="1463040" y="4288536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txBody>
      </sp>
      <sp>
        <nvSpPr>
          <cNvPr id="26" name="Text 24"/>
          <cNvSpPr/>
          <nvPr/>
        </nvSpPr>
        <spPr>
          <a:xfrm>
            <a:off x="3566160" y="4288536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txBody>
      </sp>
      <sp>
        <nvSpPr>
          <cNvPr id="27" name="Text 25"/>
          <cNvSpPr/>
          <nvPr/>
        </nvSpPr>
        <spPr>
          <a:xfrm>
            <a:off x="640080" y="4672584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txBody>
      </sp>
      <sp>
        <nvSpPr>
          <cNvPr id="28" name="Text 26"/>
          <cNvSpPr/>
          <nvPr/>
        </nvSpPr>
        <spPr>
          <a:xfrm>
            <a:off x="1463040" y="4672584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3566160" y="4672584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 name="Slide 14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Box 1"/>
          <cNvSpPr txBox="1"/>
          <nvPr/>
        </nvSpPr>
        <spPr>
          <a:xfrm>
            <a:off x="502920" y="228600"/>
            <a:ext cx="3657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txBody>
      </sp>
      <sp>
        <nvSpPr>
          <cNvPr id="3" name="TextBox 2"/>
          <cNvSpPr txBox="1"/>
          <nvPr/>
        </nvSpPr>
        <spPr>
          <a:xfrm>
            <a:off x="502920" y="502920"/>
            <a:ext cx="77724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Usage-first billing. Balance is the single gate.</a:t>
            </a:r>
          </a:p>
        </txBody>
      </sp>
      <sp>
        <nvSpPr>
          <cNvPr id="4" name="Rectangle 3"/>
          <cNvSpPr/>
          <nvPr/>
        </nvSpPr>
        <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" name="TextBox 4"/>
          <cNvSpPr txBox="1"/>
          <nvPr/>
        </nvSpPr>
        <spPr>
          <a:xfrm>
            <a:off x="82296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txBody>
      </sp>
      <sp>
        <nvSpPr>
          <cNvPr id="6" name="TextBox 5"/>
          <cNvSpPr txBox="1"/>
          <nvPr/>
        </nvSpPr>
        <spPr>
          <a:xfrm>
            <a:off x="82296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txBody>
      </sp>
      <sp>
        <nvSpPr>
          <cNvPr id="7" name="TextBox 6"/>
          <cNvSpPr txBox="1"/>
          <nvPr/>
        </nvSpPr>
        <spPr>
          <a:xfrm>
            <a:off x="201168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8" name="TextBox 7"/>
          <cNvSpPr txBox="1"/>
          <nvPr/>
        </nvSpPr>
        <spPr>
          <a:xfrm>
            <a:off x="82296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$3 signup balance included</a:t>
            </a:r>
          </a:p>
        </txBody>
      </sp>
      <sp>
        <nvSpPr>
          <cNvPr id="9" name="TextBox 8"/>
          <cNvSpPr txBox="1"/>
          <nvPr/>
        </nvSpPr>
        <spPr>
          <a:xfrm>
            <a:off x="82296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txBody>
      </sp>
      <sp>
        <nvSpPr>
          <cNvPr id="10" name="TextBox 9"/>
          <cNvSpPr txBox="1"/>
          <nvPr/>
        </nvSpPr>
        <spPr>
          <a:xfrm>
            <a:off x="82296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~40 chat turns + 10 task runs</a:t>
            </a:r>
          </a:p>
        </txBody>
      </sp>
      <sp>
        <nvSpPr>
          <cNvPr id="11" name="TextBox 10"/>
          <cNvSpPr txBox="1"/>
          <nvPr/>
        </nvSpPr>
        <spPr>
          <a:xfrm>
            <a:off x="82296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Token spend metered in USD</a:t>
            </a:r>
          </a:p>
        </txBody>
      </sp>
      <sp>
        <nvSpPr>
          <cNvPr id="12" name="TextBox 11"/>
          <cNvSpPr txBox="1"/>
          <nvPr/>
        </nvSpPr>
        <spPr>
          <a:xfrm>
            <a:off x="82296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Top up anytime: $10 / $25 / $50</a:t>
            </a:r>
          </a:p>
        </txBody>
      </sp>
      <sp>
        <nvSpPr>
          <cNvPr id="13" name="Rectangle 12"/>
          <cNvSpPr/>
          <nvPr/>
        </nvSpPr>
        <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4" name="TextBox 13"/>
          <cNvSpPr txBox="1"/>
          <nvPr/>
        </nvSpPr>
        <spPr>
          <a:xfrm>
            <a:off x="352044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txBody>
      </sp>
      <sp>
        <nvSpPr>
          <cNvPr id="15" name="TextBox 14"/>
          <cNvSpPr txBox="1"/>
          <nvPr/>
        </nvSpPr>
        <spPr>
          <a:xfrm>
            <a:off x="352044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txBody>
      </sp>
      <sp>
        <nvSpPr>
          <cNvPr id="16" name="TextBox 15"/>
          <cNvSpPr txBox="1"/>
          <nvPr/>
        </nvSpPr>
        <spPr>
          <a:xfrm>
            <a:off x="470916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17" name="TextBox 16"/>
          <cNvSpPr txBox="1"/>
          <nvPr/>
        </nvSpPr>
        <spPr>
          <a:xfrm>
            <a:off x="352044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$20/mo balance auto-refills</a:t>
            </a:r>
          </a:p>
        </txBody>
      </sp>
      <sp>
        <nvSpPr>
          <cNvPr id="18" name="TextBox 17"/>
          <cNvSpPr txBox="1"/>
          <nvPr/>
        </nvSpPr>
        <spPr>
          <a:xfrm>
            <a:off x="352044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txBody>
      </sp>
      <sp>
        <nvSpPr>
          <cNvPr id="19" name="TextBox 18"/>
          <cNvSpPr txBox="1"/>
          <nvPr/>
        </nvSpPr>
        <spPr>
          <a:xfrm>
            <a:off x="352044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Meaningful autonomous workload</a:t>
            </a:r>
          </a:p>
        </txBody>
      </sp>
      <sp>
        <nvSpPr>
          <cNvPr id="20" name="TextBox 19"/>
          <cNvSpPr txBox="1"/>
          <nvPr/>
        </nvSpPr>
        <spPr>
          <a:xfrm>
            <a:off x="352044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$19/mo or $180/yr</a:t>
            </a:r>
          </a:p>
        </txBody>
      </sp>
      <sp>
        <nvSpPr>
          <cNvPr id="21" name="TextBox 20"/>
          <cNvSpPr txBox="1"/>
          <nvPr/>
        </nvSpPr>
        <spPr>
          <a:xfrm>
            <a:off x="352044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Best value for regular users</a:t>
            </a:r>
          </a:p>
        </txBody>
      </sp>
      <sp>
        <nvSpPr>
          <cNvPr id="22" name="Rectangle 21"/>
          <cNvSpPr/>
          <nvPr/>
        </nvSpPr>
        <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3" name="TextBox 22"/>
          <cNvSpPr txBox="1"/>
          <nvPr/>
        </nvSpPr>
        <spPr>
          <a:xfrm>
            <a:off x="621792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txBody>
      </sp>
      <sp>
        <nvSpPr>
          <cNvPr id="24" name="TextBox 23"/>
          <cNvSpPr txBox="1"/>
          <nvPr/>
        </nvSpPr>
        <spPr>
          <a:xfrm>
            <a:off x="621792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txBody>
      </sp>
      <sp>
        <nvSpPr>
          <cNvPr id="25" name="TextBox 24"/>
          <cNvSpPr txBox="1"/>
          <nvPr/>
        </nvSpPr>
        <spPr>
          <a:xfrm>
            <a:off x="740664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txBody>
      </sp>
      <sp>
        <nvSpPr>
          <cNvPr id="26" name="TextBox 25"/>
          <cNvSpPr txBox="1"/>
          <nvPr/>
        </nvSpPr>
        <spPr>
          <a:xfrm>
            <a:off x="621792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txBody>
      </sp>
      <sp>
        <nvSpPr>
          <cNvPr id="27" name="TextBox 26"/>
          <cNvSpPr txBox="1"/>
          <nvPr/>
        </nvSpPr>
        <spPr>
          <a:xfrm>
            <a:off x="621792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txBody>
      </sp>
      <sp>
        <nvSpPr>
          <cNvPr id="28" name="TextBox 27"/>
          <cNvSpPr txBox="1"/>
          <nvPr/>
        </nvSpPr>
        <spPr>
          <a:xfrm>
            <a:off x="621792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txBody>
      </sp>
      <sp>
        <nvSpPr>
          <cNvPr id="29" name="TextBox 28"/>
          <cNvSpPr txBox="1"/>
          <nvPr/>
        </nvSpPr>
        <spPr>
          <a:xfrm>
            <a:off x="621792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txBody>
      </sp>
      <sp>
        <nvSpPr>
          <cNvPr id="30" name="TextBox 29"/>
          <cNvSpPr txBox="1"/>
          <nvPr/>
        </nvSpPr>
        <spPr>
          <a:xfrm>
            <a:off x="621792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txBody>
      </sp>
      <sp>
        <nvSpPr>
          <cNvPr id="31" name="TextBox 30"/>
          <cNvSpPr txBox="1"/>
          <nvPr/>
        </nvSpPr>
        <spPr>
          <a:xfrm>
            <a:off x="502920" y="4297680"/>
            <a:ext cx="8229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2x markup on Anthropic API rates = ~50% gross margin. No operational limits. Balance is the single gate.</a:t>
            </a:r>
          </a:p>
        </txBody>
      </sp>
      <sp>
        <nvSpPr>
          <cNvPr id="32" name="TextBox 31"/>
          <cNvSpPr txBox="1"/>
          <nvPr/>
        </nvSpPr>
        <spPr>
          <a:xfrm>
            <a:off x="502920" y="4572000"/>
            <a:ext cx="8229600" cy="18288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Every LLM call metered transparently in USD. Users see exactly what they spend. You pay employees, not for features.</a:t>
            </a:r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 name="Slide 15">
    <bg>
      <bgPr>
        <a:solidFill>
          <a:srgbClr val="F9F9F9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Workforce + MCP Hub (shipped) → Content Business Stack → Agent Protocol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txBody>
      </sp>
      <sp>
        <nvSpPr>
          <cNvPr id="5" name="Shape 3"/>
          <cNvSpPr/>
          <nvPr/>
        </nvSpPr>
        <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6" name="Text 4"/>
          <cNvSpPr/>
          <nvPr/>
        </nvSpPr>
        <spPr>
          <a:xfrm>
            <a:off x="50292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txBody>
      </sp>
      <sp>
        <nvSpPr>
          <cNvPr id="7" name="Text 5"/>
          <cNvSpPr/>
          <nvPr/>
        </nvSpPr>
        <spPr>
          <a:xfrm>
            <a:off x="50292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txBody>
      </sp>
      <sp>
        <nvSpPr>
          <cNvPr id="8" name="Text 6"/>
          <cNvSpPr/>
          <nvPr/>
        </nvSpPr>
        <spPr>
          <a:xfrm>
            <a:off x="50292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task scaffolding</a:t>
            </a:r>
            <a:endParaRPr lang="en-US" sz="800" dirty="0"/>
          </a:p>
        </txBody>
      </sp>
      <sp>
        <nvSpPr>
          <cNvPr id="9" name="Text 7"/>
          <cNvSpPr/>
          <nvPr/>
        </nvSpPr>
        <spPr>
          <a:xfrm>
            <a:off x="50292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pipeline + compose substrate</a:t>
            </a:r>
            <a:endParaRPr lang="en-US" sz="800" dirty="0"/>
          </a:p>
        </txBody>
      </sp>
      <sp>
        <nvSpPr>
          <cNvPr id="10" name="Text 8"/>
          <cNvSpPr/>
          <nvPr/>
        </nvSpPr>
        <spPr>
          <a:xfrm>
            <a:off x="50292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specialist roster (6 roles)</a:t>
            </a:r>
            <a:endParaRPr lang="en-US" sz="800" dirty="0"/>
          </a:p>
        </txBody>
      </sp>
      <sp>
        <nvSpPr>
          <cNvPr id="11" name="Text 9"/>
          <cNvSpPr/>
          <nvPr/>
        </nvSpPr>
        <spPr>
          <a:xfrm>
            <a:off x="50292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txBody>
      </sp>
      <sp>
        <nvSpPr>
          <cNvPr id="12" name="Text 10"/>
          <cNvSpPr/>
          <nvPr/>
        </nvSpPr>
        <spPr>
          <a:xfrm>
            <a:off x="502920" y="379476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actuation: self-correcting quality loop</a:t>
            </a:r>
            <a:endParaRPr lang="en-US" sz="800" dirty="0"/>
          </a:p>
        </txBody>
      </sp>
      <sp>
        <nvSpPr>
          <cNvPr id="13" name="Text 11"/>
          <cNvSpPr/>
          <nvPr/>
        </nvSpPr>
        <spPr>
          <a:xfrm>
            <a:off x="502920" y="41148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txBody>
      </sp>
      <sp>
        <nvSpPr>
          <cNvPr id="14" name="Text 12"/>
          <cNvSpPr/>
          <nvPr/>
        </nvSpPr>
        <spPr>
          <a:xfrm>
            <a:off x="502920" y="44348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Architecture Decision Records</a:t>
            </a:r>
            <a:endParaRPr lang="en-US" sz="800" dirty="0"/>
          </a:p>
        </txBody>
      </sp>
      <sp>
        <nvSpPr>
          <cNvPr id="15" name="Text 13"/>
          <cNvSpPr/>
          <nvPr/>
        </nvSpPr>
        <spPr>
          <a:xfrm>
            <a:off x="310896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16" name="Shape 14"/>
          <cNvSpPr/>
          <nvPr/>
        </nvSpPr>
        <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17" name="Text 15"/>
          <cNvSpPr/>
          <nvPr/>
        </nvSpPr>
        <spPr>
          <a:xfrm>
            <a:off x="342900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txBody>
      </sp>
      <sp>
        <nvSpPr>
          <cNvPr id="18" name="Text 16"/>
          <cNvSpPr/>
          <nvPr/>
        </nvSpPr>
        <spPr>
          <a:xfrm>
            <a:off x="342900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Stack</a:t>
            </a:r>
            <a:endParaRPr lang="en-US" sz="1600" dirty="0"/>
          </a:p>
        </txBody>
      </sp>
      <sp>
        <nvSpPr>
          <cNvPr id="19" name="Text 17"/>
          <cNvSpPr/>
          <nvPr/>
        </nvSpPr>
        <spPr>
          <a:xfrm>
            <a:off x="342900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Context Hub: cross-LLM continuity (shipped)</a:t>
            </a:r>
            <a:endParaRPr lang="en-US" sz="800" dirty="0"/>
          </a:p>
        </txBody>
      </sp>
      <sp>
        <nvSpPr>
          <cNvPr id="20" name="Text 18"/>
          <cNvSpPr/>
          <nvPr/>
        </nvSpPr>
        <spPr>
          <a:xfrm>
            <a:off x="342900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substrate: section-scoped revision</a:t>
            </a:r>
            <a:endParaRPr lang="en-US" sz="800" dirty="0"/>
          </a:p>
        </txBody>
      </sp>
      <sp>
        <nvSpPr>
          <cNvPr id="21" name="Text 19"/>
          <cNvSpPr/>
          <nvPr/>
        </nvSpPr>
        <spPr>
          <a:xfrm>
            <a:off x="342900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Usage-first billing: token spend metering (shipped)</a:t>
            </a:r>
            <a:endParaRPr lang="en-US" sz="800" dirty="0"/>
          </a:p>
        </txBody>
      </sp>
      <sp>
        <nvSpPr>
          <cNvPr id="22" name="Text 20"/>
          <cNvSpPr/>
          <nvPr/>
        </nvSpPr>
        <spPr>
          <a:xfrm>
            <a:off x="342900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integration: content monetization</a:t>
            </a:r>
            <a:endParaRPr lang="en-US" sz="800" dirty="0"/>
          </a:p>
        </txBody>
      </sp>
      <sp>
        <nvSpPr>
          <cNvPr id="23" name="Text 21"/>
          <cNvSpPr/>
          <nvPr/>
        </nvSpPr>
        <spPr>
          <a:xfrm>
            <a:off x="603504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24" name="Shape 22"/>
          <cNvSpPr/>
          <nvPr/>
        </nvSpPr>
        <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25" name="Text 23"/>
          <cNvSpPr/>
          <nvPr/>
        </nvSpPr>
        <spPr>
          <a:xfrm>
            <a:off x="635508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txBody>
      </sp>
      <sp>
        <nvSpPr>
          <cNvPr id="26" name="Text 24"/>
          <cNvSpPr/>
          <nvPr/>
        </nvSpPr>
        <spPr>
          <a:xfrm>
            <a:off x="635508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txBody>
      </sp>
      <sp>
        <nvSpPr>
          <cNvPr id="27" name="Text 25"/>
          <cNvSpPr/>
          <nvPr/>
        </nvSpPr>
        <spPr>
          <a:xfrm>
            <a:off x="635508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protocol. Agents across systems coordinate</a:t>
            </a:r>
            <a:endParaRPr lang="en-US" sz="800" dirty="0"/>
          </a:p>
        </txBody>
      </sp>
      <sp>
        <nvSpPr>
          <cNvPr id="28" name="Text 26"/>
          <cNvSpPr/>
          <nvPr/>
        </nvSpPr>
        <spPr>
          <a:xfrm>
            <a:off x="635508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workspaces: multi-user shared context</a:t>
            </a:r>
            <a:endParaRPr lang="en-US" sz="800" dirty="0"/>
          </a:p>
        </txBody>
      </sp>
      <sp>
        <nvSpPr>
          <cNvPr id="29" name="Text 27"/>
          <cNvSpPr/>
          <nvPr/>
        </nvSpPr>
        <spPr>
          <a:xfrm>
            <a:off x="635508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 name="Slide 16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txBody>
      </sp>
      <sp>
        <nvSpPr>
          <cNvPr id="4" name="Shape 2"/>
          <cNvSpPr/>
          <nvPr/>
        </nvSpPr>
        <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5" name="Text 3"/>
          <cNvSpPr/>
          <nvPr/>
        </nvSpPr>
        <spPr>
          <a:xfrm>
            <a:off x="45720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txBody>
      </sp>
      <sp>
        <nvSpPr>
          <cNvPr id="6" name="Text 4"/>
          <cNvSpPr/>
          <nvPr/>
        </nvSpPr>
        <spPr>
          <a:xfrm>
            <a:off x="45720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45720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txBody>
      </sp>
      <sp>
        <nvSpPr>
          <cNvPr id="8" name="Text 6"/>
          <cNvSpPr/>
          <nvPr/>
        </nvSpPr>
        <spPr>
          <a:xfrm>
            <a:off x="45720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txBody>
      </sp>
      <sp>
        <nvSpPr>
          <cNvPr id="9" name="Shape 7"/>
          <cNvSpPr/>
          <nvPr/>
        </nvSpPr>
        <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29184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txBody>
      </sp>
      <sp>
        <nvSpPr>
          <cNvPr id="11" name="Text 9"/>
          <cNvSpPr/>
          <nvPr/>
        </nvSpPr>
        <spPr>
          <a:xfrm>
            <a:off x="329184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txBody>
      </sp>
      <sp>
        <nvSpPr>
          <cNvPr id="12" name="Text 10"/>
          <cNvSpPr/>
          <nvPr/>
        </nvSpPr>
        <spPr>
          <a:xfrm>
            <a:off x="329184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content employee layer</a:t>
            </a:r>
            <a:endParaRPr lang="en-US" sz="1000" dirty="0"/>
          </a:p>
        </txBody>
      </sp>
      <sp>
        <nvSpPr>
          <cNvPr id="13" name="Text 11"/>
          <cNvSpPr/>
          <nvPr/>
        </nvSpPr>
        <spPr>
          <a:xfrm>
            <a:off x="329184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txBody>
      </sp>
      <sp>
        <nvSpPr>
          <cNvPr id="14" name="Shape 12"/>
          <cNvSpPr/>
          <nvPr/>
        </nvSpPr>
        <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5" name="Text 13"/>
          <cNvSpPr/>
          <nvPr/>
        </nvSpPr>
        <spPr>
          <a:xfrm>
            <a:off x="612648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txBody>
      </sp>
      <sp>
        <nvSpPr>
          <cNvPr id="16" name="Text 14"/>
          <cNvSpPr/>
          <nvPr/>
        </nvSpPr>
        <spPr>
          <a:xfrm>
            <a:off x="612648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tools everywhere. Content employees are greenfield.</a:t>
            </a:r>
            <a:endParaRPr lang="en-US" sz="1000" dirty="0"/>
          </a:p>
        </txBody>
      </sp>
      <sp>
        <nvSpPr>
          <cNvPr id="17" name="Text 15"/>
          <cNvSpPr/>
          <nvPr/>
        </nvSpPr>
        <spPr>
          <a:xfrm>
            <a:off x="612648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txBody>
      </sp>
      <sp>
        <nvSpPr>
          <cNvPr id="18" name="Shape 16"/>
          <cNvSpPr/>
          <nvPr/>
        </nvSpPr>
        <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9" name="Text 17"/>
          <cNvSpPr/>
          <nvPr/>
        </nvSpPr>
        <spPr>
          <a:xfrm>
            <a:off x="45720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45720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content intelligence</a:t>
            </a:r>
            <a:endParaRPr lang="en-US" sz="1000" dirty="0"/>
          </a:p>
        </txBody>
      </sp>
      <sp>
        <nvSpPr>
          <cNvPr id="21" name="Text 19"/>
          <cNvSpPr/>
          <nvPr/>
        </nvSpPr>
        <spPr>
          <a:xfrm>
            <a:off x="45720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txBody>
      </sp>
      <sp>
        <nvSpPr>
          <cNvPr id="22" name="Text 20"/>
          <cNvSpPr/>
          <nvPr/>
        </nvSpPr>
        <spPr>
          <a:xfrm>
            <a:off x="45720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txBody>
      </sp>
      <sp>
        <nvSpPr>
          <cNvPr id="23" name="Shape 21"/>
          <cNvSpPr/>
          <nvPr/>
        </nvSpPr>
        <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4" name="Text 22"/>
          <cNvSpPr/>
          <nvPr/>
        </nvSpPr>
        <spPr>
          <a:xfrm>
            <a:off x="329184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txBody>
      </sp>
      <sp>
        <nvSpPr>
          <cNvPr id="25" name="Text 23"/>
          <cNvSpPr/>
          <nvPr/>
        </nvSpPr>
        <spPr>
          <a:xfrm>
            <a:off x="329184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Content employee gap open.</a:t>
            </a:r>
            <a:endParaRPr lang="en-US" sz="1000" dirty="0"/>
          </a:p>
        </txBody>
      </sp>
      <sp>
        <nvSpPr>
          <cNvPr id="26" name="Text 24"/>
          <cNvSpPr/>
          <nvPr/>
        </nvSpPr>
        <spPr>
          <a:xfrm>
            <a:off x="329184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txBody>
      </sp>
      <sp>
        <nvSpPr>
          <cNvPr id="27" name="Shape 25"/>
          <cNvSpPr/>
          <nvPr/>
        </nvSpPr>
        <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8" name="Text 26"/>
          <cNvSpPr/>
          <nvPr/>
        </nvSpPr>
        <spPr>
          <a:xfrm>
            <a:off x="612648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612648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txBody>
      </sp>
      <sp>
        <nvSpPr>
          <cNvPr id="30" name="Text 28"/>
          <cNvSpPr/>
          <nvPr/>
        </nvSpPr>
        <spPr>
          <a:xfrm>
            <a:off x="612648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txBody>
      </sp>
      <sp>
        <nvSpPr>
          <cNvPr id="31" name="Text 29"/>
          <cNvSpPr/>
          <nvPr/>
        </nvSpPr>
        <spPr>
          <a:xfrm>
            <a:off x="612648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180+ ADRs = architectural rigor</a:t>
            </a:r>
            <a:endParaRPr lang="en-US" sz="1000" dirty="0"/>
          </a:p>
        </txBody>
      </sp>
    </spTree>
  </cSld>
  <clrMapOvr>
    <a:masterClrMapping/>
  </clrMapOvr>
</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180+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"Your content production team is ready"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subscriber-ready content ships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quality visibly improving each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noticeably tailored to audience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from content products. Switching cost crystallized.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intelligence compounds measurably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Source-agnostic feedback: user edits, system verification, and TP evaluation unified into single substrate. Feedback actuation executes workspace mutations at threshold — zero LLM cost. Self-correcting quality loop.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~$0.03–$0.08 per task run with pre-gather optimization. 50% cost reduction via mechanical context assembly.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actuation can't work without the workspace filesystem. The workspace filesystem can't work without the perception pipeline populating it. A team starting today would need to discover these interdependencies through the same 180+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Your team. Ten agents, six specialist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Universal specialists assigned by work demand. Persistent memory. Learned preferences.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research with web search. Finds context beyond your connected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and insights across platforms.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Polished final output. Newsletters, reports, memos that ship as subscriber-ready content.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Monitors changes and signals. Tracks competitors, markets, and domain entities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Charts, diagrams, and visual assets. Production-phase capabilities via render service.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Synthesizes across agents. Composes cross-domain intelligence into unified deliverables.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Platform 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Slack, Notion, GitHub. Temporal context from connected platforms.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Thinking Partner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Your orchestrator. Creates tasks, evaluates quality, coordinates the team.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T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hinking Partner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 xml:space="preserve">Meta-cognitive agent. Back-office hygiene, workspace cleanup, and strategic judgment.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workspace.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2143</Words>
  <Application>Microsoft Macintosh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6</cp:revision>
  <dcterms:created xsi:type="dcterms:W3CDTF">2026-03-24T05:11:00Z</dcterms:created>
  <dcterms:modified xsi:type="dcterms:W3CDTF">2026-03-24T09:21:17Z</dcterms:modified>
</cp:coreProperties>
</file>