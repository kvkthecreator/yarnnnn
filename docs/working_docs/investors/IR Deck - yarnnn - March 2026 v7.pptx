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6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1"/>
    <p:restoredTop sz="94610"/>
  </p:normalViewPr>
  <p:slideViewPr>
    <p:cSldViewPr snapToGrid="0" snapToObjects="1">
      <p:cViewPr varScale="1">
        <p:scale>
          <a:sx n="160" d="100"/>
          <a:sy n="160" d="100"/>
        </p:scale>
        <p:origin x="176" y="3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784672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/sessions/focused-upbeat-hopper/assets/yarn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2553" y="523620"/>
            <a:ext cx="650335" cy="65033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1943824"/>
            <a:ext cx="7315200" cy="790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AI Employees, </a:t>
            </a:r>
          </a:p>
          <a:p>
            <a:pPr marL="0" indent="0" algn="ctr">
              <a:buNone/>
            </a:pPr>
            <a:r>
              <a:rPr lang="en-US" sz="22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Not AI Tools</a:t>
            </a:r>
            <a:endParaRPr lang="en-US" sz="2200" b="1" dirty="0"/>
          </a:p>
        </p:txBody>
      </p:sp>
      <p:sp>
        <p:nvSpPr>
          <p:cNvPr id="6" name="Text 3"/>
          <p:cNvSpPr/>
          <p:nvPr/>
        </p:nvSpPr>
        <p:spPr>
          <a:xfrm>
            <a:off x="914400" y="2905799"/>
            <a:ext cx="7315200" cy="912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Pre-Seed 2026</a:t>
            </a:r>
          </a:p>
          <a:p>
            <a:pPr marL="0" indent="0" algn="ctr">
              <a:buNone/>
            </a:pPr>
            <a:endParaRPr lang="en-US" sz="1400" dirty="0">
              <a:solidFill>
                <a:srgbClr val="999999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ctr">
              <a:buNone/>
            </a:pPr>
            <a:r>
              <a:rPr lang="en-US" sz="14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Persistent agents that accumulate expertise and deliver compounding work products.</a:t>
            </a:r>
          </a:p>
        </p:txBody>
      </p:sp>
      <p:sp>
        <p:nvSpPr>
          <p:cNvPr id="10" name="Text 0">
            <a:extLst>
              <a:ext uri="{FF2B5EF4-FFF2-40B4-BE49-F238E27FC236}">
                <a16:creationId xmlns:a16="http://schemas.microsoft.com/office/drawing/2014/main" id="{CEA9B0D2-D303-4136-3B31-F93B82EBB271}"/>
              </a:ext>
            </a:extLst>
          </p:cNvPr>
          <p:cNvSpPr/>
          <p:nvPr/>
        </p:nvSpPr>
        <p:spPr>
          <a:xfrm>
            <a:off x="4114800" y="4389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yarnnn.com  ·  Kevin Kim  ·  kvkthecreator@gmail.com</a:t>
            </a:r>
            <a:endParaRPr lang="en-US" sz="9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175332A-BC05-D4D4-5035-BE45A960C1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10769" y="1344571"/>
            <a:ext cx="1322462" cy="42756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 Agent Wave is Here. 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873B"/>
                </a:solidFill>
                <a:latin typeface="Arial" pitchFamily="34" charset="0"/>
                <a:cs typeface="Arial" pitchFamily="34" charset="-120"/>
              </a:rPr>
              <a:t>OpenClaw: 307K GitHub stars in 60 days. </a:t>
            </a:r>
            <a:br>
              <a:rPr lang="en-US" sz="1400" b="1" dirty="0">
                <a:solidFill>
                  <a:srgbClr val="E8873B"/>
                </a:solidFill>
                <a:latin typeface="Arial" pitchFamily="34" charset="0"/>
                <a:cs typeface="Arial" pitchFamily="34" charset="-120"/>
              </a:rPr>
            </a:br>
            <a:r>
              <a:rPr lang="en-US" sz="1400" b="1" dirty="0">
                <a:solidFill>
                  <a:srgbClr val="E8873B"/>
                </a:solidFill>
                <a:latin typeface="Arial" pitchFamily="34" charset="0"/>
                <a:cs typeface="Arial" pitchFamily="34" charset="-120"/>
              </a:rPr>
              <a:t>Claude shipped Cowork. </a:t>
            </a:r>
          </a:p>
          <a:p>
            <a:pPr marL="0" indent="0">
              <a:buNone/>
            </a:pPr>
            <a:r>
              <a:rPr lang="en-US" sz="1400" b="1" dirty="0">
                <a:solidFill>
                  <a:srgbClr val="E8873B"/>
                </a:solidFill>
                <a:latin typeface="Arial" pitchFamily="34" charset="0"/>
                <a:cs typeface="Arial" pitchFamily="34" charset="-120"/>
              </a:rPr>
              <a:t>It looks like the platform, LLM providers will own every layer…</a:t>
            </a:r>
          </a:p>
        </p:txBody>
      </p:sp>
      <p:sp>
        <p:nvSpPr>
          <p:cNvPr id="4" name="Shape 2"/>
          <p:cNvSpPr/>
          <p:nvPr/>
        </p:nvSpPr>
        <p:spPr>
          <a:xfrm>
            <a:off x="640080" y="2468880"/>
            <a:ext cx="1371600" cy="0"/>
          </a:xfrm>
          <a:prstGeom prst="line">
            <a:avLst/>
          </a:prstGeom>
          <a:noFill/>
          <a:ln w="38100">
            <a:solidFill>
              <a:srgbClr val="E8873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Text 3"/>
          <p:cNvSpPr/>
          <p:nvPr/>
        </p:nvSpPr>
        <p:spPr>
          <a:xfrm>
            <a:off x="640080" y="27432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platform cycle looks that way — until it doesn't.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347472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didn't become Salesforce.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didn't become Datadog.</a:t>
            </a:r>
          </a:p>
          <a:p>
            <a:pPr marL="0" indent="0">
              <a:buNone/>
            </a:pPr>
            <a:endParaRPr lang="en-US" sz="1400" b="1" dirty="0">
              <a:solidFill>
                <a:srgbClr val="E8873B"/>
              </a:solidFill>
              <a:latin typeface="Arial" pitchFamily="34" charset="0"/>
              <a:cs typeface="Arial" pitchFamily="34" charset="-120"/>
            </a:endParaRPr>
          </a:p>
          <a:p>
            <a:pPr marL="0" indent="0">
              <a:buNone/>
            </a:pPr>
            <a:r>
              <a:rPr lang="en-US" sz="1400" b="1" dirty="0">
                <a:solidFill>
                  <a:srgbClr val="E8873B"/>
                </a:solidFill>
                <a:latin typeface="Arial" pitchFamily="34" charset="0"/>
                <a:cs typeface="Arial" pitchFamily="34" charset="-120"/>
              </a:rPr>
              <a:t>History doesn’t repeat itself, but it does rhyme… so what’s different now?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b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Revision notes:</a:t>
            </a:r>
            <a:b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this as a clear comparison against </a:t>
            </a:r>
            <a:r>
              <a:rPr lang="en-US" sz="2000" b="1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openclaw</a:t>
            </a: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2000" b="1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</a:t>
            </a: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000" b="1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cowork</a:t>
            </a: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yarnnn and why we’re fundamentally positioned to be different, strong, simple and to the point. </a:t>
            </a:r>
          </a:p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cs typeface="Arial" pitchFamily="34" charset="-120"/>
              </a:rPr>
              <a:t>If we can’t convince them here, everything else doesn’t matter!!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Is Different</a:t>
            </a:r>
            <a:endParaRPr lang="en-US" sz="1200" dirty="0"/>
          </a:p>
        </p:txBody>
      </p:sp>
      <p:pic>
        <p:nvPicPr>
          <p:cNvPr id="4" name="Image 0" descr="/sessions/focused-upbeat-hopper/assets/openclaw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5705" y="580292"/>
            <a:ext cx="668215" cy="668215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1069400D-99A1-7058-4F76-1AFBA57F5A71}"/>
              </a:ext>
            </a:extLst>
          </p:cNvPr>
          <p:cNvSpPr txBox="1"/>
          <p:nvPr/>
        </p:nvSpPr>
        <p:spPr>
          <a:xfrm>
            <a:off x="2286000" y="1120560"/>
            <a:ext cx="4572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b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Revision notes:</a:t>
            </a:r>
            <a:b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following the comparison slide that needs to be updated in previous slide,</a:t>
            </a:r>
          </a:p>
          <a:p>
            <a:pPr marL="0" indent="0">
              <a:buNone/>
            </a:pPr>
            <a:r>
              <a:rPr lang="en-US" b="1" dirty="0">
                <a:solidFill>
                  <a:srgbClr val="1A1A1A"/>
                </a:solidFill>
                <a:latin typeface="Arial" pitchFamily="34" charset="0"/>
                <a:cs typeface="Arial" pitchFamily="34" charset="-120"/>
              </a:rPr>
              <a:t>Update this slide to show the clear product USP for yarnnn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focused-upbeat-hopper/assets/yarn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1920240"/>
            <a:ext cx="914400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0" y="164592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/ Moat</a:t>
            </a:r>
            <a:endParaRPr lang="en-US" sz="3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Product: Meet Your AI Employees</a:t>
            </a:r>
            <a:endParaRPr lang="en-US" sz="1200" b="1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Pre-built workforce. Ready on day 1.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34975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T+0s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62940" y="3745049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Dump, Connect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386334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 your work. Your AI employees are pre-built and ready.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514600" y="3589020"/>
            <a:ext cx="0" cy="100584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8" name="Text 6"/>
          <p:cNvSpPr/>
          <p:nvPr/>
        </p:nvSpPr>
        <p:spPr>
          <a:xfrm>
            <a:off x="2606040" y="34975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T+30s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811779" y="3745049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Ready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606040" y="386334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Tasks assigned to the right specialist. Context loading begins.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63440" y="3589020"/>
            <a:ext cx="0" cy="100584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2" name="Text 10"/>
          <p:cNvSpPr/>
          <p:nvPr/>
        </p:nvSpPr>
        <p:spPr>
          <a:xfrm>
            <a:off x="4754880" y="34975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52060" y="3743485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Accumulate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754880" y="386334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sync deepens knowledge. Every edit refines quality. Teams coordinate.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812280" y="3589020"/>
            <a:ext cx="0" cy="100584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6" name="Text 14"/>
          <p:cNvSpPr/>
          <p:nvPr/>
        </p:nvSpPr>
        <p:spPr>
          <a:xfrm>
            <a:off x="6903720" y="34975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375224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Compound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903720" y="386334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 coordination matures. Cross-phase handoffs refine. Output quality compounds.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02920" y="3382499"/>
            <a:ext cx="82296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0" name="Shape 18"/>
          <p:cNvSpPr/>
          <p:nvPr/>
        </p:nvSpPr>
        <p:spPr>
          <a:xfrm>
            <a:off x="502920" y="1508369"/>
            <a:ext cx="1920240" cy="1759047"/>
          </a:xfrm>
          <a:prstGeom prst="rect">
            <a:avLst/>
          </a:prstGeom>
          <a:noFill/>
          <a:ln w="12700">
            <a:solidFill>
              <a:srgbClr val="CCCCCC"/>
            </a:solidFill>
            <a:prstDash val="solid"/>
          </a:ln>
          <a:effectLst>
            <a:outerShdw blurRad="38100" dist="12700" dir="16200000" algn="bl" rotWithShape="0">
              <a:srgbClr val="CCCCCC">
                <a:alpha val="3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pic>
        <p:nvPicPr>
          <p:cNvPr id="21" name="Image 0" descr="/sessions/focused-upbeat-hopper/mnt/yarnnn/docs/working_docs/assets/page_TP(chat)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697480" y="1618083"/>
            <a:ext cx="1828800" cy="1583142"/>
          </a:xfrm>
          <a:prstGeom prst="rect">
            <a:avLst/>
          </a:prstGeom>
        </p:spPr>
      </p:pic>
      <p:sp>
        <p:nvSpPr>
          <p:cNvPr id="22" name="Shape 19"/>
          <p:cNvSpPr/>
          <p:nvPr/>
        </p:nvSpPr>
        <p:spPr>
          <a:xfrm>
            <a:off x="2651760" y="1508369"/>
            <a:ext cx="1920240" cy="1759047"/>
          </a:xfrm>
          <a:prstGeom prst="rect">
            <a:avLst/>
          </a:prstGeom>
          <a:noFill/>
          <a:ln w="12700">
            <a:solidFill>
              <a:srgbClr val="CCCCCC"/>
            </a:solidFill>
            <a:prstDash val="solid"/>
          </a:ln>
          <a:effectLst>
            <a:outerShdw blurRad="38100" dist="12700" dir="16200000" algn="bl" rotWithShape="0">
              <a:srgbClr val="CCCCCC">
                <a:alpha val="3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pic>
        <p:nvPicPr>
          <p:cNvPr id="23" name="Image 1" descr="/sessions/focused-upbeat-hopper/mnt/yarnnn/docs/working_docs/assets/page_system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48640" y="1618083"/>
            <a:ext cx="1828800" cy="1583142"/>
          </a:xfrm>
          <a:prstGeom prst="rect">
            <a:avLst/>
          </a:prstGeom>
        </p:spPr>
      </p:pic>
      <p:sp>
        <p:nvSpPr>
          <p:cNvPr id="24" name="Shape 20"/>
          <p:cNvSpPr/>
          <p:nvPr/>
        </p:nvSpPr>
        <p:spPr>
          <a:xfrm>
            <a:off x="4800600" y="1508369"/>
            <a:ext cx="1920240" cy="1759047"/>
          </a:xfrm>
          <a:prstGeom prst="rect">
            <a:avLst/>
          </a:prstGeom>
          <a:noFill/>
          <a:ln w="12700">
            <a:solidFill>
              <a:srgbClr val="CCCCCC"/>
            </a:solidFill>
            <a:prstDash val="solid"/>
          </a:ln>
          <a:effectLst>
            <a:outerShdw blurRad="38100" dist="12700" dir="16200000" algn="bl" rotWithShape="0">
              <a:srgbClr val="CCCCCC">
                <a:alpha val="3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pic>
        <p:nvPicPr>
          <p:cNvPr id="25" name="Image 2" descr="/sessions/focused-upbeat-hopper/mnt/yarnnn/docs/working_docs/assets/page_deliverables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846320" y="1554090"/>
            <a:ext cx="1828800" cy="1583142"/>
          </a:xfrm>
          <a:prstGeom prst="rect">
            <a:avLst/>
          </a:prstGeom>
        </p:spPr>
      </p:pic>
      <p:sp>
        <p:nvSpPr>
          <p:cNvPr id="26" name="Shape 21"/>
          <p:cNvSpPr/>
          <p:nvPr/>
        </p:nvSpPr>
        <p:spPr>
          <a:xfrm>
            <a:off x="6949440" y="1508369"/>
            <a:ext cx="1920240" cy="1759047"/>
          </a:xfrm>
          <a:prstGeom prst="rect">
            <a:avLst/>
          </a:prstGeom>
          <a:noFill/>
          <a:ln w="12700">
            <a:solidFill>
              <a:srgbClr val="CCCCCC"/>
            </a:solidFill>
            <a:prstDash val="solid"/>
          </a:ln>
          <a:effectLst>
            <a:outerShdw blurRad="38100" dist="12700" dir="16200000" algn="bl" rotWithShape="0">
              <a:srgbClr val="CCCCCC">
                <a:alpha val="3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pic>
        <p:nvPicPr>
          <p:cNvPr id="27" name="Image 3" descr="/sessions/focused-upbeat-hopper/mnt/yarnnn/docs/working_docs/assets/page_context(slack)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995160" y="1554090"/>
            <a:ext cx="1828800" cy="158314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Your Employees Work</a:t>
            </a:r>
            <a:endParaRPr lang="en-US" sz="1200" b="1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infrastructure behind autonomous employees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systems that work together. Each one compounds with tenure.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68267" y="1828693"/>
            <a:ext cx="1280160" cy="1051132"/>
          </a:xfrm>
          <a:prstGeom prst="rect">
            <a:avLst/>
          </a:prstGeom>
          <a:solidFill>
            <a:srgbClr val="E8873B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6" name="Text 4"/>
          <p:cNvSpPr/>
          <p:nvPr/>
        </p:nvSpPr>
        <p:spPr>
          <a:xfrm>
            <a:off x="768267" y="1874413"/>
            <a:ext cx="1280160" cy="4504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Perception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68267" y="2377333"/>
            <a:ext cx="1280160" cy="5255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Slack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Notion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263578" y="1828693"/>
            <a:ext cx="1280160" cy="1051132"/>
          </a:xfrm>
          <a:prstGeom prst="rect">
            <a:avLst/>
          </a:prstGeom>
          <a:solidFill>
            <a:srgbClr val="666666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0" name="Text 8"/>
          <p:cNvSpPr/>
          <p:nvPr/>
        </p:nvSpPr>
        <p:spPr>
          <a:xfrm>
            <a:off x="2263578" y="1874413"/>
            <a:ext cx="1280160" cy="4504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263578" y="2377333"/>
            <a:ext cx="1280160" cy="5255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content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Retention + provenance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758889" y="1828800"/>
            <a:ext cx="1280160" cy="1051132"/>
          </a:xfrm>
          <a:prstGeom prst="rect">
            <a:avLst/>
          </a:prstGeom>
          <a:solidFill>
            <a:srgbClr val="666666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4" name="Text 12"/>
          <p:cNvSpPr/>
          <p:nvPr/>
        </p:nvSpPr>
        <p:spPr>
          <a:xfrm>
            <a:off x="3758889" y="1874520"/>
            <a:ext cx="1280160" cy="4504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Workspace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Filesystem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758889" y="2377440"/>
            <a:ext cx="1280160" cy="5255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Charter + memory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workspaces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254200" y="1828693"/>
            <a:ext cx="1280160" cy="1051132"/>
          </a:xfrm>
          <a:prstGeom prst="rect">
            <a:avLst/>
          </a:prstGeom>
          <a:solidFill>
            <a:srgbClr val="666666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8" name="Text 16"/>
          <p:cNvSpPr/>
          <p:nvPr/>
        </p:nvSpPr>
        <p:spPr>
          <a:xfrm>
            <a:off x="5254200" y="1874413"/>
            <a:ext cx="1280160" cy="4504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254200" y="2377333"/>
            <a:ext cx="1280160" cy="5255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types, PM dispatch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3-tier pulse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749511" y="1805940"/>
            <a:ext cx="1280160" cy="1051132"/>
          </a:xfrm>
          <a:prstGeom prst="rect">
            <a:avLst/>
          </a:prstGeom>
          <a:solidFill>
            <a:srgbClr val="E8873B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22" name="Text 20"/>
          <p:cNvSpPr/>
          <p:nvPr/>
        </p:nvSpPr>
        <p:spPr>
          <a:xfrm>
            <a:off x="6749511" y="1851660"/>
            <a:ext cx="1280160" cy="4504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749511" y="2354580"/>
            <a:ext cx="1280160" cy="5255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 compose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 · PPTX · XLSX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48640" y="33604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tools can't replicate this: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48640" y="36804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Tools (OpenClaw, Cowork, Claude Code)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8640" y="395478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Session-scoped. User must be present. Context resets between runs. No autonomous execution.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383280" y="36804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Memory Startups (Mem.ai, Granola)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383280" y="395478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without execution. Recall facts but don’t produce autonomous work products.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217920" y="36804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Workspace AI (Notion AI, Gemini)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217920" y="395478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Single-platform. No cross-platform synthesis. No persistent agent identity.</a:t>
            </a:r>
            <a:endParaRPr lang="en-US" sz="1000" dirty="0"/>
          </a:p>
        </p:txBody>
      </p:sp>
      <p:cxnSp>
        <p:nvCxnSpPr>
          <p:cNvPr id="24" name="Connector 23">
            <a:extLst>
              <a:ext uri="{FF2B5EF4-FFF2-40B4-BE49-F238E27FC236}">
                <a16:creationId xmlns:a16="http://schemas.microsoft.com/office/drawing/2014/main" id="{6B762895-3766-7E59-F7D6-A2F33611841C}"/>
              </a:ext>
            </a:extLst>
          </p:cNvPr>
          <p:cNvCxnSpPr/>
          <p:nvPr/>
        </p:nvCxnSpPr>
        <p:spPr>
          <a:xfrm>
            <a:off x="502920" y="3139725"/>
            <a:ext cx="8138160" cy="0"/>
          </a:xfrm>
          <a:prstGeom prst="line">
            <a:avLst/>
          </a:prstGeom>
          <a:ln w="1270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i="0">
                <a:solidFill>
                  <a:srgbClr val="E8873B"/>
                </a:solidFill>
                <a:latin typeface="Arial"/>
              </a:rPr>
              <a:t>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77724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 i="0">
                <a:solidFill>
                  <a:srgbClr val="1A1A1A"/>
                </a:solidFill>
                <a:latin typeface="Arial"/>
              </a:rPr>
              <a:t>What your employees deliver.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60120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999999"/>
                </a:solidFill>
                <a:latin typeface="Arial"/>
              </a:rPr>
              <a:t>13 job descriptions across 5 departments. Each is a concrete deliverable with a team of AI employees behind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1887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999999"/>
                </a:solidFill>
                <a:latin typeface="Arial"/>
              </a:rPr>
              <a:t>Category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1417320"/>
            <a:ext cx="25603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999999"/>
                </a:solidFill>
                <a:latin typeface="Arial"/>
              </a:rPr>
              <a:t>Deliverable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1417320"/>
            <a:ext cx="27432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999999"/>
                </a:solidFill>
                <a:latin typeface="Arial"/>
              </a:rPr>
              <a:t>Pipeline (agents)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60" y="1417320"/>
            <a:ext cx="13716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999999"/>
                </a:solidFill>
                <a:latin typeface="Arial"/>
              </a:rPr>
              <a:t>Default cadence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02920" y="1627632"/>
            <a:ext cx="8138160" cy="0"/>
          </a:xfrm>
          <a:prstGeom prst="line">
            <a:avLst/>
          </a:prstGeom>
          <a:ln w="1270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02920" y="1691640"/>
            <a:ext cx="118872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E8873B"/>
                </a:solidFill>
                <a:latin typeface="Arial"/>
              </a:rPr>
              <a:t>INTELLIGENCE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1691640"/>
            <a:ext cx="256032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Competitive Intel Brief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1691640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Arial"/>
              </a:rPr>
              <a:t>Research → Content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1691640"/>
            <a:ext cx="13716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Arial"/>
              </a:rPr>
              <a:t>Weekly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1929384"/>
            <a:ext cx="256032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Market Research Report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1929384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Arial"/>
              </a:rPr>
              <a:t>Research → Content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0" y="1929384"/>
            <a:ext cx="13716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Arial"/>
              </a:rPr>
              <a:t>Monthly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2167128"/>
            <a:ext cx="256032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Industry Signal Monitor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2167128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Arial"/>
              </a:rPr>
              <a:t>Marketing → Research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2167128"/>
            <a:ext cx="13716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Arial"/>
              </a:rPr>
              <a:t>Weekly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02920" y="2423160"/>
            <a:ext cx="8138160" cy="0"/>
          </a:xfrm>
          <a:prstGeom prst="line">
            <a:avLst/>
          </a:prstGeom>
          <a:ln w="12700">
            <a:solidFill>
              <a:srgbClr val="EEEE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02920" y="2478024"/>
            <a:ext cx="118872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E8873B"/>
                </a:solidFill>
                <a:latin typeface="Arial"/>
              </a:rPr>
              <a:t>OPERATIONS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37360" y="2478024"/>
            <a:ext cx="256032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Meeting Prep Brief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2478024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Arial"/>
              </a:rPr>
              <a:t>CRM → Research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23760" y="2478024"/>
            <a:ext cx="13716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Arial"/>
              </a:rPr>
              <a:t>On-demand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37360" y="2715768"/>
            <a:ext cx="256032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Stakeholder Update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20" y="2715768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Arial"/>
              </a:rPr>
              <a:t>Research → Content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23760" y="2715768"/>
            <a:ext cx="13716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Arial"/>
              </a:rPr>
              <a:t>Monthly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37360" y="2953512"/>
            <a:ext cx="256032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Project Status Report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20" y="2953512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Arial"/>
              </a:rPr>
              <a:t>Slack → CRM → Content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23760" y="2953512"/>
            <a:ext cx="13716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Arial"/>
              </a:rPr>
              <a:t>Weekly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02920" y="3209544"/>
            <a:ext cx="8138160" cy="0"/>
          </a:xfrm>
          <a:prstGeom prst="line">
            <a:avLst/>
          </a:prstGeom>
          <a:ln w="12700">
            <a:solidFill>
              <a:srgbClr val="EEEE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02920" y="3264408"/>
            <a:ext cx="118872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E8873B"/>
                </a:solidFill>
                <a:latin typeface="Arial"/>
              </a:rPr>
              <a:t>PLATFORM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737360" y="3264408"/>
            <a:ext cx="256032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Slack Recap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89120" y="3264408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Arial"/>
              </a:rPr>
              <a:t>Slack Bot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23760" y="3264408"/>
            <a:ext cx="13716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Arial"/>
              </a:rPr>
              <a:t>Daily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737360" y="3502152"/>
            <a:ext cx="256032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Notion Sync Report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89120" y="3502152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Arial"/>
              </a:rPr>
              <a:t>Notion Bot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23760" y="3502152"/>
            <a:ext cx="13716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Arial"/>
              </a:rPr>
              <a:t>Weekly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502920" y="3758184"/>
            <a:ext cx="8138160" cy="0"/>
          </a:xfrm>
          <a:prstGeom prst="line">
            <a:avLst/>
          </a:prstGeom>
          <a:ln w="12700">
            <a:solidFill>
              <a:srgbClr val="EEEE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502920" y="3813048"/>
            <a:ext cx="118872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E8873B"/>
                </a:solidFill>
                <a:latin typeface="Arial"/>
              </a:rPr>
              <a:t>CONTENT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737360" y="3813048"/>
            <a:ext cx="256032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Content Brief / Blog Draft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89120" y="3813048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Arial"/>
              </a:rPr>
              <a:t>Research → Content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23760" y="3813048"/>
            <a:ext cx="13716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Arial"/>
              </a:rPr>
              <a:t>On-demand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737360" y="4050792"/>
            <a:ext cx="256032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Launch Material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389120" y="4050792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Arial"/>
              </a:rPr>
              <a:t>Marketing → Content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223760" y="4050792"/>
            <a:ext cx="13716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Arial"/>
              </a:rPr>
              <a:t>On-demand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502920" y="4306824"/>
            <a:ext cx="8138160" cy="0"/>
          </a:xfrm>
          <a:prstGeom prst="line">
            <a:avLst/>
          </a:prstGeom>
          <a:ln w="12700">
            <a:solidFill>
              <a:srgbClr val="EEEE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502920" y="4361688"/>
            <a:ext cx="118872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E8873B"/>
                </a:solidFill>
                <a:latin typeface="Arial"/>
              </a:rPr>
              <a:t>TRACKING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737360" y="4361688"/>
            <a:ext cx="256032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GTM Tracker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389120" y="4361688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Arial"/>
              </a:rPr>
              <a:t>Marketing → Content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223760" y="4361688"/>
            <a:ext cx="13716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Arial"/>
              </a:rPr>
              <a:t>Weekly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502920" y="4617720"/>
            <a:ext cx="8138160" cy="0"/>
          </a:xfrm>
          <a:prstGeom prst="line">
            <a:avLst/>
          </a:prstGeom>
          <a:ln w="12700">
            <a:solidFill>
              <a:srgbClr val="EEEE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ectangle 52"/>
          <p:cNvSpPr/>
          <p:nvPr/>
        </p:nvSpPr>
        <p:spPr>
          <a:xfrm>
            <a:off x="502920" y="4809744"/>
            <a:ext cx="8138160" cy="502920"/>
          </a:xfrm>
          <a:prstGeom prst="rect">
            <a:avLst/>
          </a:prstGeom>
          <a:solidFill>
            <a:srgbClr val="FD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40080" y="4873752"/>
            <a:ext cx="78638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Arial"/>
              </a:rPr>
              <a:t>You describe the work. Your employees figure out the team, the handoffs, and the schedule. Deterministic cost, no ad-hoc prompting.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i="0" dirty="0">
                <a:solidFill>
                  <a:srgbClr val="E8873B"/>
                </a:solidFill>
                <a:latin typeface="Arial"/>
              </a:rPr>
              <a:t>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7772400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 i="0" dirty="0">
                <a:solidFill>
                  <a:srgbClr val="1A1A1A"/>
                </a:solidFill>
                <a:latin typeface="Arial"/>
              </a:rPr>
              <a:t>Your team. Eight specialists, each with a role.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05840"/>
            <a:ext cx="777240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1200" b="0" i="0" dirty="0">
                <a:solidFill>
                  <a:srgbClr val="999999"/>
                </a:solidFill>
                <a:latin typeface="Arial"/>
              </a:rPr>
              <a:t>Persistent identities. Individual memory. Learned preferences. Team collaboration.</a:t>
            </a:r>
            <a:endParaRPr sz="1200" b="0" i="0" dirty="0">
              <a:solidFill>
                <a:srgbClr val="999999"/>
              </a:solidFill>
              <a:latin typeface="Arial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11480" y="1389116"/>
            <a:ext cx="1965960" cy="1234440"/>
          </a:xfrm>
          <a:prstGeom prst="rect">
            <a:avLst/>
          </a:prstGeom>
          <a:solidFill>
            <a:srgbClr val="E89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21208" y="1480556"/>
            <a:ext cx="1746504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rial"/>
              </a:rPr>
              <a:t>Briefer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8" y="1846316"/>
            <a:ext cx="1746504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FFE8D0"/>
                </a:solidFill>
                <a:latin typeface="Arial"/>
              </a:rPr>
              <a:t>Recurring digests from platform activity. Your daily pulse on what happened.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2514600" y="1389116"/>
            <a:ext cx="1965960" cy="1234440"/>
          </a:xfrm>
          <a:prstGeom prst="rect">
            <a:avLst/>
          </a:prstGeom>
          <a:solidFill>
            <a:srgbClr val="E89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624328" y="1480556"/>
            <a:ext cx="1746504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rial"/>
              </a:rPr>
              <a:t>Monitor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24328" y="1846316"/>
            <a:ext cx="1746504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FFE8D0"/>
                </a:solidFill>
                <a:latin typeface="Arial"/>
              </a:rPr>
              <a:t>Watches for changes and patterns. Alerts on what matters, ignores what doesn't.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17720" y="1389116"/>
            <a:ext cx="1965960" cy="1234440"/>
          </a:xfrm>
          <a:prstGeom prst="rect">
            <a:avLst/>
          </a:prstGeom>
          <a:solidFill>
            <a:srgbClr val="E89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27448" y="1480556"/>
            <a:ext cx="1746504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rial"/>
              </a:rPr>
              <a:t>Researcher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27448" y="1846316"/>
            <a:ext cx="1746504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FFE8D0"/>
                </a:solidFill>
                <a:latin typeface="Arial"/>
              </a:rPr>
              <a:t>Deep dives with web search. Finds context beyond your connected platforms.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20840" y="1389116"/>
            <a:ext cx="1965960" cy="1234440"/>
          </a:xfrm>
          <a:prstGeom prst="rect">
            <a:avLst/>
          </a:prstGeom>
          <a:solidFill>
            <a:srgbClr val="E89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30568" y="1480556"/>
            <a:ext cx="1746504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rial"/>
              </a:rPr>
              <a:t>Analyst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30568" y="1846316"/>
            <a:ext cx="1746504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FFE8D0"/>
                </a:solidFill>
                <a:latin typeface="Arial"/>
              </a:rPr>
              <a:t>Cross-references sources. Surfaces patterns humans miss across platforms.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2760716"/>
            <a:ext cx="1965960" cy="1234440"/>
          </a:xfrm>
          <a:prstGeom prst="rect">
            <a:avLst/>
          </a:prstGeom>
          <a:noFill/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21208" y="2852156"/>
            <a:ext cx="1746504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Arial"/>
              </a:rPr>
              <a:t>Drafter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8" y="3217916"/>
            <a:ext cx="1746504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Arial"/>
              </a:rPr>
              <a:t>Produces first drafts from briefs. Turns PM instructions into starting points.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14600" y="2760716"/>
            <a:ext cx="1965960" cy="1234440"/>
          </a:xfrm>
          <a:prstGeom prst="rect">
            <a:avLst/>
          </a:prstGeom>
          <a:noFill/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624328" y="2852156"/>
            <a:ext cx="1746504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Arial"/>
              </a:rPr>
              <a:t>Writer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24328" y="3217916"/>
            <a:ext cx="1746504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Arial"/>
              </a:rPr>
              <a:t>Polished final output. Blog posts, reports, memos that ship as-is.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617720" y="2760716"/>
            <a:ext cx="1965960" cy="1234440"/>
          </a:xfrm>
          <a:prstGeom prst="rect">
            <a:avLst/>
          </a:prstGeom>
          <a:noFill/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727448" y="2852156"/>
            <a:ext cx="1746504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Arial"/>
              </a:rPr>
              <a:t>Planner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27448" y="3217916"/>
            <a:ext cx="1746504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Arial"/>
              </a:rPr>
              <a:t>Roadmaps, strategies, structured plans. Turns goals into actionable sequences.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720840" y="2760716"/>
            <a:ext cx="1965960" cy="1234440"/>
          </a:xfrm>
          <a:prstGeom prst="rect">
            <a:avLst/>
          </a:prstGeom>
          <a:noFill/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830568" y="2852156"/>
            <a:ext cx="1746504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Arial"/>
              </a:rPr>
              <a:t>Scout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30568" y="3217916"/>
            <a:ext cx="1746504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Arial"/>
              </a:rPr>
              <a:t>Tracks competitors and market signals. Watches the outside while you work inside.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1480" y="4132316"/>
            <a:ext cx="8321040" cy="782584"/>
          </a:xfrm>
          <a:prstGeom prst="rect">
            <a:avLst/>
          </a:prstGeom>
          <a:solidFill>
            <a:srgbClr val="FD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02920" y="4205468"/>
            <a:ext cx="1097280" cy="6001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 dirty="0">
                <a:solidFill>
                  <a:srgbClr val="E8873B"/>
                </a:solidFill>
                <a:latin typeface="Arial"/>
              </a:rPr>
              <a:t>P</a:t>
            </a:r>
            <a:r>
              <a:rPr lang="en-US" sz="1300" b="1" i="0" dirty="0">
                <a:solidFill>
                  <a:srgbClr val="E8873B"/>
                </a:solidFill>
                <a:latin typeface="Arial"/>
              </a:rPr>
              <a:t>roject Manager Agent</a:t>
            </a:r>
            <a:endParaRPr sz="1300" b="1" i="0" dirty="0">
              <a:solidFill>
                <a:srgbClr val="E8873B"/>
              </a:solidFill>
              <a:latin typeface="Arial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691640" y="4354331"/>
            <a:ext cx="6858000" cy="3385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 dirty="0">
                <a:solidFill>
                  <a:srgbClr val="666666"/>
                </a:solidFill>
                <a:latin typeface="Arial"/>
              </a:rPr>
              <a:t>Coordinates the team, gates quality, steers contributors. Your AI chief of staff.</a:t>
            </a:r>
            <a:endParaRPr lang="en-US" sz="1100" b="0" i="0" dirty="0">
              <a:solidFill>
                <a:srgbClr val="666666"/>
              </a:solidFill>
              <a:latin typeface="Arial"/>
            </a:endParaRPr>
          </a:p>
          <a:p>
            <a:pPr algn="l"/>
            <a:r>
              <a:rPr sz="1100" b="0" i="0" dirty="0">
                <a:solidFill>
                  <a:srgbClr val="666666"/>
                </a:solidFill>
                <a:latin typeface="Arial"/>
              </a:rPr>
              <a:t>One per project.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i="0">
                <a:solidFill>
                  <a:srgbClr val="E8873B"/>
                </a:solidFill>
                <a:latin typeface="Arial"/>
              </a:rPr>
              <a:t>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7772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 i="0">
                <a:solidFill>
                  <a:srgbClr val="1A1A1A"/>
                </a:solidFill>
                <a:latin typeface="Arial"/>
              </a:rPr>
              <a:t>How Employees Onboard and Grow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999999"/>
                </a:solidFill>
                <a:latin typeface="Arial"/>
              </a:rPr>
              <a:t>Like real employees — they learn your business, then produce. And they get better every week.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280160"/>
            <a:ext cx="1508760" cy="1417320"/>
          </a:xfrm>
          <a:prstGeom prst="rect">
            <a:avLst/>
          </a:prstGeom>
          <a:solidFill>
            <a:srgbClr val="E89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1371600"/>
            <a:ext cx="13258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Context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828800"/>
            <a:ext cx="13258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FFE8D0"/>
                </a:solidFill>
                <a:latin typeface="Arial"/>
              </a:rPr>
              <a:t>Connect Slack + Notion.
Content syncs and
accumulates over time.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37944" y="1783080"/>
            <a:ext cx="1097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E8873B"/>
                </a:solidFill>
                <a:latin typeface="Arial"/>
              </a:rPr>
              <a:t>▶</a:t>
            </a:r>
          </a:p>
        </p:txBody>
      </p:sp>
      <p:sp>
        <p:nvSpPr>
          <p:cNvPr id="9" name="Rectangle 8"/>
          <p:cNvSpPr/>
          <p:nvPr/>
        </p:nvSpPr>
        <p:spPr>
          <a:xfrm>
            <a:off x="1947672" y="1280160"/>
            <a:ext cx="1508760" cy="141732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039112" y="1371600"/>
            <a:ext cx="13258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Inference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39112" y="1828800"/>
            <a:ext cx="13258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DDDDDD"/>
                </a:solidFill>
                <a:latin typeface="Arial"/>
              </a:rPr>
              <a:t>System reads your work.
Extracts identity, brand,
scopes from docs + chat.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65576" y="1783080"/>
            <a:ext cx="1097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E8873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75304" y="1280160"/>
            <a:ext cx="1508760" cy="141732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66744" y="1371600"/>
            <a:ext cx="13258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Task Type
Selection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66744" y="1828800"/>
            <a:ext cx="13258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DDDDDD"/>
                </a:solidFill>
                <a:latin typeface="Arial"/>
              </a:rPr>
              <a:t>Pick deliverables from
the catalog. Each has a
pre-built pipeline.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93208" y="1783080"/>
            <a:ext cx="1097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E8873B"/>
                </a:solidFill>
                <a:latin typeface="Arial"/>
              </a:rPr>
              <a:t>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202936" y="1280160"/>
            <a:ext cx="1508760" cy="141732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294376" y="1371600"/>
            <a:ext cx="13258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Pipeline
Execution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94376" y="1828800"/>
            <a:ext cx="13258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DDDDDD"/>
                </a:solidFill>
                <a:latin typeface="Arial"/>
              </a:rPr>
              <a:t>Multi-agent pipeline runs
mechanically. Each step
hands off to the next.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40" y="1783080"/>
            <a:ext cx="1097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E8873B"/>
                </a:solidFill>
                <a:latin typeface="Arial"/>
              </a:rPr>
              <a:t>▶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30568" y="1280160"/>
            <a:ext cx="1508760" cy="1417320"/>
          </a:xfrm>
          <a:prstGeom prst="rect">
            <a:avLst/>
          </a:prstGeom>
          <a:solidFill>
            <a:srgbClr val="E89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922008" y="1371600"/>
            <a:ext cx="13258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Autonomous
Delivery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22008" y="1828800"/>
            <a:ext cx="13258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FFE8D0"/>
                </a:solidFill>
                <a:latin typeface="Arial"/>
              </a:rPr>
              <a:t>Output compounds weekly.
Feedback refines agents.
Quality improves with use.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02920" y="2880360"/>
            <a:ext cx="8138160" cy="0"/>
          </a:xfrm>
          <a:prstGeom prst="line">
            <a:avLst/>
          </a:prstGeom>
          <a:ln w="1270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02920" y="3017520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Arial"/>
              </a:rPr>
              <a:t>What makes this an employee, not a tool: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3383280"/>
            <a:ext cx="26060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i="0">
                <a:solidFill>
                  <a:srgbClr val="E8873B"/>
                </a:solidFill>
                <a:latin typeface="Arial"/>
              </a:rPr>
              <a:t>Job descriptions, not ad-hoc prompts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3657600"/>
            <a:ext cx="260604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Arial"/>
              </a:rPr>
              <a:t>Every task has a defined execution plan. Employees run on schedule, with handoffs. Deterministic cost. No prompting required.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46120" y="3383280"/>
            <a:ext cx="26060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i="0">
                <a:solidFill>
                  <a:srgbClr val="E8873B"/>
                </a:solidFill>
                <a:latin typeface="Arial"/>
              </a:rPr>
              <a:t>Transparent, editable work product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46120" y="3657600"/>
            <a:ext cx="260604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Arial"/>
              </a:rPr>
              <a:t>TASK.md + AGENT.md define everything. No hidden state. You can read and edit the same files your employees use.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89320" y="3383280"/>
            <a:ext cx="26060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i="0">
                <a:solidFill>
                  <a:srgbClr val="E8873B"/>
                </a:solidFill>
                <a:latin typeface="Arial"/>
              </a:rPr>
              <a:t>Tenure creates irreplaceable value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89320" y="3657600"/>
            <a:ext cx="260604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Arial"/>
              </a:rPr>
              <a:t>Tools reset every session. Employees accumulate expertise. Every run deepens knowledge. 90 days of tenure is irreplaceable.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 Moat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Employee Tenure Is the Moat. Switching Costs Follow.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reset. Employees accumulate. Every run deepens expertise. Every edit teaches preferences. 90 days of tenure is irreplaceable.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moat mechanics: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0666" y="2286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87866" y="22860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Accumulation:</a:t>
            </a: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Every execution cycle deepens cross-platform understanding. AI employees don’t start from zero — they compound.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0666" y="2971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87866" y="29718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Coordination:</a:t>
            </a: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Multi-agent handoffs refine with each cycle. Organizational intelligence compounds independently of individual agent improvement.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0666" y="3657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87866" y="36576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Irreversibility:</a:t>
            </a: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90 days of accumulated employee intelligence — domain knowledge, learned preferences, feedback history — can’t be replicated by downloading a new tool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066" y="2423160"/>
            <a:ext cx="1463040" cy="1463040"/>
          </a:xfrm>
          <a:prstGeom prst="ellipse">
            <a:avLst/>
          </a:prstGeom>
          <a:solidFill>
            <a:srgbClr val="E8943B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3" name="Text 11"/>
          <p:cNvSpPr/>
          <p:nvPr/>
        </p:nvSpPr>
        <p:spPr>
          <a:xfrm>
            <a:off x="6217066" y="260604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Compounding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Intelligence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91386" y="1874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771546" y="2971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Accumulate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399946" y="40690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8346" y="2971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Supervise</a:t>
            </a:r>
            <a:endParaRPr lang="en-US" sz="1100" dirty="0"/>
          </a:p>
        </p:txBody>
      </p:sp>
      <p:cxnSp>
        <p:nvCxnSpPr>
          <p:cNvPr id="19" name="Curved Connector 18">
            <a:extLst>
              <a:ext uri="{FF2B5EF4-FFF2-40B4-BE49-F238E27FC236}">
                <a16:creationId xmlns:a16="http://schemas.microsoft.com/office/drawing/2014/main" id="{5B16DD62-E25B-D49E-C852-B1BFA1C6DE7D}"/>
              </a:ext>
            </a:extLst>
          </p:cNvPr>
          <p:cNvCxnSpPr>
            <a:cxnSpLocks/>
            <a:stCxn id="14" idx="3"/>
            <a:endCxn id="15" idx="0"/>
          </p:cNvCxnSpPr>
          <p:nvPr/>
        </p:nvCxnSpPr>
        <p:spPr>
          <a:xfrm>
            <a:off x="7405786" y="2011680"/>
            <a:ext cx="914400" cy="960120"/>
          </a:xfrm>
          <a:prstGeom prst="curvedConnector2">
            <a:avLst/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urved Connector 19">
            <a:extLst>
              <a:ext uri="{FF2B5EF4-FFF2-40B4-BE49-F238E27FC236}">
                <a16:creationId xmlns:a16="http://schemas.microsoft.com/office/drawing/2014/main" id="{12BD9378-8CCC-6F5A-2B44-D8B54A898876}"/>
              </a:ext>
            </a:extLst>
          </p:cNvPr>
          <p:cNvCxnSpPr>
            <a:cxnSpLocks/>
            <a:stCxn id="15" idx="2"/>
            <a:endCxn id="16" idx="3"/>
          </p:cNvCxnSpPr>
          <p:nvPr/>
        </p:nvCxnSpPr>
        <p:spPr>
          <a:xfrm rot="5400000">
            <a:off x="7428646" y="3314700"/>
            <a:ext cx="960120" cy="822960"/>
          </a:xfrm>
          <a:prstGeom prst="curvedConnector2">
            <a:avLst/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urved Connector 23">
            <a:extLst>
              <a:ext uri="{FF2B5EF4-FFF2-40B4-BE49-F238E27FC236}">
                <a16:creationId xmlns:a16="http://schemas.microsoft.com/office/drawing/2014/main" id="{99156217-C786-CD09-58CD-2F6ED9430DEE}"/>
              </a:ext>
            </a:extLst>
          </p:cNvPr>
          <p:cNvCxnSpPr>
            <a:cxnSpLocks/>
            <a:stCxn id="17" idx="0"/>
            <a:endCxn id="14" idx="1"/>
          </p:cNvCxnSpPr>
          <p:nvPr/>
        </p:nvCxnSpPr>
        <p:spPr>
          <a:xfrm rot="5400000" flipH="1" flipV="1">
            <a:off x="5554126" y="2034540"/>
            <a:ext cx="960120" cy="914400"/>
          </a:xfrm>
          <a:prstGeom prst="curvedConnector2">
            <a:avLst/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urved Connector 24">
            <a:extLst>
              <a:ext uri="{FF2B5EF4-FFF2-40B4-BE49-F238E27FC236}">
                <a16:creationId xmlns:a16="http://schemas.microsoft.com/office/drawing/2014/main" id="{D2523D0D-0180-EBF8-BA4A-B506C0FE5CCA}"/>
              </a:ext>
            </a:extLst>
          </p:cNvPr>
          <p:cNvCxnSpPr>
            <a:cxnSpLocks/>
            <a:stCxn id="16" idx="1"/>
            <a:endCxn id="17" idx="2"/>
          </p:cNvCxnSpPr>
          <p:nvPr/>
        </p:nvCxnSpPr>
        <p:spPr>
          <a:xfrm rot="10800000">
            <a:off x="5576986" y="3246120"/>
            <a:ext cx="822960" cy="960120"/>
          </a:xfrm>
          <a:prstGeom prst="curvedConnector2">
            <a:avLst/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focused-upbeat-hopper/assets/yarn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1920240"/>
            <a:ext cx="914400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0" y="182880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Positioning  •  Market  •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Landscape</a:t>
            </a:r>
            <a:endParaRPr lang="en-US" sz="2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vs. Employees. Two structurally different categories.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local-first wave proves demand. yarnnn is where tool users graduate when they need work to run without them.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5768405"/>
              </p:ext>
            </p:extLst>
          </p:nvPr>
        </p:nvGraphicFramePr>
        <p:xfrm>
          <a:off x="457200" y="1645920"/>
          <a:ext cx="4937760" cy="3346704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887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yarnnn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Tools (OpenClaw, Claude Code, Cowork)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ChatGPT + Memory</a:t>
                      </a:r>
                      <a:br>
                        <a:rPr lang="en-US" sz="8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</a:br>
                      <a:r>
                        <a:rPr lang="en-US" sz="8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/Claude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Memory Startups (Mem.ai, Granola)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Mem.ai, Genspark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Workspace AI (Notion, Gemini)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Notion, Slack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Persistent agent identity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665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✘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✘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✘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Autonomous scheduled execution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665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Evolving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✘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✘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Single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Cross-platform accumulation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665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✘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✘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✘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Feedback compounds quality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665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Scheduled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✘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665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✘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Multi-agent coordination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665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Accumulation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Evolving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✘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✘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Cloud-native (runs without user)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665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✘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✘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✘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406641" y="1714500"/>
            <a:ext cx="0" cy="292608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Shape 4"/>
          <p:cNvSpPr/>
          <p:nvPr/>
        </p:nvSpPr>
        <p:spPr>
          <a:xfrm>
            <a:off x="5943600" y="3108960"/>
            <a:ext cx="2743200" cy="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8" name="Text 5"/>
          <p:cNvSpPr/>
          <p:nvPr/>
        </p:nvSpPr>
        <p:spPr>
          <a:xfrm>
            <a:off x="7040881" y="15316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Autonomy</a:t>
            </a:r>
            <a:endParaRPr lang="en-US" sz="900" i="1" dirty="0"/>
          </a:p>
        </p:txBody>
      </p:sp>
      <p:sp>
        <p:nvSpPr>
          <p:cNvPr id="9" name="Text 6"/>
          <p:cNvSpPr/>
          <p:nvPr/>
        </p:nvSpPr>
        <p:spPr>
          <a:xfrm>
            <a:off x="8046720" y="3114941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</a:t>
            </a:r>
            <a:endParaRPr lang="en-US" sz="900" i="1" dirty="0"/>
          </a:p>
          <a:p>
            <a:pPr marL="0" indent="0">
              <a:buNone/>
            </a:pPr>
            <a:r>
              <a:rPr lang="en-US" sz="9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Accumulation</a:t>
            </a:r>
            <a:endParaRPr lang="en-US" sz="900" i="1" dirty="0"/>
          </a:p>
        </p:txBody>
      </p:sp>
      <p:sp>
        <p:nvSpPr>
          <p:cNvPr id="10" name="Text 7"/>
          <p:cNvSpPr/>
          <p:nvPr/>
        </p:nvSpPr>
        <p:spPr>
          <a:xfrm>
            <a:off x="7589520" y="18382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yarnnn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217921" y="2537033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 + Memory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7578411" y="24688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Cowork /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Genspark</a:t>
            </a:r>
            <a:endParaRPr lang="en-US" sz="900" dirty="0"/>
          </a:p>
        </p:txBody>
      </p:sp>
      <p:sp>
        <p:nvSpPr>
          <p:cNvPr id="5" name="Text 10"/>
          <p:cNvSpPr/>
          <p:nvPr/>
        </p:nvSpPr>
        <p:spPr>
          <a:xfrm>
            <a:off x="6217921" y="4045794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Workspace AI (Notion, Gemini)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7589520" y="4045794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Agent-based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Startups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Starting with solo consultants. Expanding from there.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Entry wedge: Solo consultants with recurring client obligations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26517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" name="Text 4"/>
          <p:cNvSpPr/>
          <p:nvPr/>
        </p:nvSpPr>
        <p:spPr>
          <a:xfrm>
            <a:off x="594360" y="169164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94360" y="18745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$4.35B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94360" y="23317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productivity tools market (31% CAGR)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291840" y="1645920"/>
            <a:ext cx="26517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0" name="Text 8"/>
          <p:cNvSpPr/>
          <p:nvPr/>
        </p:nvSpPr>
        <p:spPr>
          <a:xfrm>
            <a:off x="3429000" y="169164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429000" y="18745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$1.14B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429000" y="23317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~5M solo consultants globally × $228/yr (Pro annual)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6126480" y="1645920"/>
            <a:ext cx="2651760" cy="1188720"/>
          </a:xfrm>
          <a:prstGeom prst="rect">
            <a:avLst/>
          </a:prstGeom>
          <a:solidFill>
            <a:srgbClr val="E8943B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4" name="Text 12"/>
          <p:cNvSpPr/>
          <p:nvPr/>
        </p:nvSpPr>
        <p:spPr>
          <a:xfrm>
            <a:off x="6263640" y="169164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Entry SOM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263640" y="18745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$4.6M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263640" y="23317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E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20K consultants in first 3 years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40080" y="3108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Expansion path: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" y="35204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463040" y="35204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consultants graduating from AI tools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566160" y="35204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Recurring reports, clear pain, willing to pay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" y="390448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463040" y="39044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Founders &amp; executives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566160" y="390448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Investor updates, board prep, strategic briefs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" y="428853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463040" y="428853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Teams &amp; ops leads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566160" y="428853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Standups, project reports, cross-team synthesis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0080" y="467258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463040" y="467258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knowledge workers &amp;#x2014; anyone hiring AI employees instead of operating AI tools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566160" y="467258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professional with recurring work obligations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i="0">
                <a:solidFill>
                  <a:srgbClr val="E8873B"/>
                </a:solidFill>
                <a:latin typeface="Arial"/>
              </a:rPr>
              <a:t>Pricing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77724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 i="0">
                <a:solidFill>
                  <a:srgbClr val="1A1A1A"/>
                </a:solidFill>
                <a:latin typeface="Arial"/>
              </a:rPr>
              <a:t>Two tiers. Work credits are the lever.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88720"/>
            <a:ext cx="2468880" cy="2926080"/>
          </a:xfrm>
          <a:prstGeom prst="rect">
            <a:avLst/>
          </a:prstGeom>
          <a:noFill/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325880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Arial"/>
              </a:rPr>
              <a:t>Free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1371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Arial"/>
              </a:rPr>
              <a:t>$0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1828800"/>
            <a:ext cx="7315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1">
                <a:solidFill>
                  <a:srgbClr val="666666"/>
                </a:solidFill>
                <a:latin typeface="Arial"/>
              </a:rPr>
              <a:t>/mo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240280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Arial"/>
              </a:rPr>
              <a:t>·  2 active tasks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532888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Arial"/>
              </a:rPr>
              <a:t>·  20 work credits / month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825496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Arial"/>
              </a:rPr>
              <a:t>·  150 chat messages / month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118104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Arial"/>
              </a:rPr>
              <a:t>·  5 Slack / 10 Notion sources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410712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Arial"/>
              </a:rPr>
              <a:t>·  Daily sync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37560" y="1188720"/>
            <a:ext cx="2468880" cy="2926080"/>
          </a:xfrm>
          <a:prstGeom prst="rect">
            <a:avLst/>
          </a:prstGeom>
          <a:noFill/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520440" y="1325880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Arial"/>
              </a:rPr>
              <a:t>Pro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1645920"/>
            <a:ext cx="1371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Arial"/>
              </a:rPr>
              <a:t>$19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9160" y="1828800"/>
            <a:ext cx="7315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1">
                <a:solidFill>
                  <a:srgbClr val="666666"/>
                </a:solidFill>
                <a:latin typeface="Arial"/>
              </a:rPr>
              <a:t>/mo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40" y="2240280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Arial"/>
              </a:rPr>
              <a:t>·  10 active tasks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40" y="2532888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Arial"/>
              </a:rPr>
              <a:t>·  500 work credits / month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40" y="2825496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Arial"/>
              </a:rPr>
              <a:t>·  Unlimited chat messages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20440" y="3118104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Arial"/>
              </a:rPr>
              <a:t>·  Unlimited sources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0440" y="3410712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Arial"/>
              </a:rPr>
              <a:t>·  Hourly sync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35040" y="1188720"/>
            <a:ext cx="2468880" cy="2926080"/>
          </a:xfrm>
          <a:prstGeom prst="rect">
            <a:avLst/>
          </a:prstGeom>
          <a:solidFill>
            <a:srgbClr val="E89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217920" y="1325880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rial"/>
              </a:rPr>
              <a:t>Enterprise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1645920"/>
            <a:ext cx="1371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Arial"/>
              </a:rPr>
              <a:t>TBD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06640" y="1828800"/>
            <a:ext cx="7315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1">
                <a:solidFill>
                  <a:srgbClr val="FFE8D0"/>
                </a:solidFill>
                <a:latin typeface="Arial"/>
              </a:rPr>
              <a:t>/mo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2240280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FFE8D0"/>
                </a:solidFill>
                <a:latin typeface="Arial"/>
              </a:rPr>
              <a:t>·  Everything in Pro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2532888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FFE8D0"/>
                </a:solidFill>
                <a:latin typeface="Arial"/>
              </a:rPr>
              <a:t>·  Team workspaces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2825496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FFE8D0"/>
                </a:solidFill>
                <a:latin typeface="Arial"/>
              </a:rPr>
              <a:t>·  Priority support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3118104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FFE8D0"/>
                </a:solidFill>
                <a:latin typeface="Arial"/>
              </a:rPr>
              <a:t>·  Custom integrations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3410712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FFE8D0"/>
                </a:solidFill>
                <a:latin typeface="Arial"/>
              </a:rPr>
              <a:t>·  Agent-to-agent protocol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4297680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1">
                <a:solidFill>
                  <a:srgbClr val="999999"/>
                </a:solidFill>
                <a:latin typeface="Arial"/>
              </a:rPr>
              <a:t>Credits: task run = 3 credits, render/export = 1 credit. Multi-step pipelines cost 3 credits per step.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457200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1">
                <a:solidFill>
                  <a:srgbClr val="999999"/>
                </a:solidFill>
                <a:latin typeface="Arial"/>
              </a:rPr>
              <a:t>You pay employees. The subscription model is self-evident: $19/month for a team that works while you sleep.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Employee Workforce (shipped) → Cross-Platform Intelligence → Agent Protocol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phase deepens the value chain. Shipped work compounds into the next layer of capability.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365760" y="1554480"/>
            <a:ext cx="2743200" cy="3383280"/>
          </a:xfrm>
          <a:prstGeom prst="rect">
            <a:avLst/>
          </a:prstGeom>
          <a:solidFill>
            <a:srgbClr val="FDF0E4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KR" sz="1400"/>
          </a:p>
        </p:txBody>
      </p:sp>
      <p:sp>
        <p:nvSpPr>
          <p:cNvPr id="6" name="Text 4"/>
          <p:cNvSpPr/>
          <p:nvPr/>
        </p:nvSpPr>
        <p:spPr>
          <a:xfrm>
            <a:off x="502920" y="164592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SHIPPED ✓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18745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Coordinated Agent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" y="251460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Work-first onboarding + project scaffolding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02920" y="283464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 phase dispatch + quality gating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02920" y="315468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agent types (three-registry)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02920" y="347472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gateway: HTML compose, PDF, PPTX, XLSX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02920" y="379476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 substrate: edit distillation + self-reflection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02920" y="411480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Workspace filesystem + cross-agent collaboration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02920" y="443484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150+ Architecture Decision Records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108960" y="256032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►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291840" y="1554480"/>
            <a:ext cx="274320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KR" sz="1400"/>
          </a:p>
        </p:txBody>
      </p:sp>
      <p:sp>
        <p:nvSpPr>
          <p:cNvPr id="17" name="Text 15"/>
          <p:cNvSpPr/>
          <p:nvPr/>
        </p:nvSpPr>
        <p:spPr>
          <a:xfrm>
            <a:off x="3429000" y="164592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6-12mo.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429000" y="18745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Cross-Platform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Intelligence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429000" y="251460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Projects: multi-agent assembled deliverables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429000" y="283464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Composer-driven assembly from contributions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429000" y="315468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Deeper platform coverage: 365, Google Drive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429000" y="347472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HTML-native compose as output pipeline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035040" y="256032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►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217920" y="1554480"/>
            <a:ext cx="274320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KR" sz="1400"/>
          </a:p>
        </p:txBody>
      </p:sp>
      <p:sp>
        <p:nvSpPr>
          <p:cNvPr id="25" name="Text 23"/>
          <p:cNvSpPr/>
          <p:nvPr/>
        </p:nvSpPr>
        <p:spPr>
          <a:xfrm>
            <a:off x="6355080" y="164592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 +12mo.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355080" y="18745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Agent-to-Agent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355080" y="251460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protocol interop. External agents consume yarnnn context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355080" y="283464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Agent-to-agent coordination across systems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355080" y="315468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play: own the work context graph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(Pre) Seed - The Ask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$500K at $5M post-money valuation.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51760" cy="0"/>
          </a:xfrm>
          <a:prstGeom prst="line">
            <a:avLst/>
          </a:prstGeom>
          <a:noFill/>
          <a:ln w="25400">
            <a:solidFill>
              <a:srgbClr val="E8873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of funds: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Tech Lead (memory/ML)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207568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GTM Lead (creator community)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236829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12 months runway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91840" y="1371600"/>
            <a:ext cx="2651760" cy="0"/>
          </a:xfrm>
          <a:prstGeom prst="line">
            <a:avLst/>
          </a:prstGeom>
          <a:noFill/>
          <a:ln w="25400">
            <a:solidFill>
              <a:srgbClr val="E8873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0" name="Text 8"/>
          <p:cNvSpPr/>
          <p:nvPr/>
        </p:nvSpPr>
        <p:spPr>
          <a:xfrm>
            <a:off x="3291840" y="14630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now: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91840" y="178308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OpenClaw: 307K stars / 60 days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291840" y="207568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No one owns the employee layer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91840" y="236829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Architecture built, need team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26480" y="1371600"/>
            <a:ext cx="2651760" cy="0"/>
          </a:xfrm>
          <a:prstGeom prst="line">
            <a:avLst/>
          </a:prstGeom>
          <a:noFill/>
          <a:ln w="25400">
            <a:solidFill>
              <a:srgbClr val="E8873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5" name="Text 13"/>
          <p:cNvSpPr/>
          <p:nvPr/>
        </p:nvSpPr>
        <p:spPr>
          <a:xfrm>
            <a:off x="6126480" y="14630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Positioning: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126480" y="178308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Tools are everywhere. Employees are greenfield.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126480" y="207568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AI employees, not AI tools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017520"/>
            <a:ext cx="2651760" cy="0"/>
          </a:xfrm>
          <a:prstGeom prst="line">
            <a:avLst/>
          </a:prstGeom>
          <a:noFill/>
          <a:ln w="25400">
            <a:solidFill>
              <a:srgbClr val="E8873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9" name="Text 17"/>
          <p:cNvSpPr/>
          <p:nvPr/>
        </p:nvSpPr>
        <p:spPr>
          <a:xfrm>
            <a:off x="457200" y="31089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0: Team-Building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342900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ML engineer for memory extraction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372160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Community builder for creator GTM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401421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Seed funds → team of 3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91840" y="3017520"/>
            <a:ext cx="2651760" cy="0"/>
          </a:xfrm>
          <a:prstGeom prst="line">
            <a:avLst/>
          </a:prstGeom>
          <a:noFill/>
          <a:ln w="25400">
            <a:solidFill>
              <a:srgbClr val="E8873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4" name="Text 22"/>
          <p:cNvSpPr/>
          <p:nvPr/>
        </p:nvSpPr>
        <p:spPr>
          <a:xfrm>
            <a:off x="3291840" y="31089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Betting on an agent-first future: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291840" y="342900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Demand proven (307K stars). Employee gap open.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291840" y="372160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Tools create demand. Employees capture it.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126480" y="3017520"/>
            <a:ext cx="2651760" cy="0"/>
          </a:xfrm>
          <a:prstGeom prst="line">
            <a:avLst/>
          </a:prstGeom>
          <a:noFill/>
          <a:ln w="25400">
            <a:solidFill>
              <a:srgbClr val="E8873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8" name="Text 26"/>
          <p:cNvSpPr/>
          <p:nvPr/>
        </p:nvSpPr>
        <p:spPr>
          <a:xfrm>
            <a:off x="6126480" y="31089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Differentiation: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126480" y="342900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Persistent employees, not session-scoped tools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126480" y="372160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Cloud-native by structural necessity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126480" y="401421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150+ ADRs = architectural rigor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focused-upbeat-hopper/assets/yarn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40" y="1463040"/>
            <a:ext cx="1188720" cy="118872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114800" y="4389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yarnnn.com  ·  Kevin Kim  ·  seulkim88@gmail.com</a:t>
            </a:r>
            <a:endParaRPr lang="en-US" sz="9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F3ADF6D-BC9A-C5D6-246F-F756DEDA7C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3898" y="2651760"/>
            <a:ext cx="1322462" cy="427563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Kevin (Seul Ki) Kim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 &amp; CEO, KVK Labs (yarnnn)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</a:t>
            </a:r>
            <a:r>
              <a:rPr lang="en-US" sz="1000" dirty="0" err="1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www.linkedin.com</a:t>
            </a:r>
            <a:r>
              <a:rPr lang="en-US" sz="1000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/in/kimseulki0727/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965960"/>
            <a:ext cx="1828800" cy="0"/>
          </a:xfrm>
          <a:prstGeom prst="line">
            <a:avLst/>
          </a:prstGeom>
          <a:noFill/>
          <a:ln w="38100">
            <a:solidFill>
              <a:srgbClr val="E8873B"/>
            </a:solidFill>
            <a:prstDash val="solid"/>
          </a:ln>
        </p:spPr>
        <p:txBody>
          <a:bodyPr/>
          <a:lstStyle/>
          <a:p>
            <a:endParaRPr lang="en-KR" sz="1200"/>
          </a:p>
        </p:txBody>
      </p:sp>
      <p:sp>
        <p:nvSpPr>
          <p:cNvPr id="7" name="Text 5"/>
          <p:cNvSpPr/>
          <p:nvPr/>
        </p:nvSpPr>
        <p:spPr>
          <a:xfrm>
            <a:off x="640080" y="2092008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B.S. Industrial and Systems Engineering, Virginia Tech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2604072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 years designing CRM and GTM systems in FMCG.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286010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CMO, CPO positions in Korea based startups, Ran e-commerce fashion brand for 5 years,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3372168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Full-stack application for yarnnn, (Next.js + FastAPI + Supabase), two platform integrations,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3628200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AI employee architecture with task execution pipeline, documented across 150+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3884232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Decision Records.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414026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Targeting US market; execute GTM and team-building as priority next step.</a:t>
            </a:r>
            <a:endParaRPr lang="en-US" sz="1000" dirty="0"/>
          </a:p>
        </p:txBody>
      </p:sp>
      <p:sp>
        <p:nvSpPr>
          <p:cNvPr id="15" name="Text 0">
            <a:extLst>
              <a:ext uri="{FF2B5EF4-FFF2-40B4-BE49-F238E27FC236}">
                <a16:creationId xmlns:a16="http://schemas.microsoft.com/office/drawing/2014/main" id="{657FF407-4D8F-390F-55CA-087BD5988C05}"/>
              </a:ext>
            </a:extLst>
          </p:cNvPr>
          <p:cNvSpPr/>
          <p:nvPr/>
        </p:nvSpPr>
        <p:spPr>
          <a:xfrm>
            <a:off x="4114800" y="4389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yarnnn.com  ·  Kevin Kim  ·  kvkthecreator@gmail.com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Appendix: Value Realization Chain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User Experiences: Describe to Compound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22960" y="45720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 → Scaffold → Connect → First Value → Accumulate → Coordinate → Compound ↻</a:t>
            </a:r>
            <a:endParaRPr lang="en-US" sz="11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0911607"/>
              </p:ext>
            </p:extLst>
          </p:nvPr>
        </p:nvGraphicFramePr>
        <p:xfrm>
          <a:off x="457200" y="1554480"/>
          <a:ext cx="8229600" cy="288036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happens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the user sees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87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T+0s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User describes work, tasks scaffold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"I've set up 3 projects for your client work"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87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T+30s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Platforms connect, sources mapped to tasks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Dashboard: "Slack connected — channels mapped"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87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T+90s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Scheduler dispatches first task runs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First deliverables appear per project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87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Day 2-7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Daily pulse cycles, agents accumulate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Deliverables arrive, improving each run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87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Week 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Multi-agent coordination matures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Agent collaboration visible in output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87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Month 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Multiple agents running, feedback refining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Agents noticeably tailored to preferences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87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Month 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System identifies cross-task opportunities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System understands work deeply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Appendix: Architecture Depth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 Well-Funded Team Can't Shortcut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141290"/>
            <a:ext cx="4023360" cy="1280160"/>
          </a:xfrm>
          <a:prstGeom prst="rect">
            <a:avLst/>
          </a:prstGeom>
          <a:noFill/>
          <a:ln w="19050">
            <a:solidFill>
              <a:srgbClr val="E8873B"/>
            </a:solidFill>
            <a:prstDash val="solid"/>
          </a:ln>
        </p:spPr>
        <p:txBody>
          <a:bodyPr/>
          <a:lstStyle/>
          <a:p>
            <a:endParaRPr lang="en-KR" sz="1600"/>
          </a:p>
        </p:txBody>
      </p:sp>
      <p:sp>
        <p:nvSpPr>
          <p:cNvPr id="6" name="Text 4"/>
          <p:cNvSpPr/>
          <p:nvPr/>
        </p:nvSpPr>
        <p:spPr>
          <a:xfrm>
            <a:off x="594360" y="121444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"Claude Code Online" — Output Gateway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150705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capabilities model as Claude Code (SKILL.md + local tools + filesystem), but persistent, autonomous, and cloud-native — the structural requirements tools can’t satisfy. Two-filesystem architecture: capability filesystem (skills on Docker) + content filesystem (workspace per agent). Adding a new output format = adding a skill folder.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754880" y="1141290"/>
            <a:ext cx="4023360" cy="1280160"/>
          </a:xfrm>
          <a:prstGeom prst="rect">
            <a:avLst/>
          </a:prstGeom>
          <a:noFill/>
          <a:ln w="19050">
            <a:solidFill>
              <a:srgbClr val="E8873B"/>
            </a:solidFill>
            <a:prstDash val="solid"/>
          </a:ln>
        </p:spPr>
        <p:txBody>
          <a:bodyPr/>
          <a:lstStyle/>
          <a:p>
            <a:endParaRPr lang="en-KR" sz="1600"/>
          </a:p>
        </p:txBody>
      </p:sp>
      <p:sp>
        <p:nvSpPr>
          <p:cNvPr id="9" name="Text 7"/>
          <p:cNvSpPr/>
          <p:nvPr/>
        </p:nvSpPr>
        <p:spPr>
          <a:xfrm>
            <a:off x="4892040" y="121444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Multi-Agent Task Pipeline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892040" y="150705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Tasks define execution. Agents dispatched per TASK.md. Cross-agent context injection.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2558610"/>
            <a:ext cx="4023360" cy="1280160"/>
          </a:xfrm>
          <a:prstGeom prst="rect">
            <a:avLst/>
          </a:prstGeom>
          <a:noFill/>
          <a:ln w="19050">
            <a:solidFill>
              <a:srgbClr val="E8873B"/>
            </a:solidFill>
            <a:prstDash val="solid"/>
          </a:ln>
        </p:spPr>
        <p:txBody>
          <a:bodyPr/>
          <a:lstStyle/>
          <a:p>
            <a:endParaRPr lang="en-KR" sz="1600"/>
          </a:p>
        </p:txBody>
      </p:sp>
      <p:sp>
        <p:nvSpPr>
          <p:cNvPr id="12" name="Text 10"/>
          <p:cNvSpPr/>
          <p:nvPr/>
        </p:nvSpPr>
        <p:spPr>
          <a:xfrm>
            <a:off x="594360" y="263176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Feedback-to-Intelligence Loop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4360" y="292437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unified feedback rails: user edits distilled to persistent preferences, agent self-reflection after every run, PM reads contributor trajectories. Employees improve with tenure is structural, not aspirational.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54880" y="2558610"/>
            <a:ext cx="4023360" cy="1280160"/>
          </a:xfrm>
          <a:prstGeom prst="rect">
            <a:avLst/>
          </a:prstGeom>
          <a:noFill/>
          <a:ln w="19050">
            <a:solidFill>
              <a:srgbClr val="E8873B"/>
            </a:solidFill>
            <a:prstDash val="solid"/>
          </a:ln>
        </p:spPr>
        <p:txBody>
          <a:bodyPr/>
          <a:lstStyle/>
          <a:p>
            <a:endParaRPr lang="en-KR" sz="1600"/>
          </a:p>
        </p:txBody>
      </p:sp>
      <p:sp>
        <p:nvSpPr>
          <p:cNvPr id="15" name="Text 13"/>
          <p:cNvSpPr/>
          <p:nvPr/>
        </p:nvSpPr>
        <p:spPr>
          <a:xfrm>
            <a:off x="4892040" y="263176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Charter-Driven Deterministic Execution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92040" y="292437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charter files (TASK.md + DELIVERABLE.md + AGENT.md) define execution deterministically. Cadence enforcement prevents runaway loops. ~$0.06–$0.16 per task run at steady state. Predictable cost model.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4021650"/>
            <a:ext cx="8229600" cy="45720"/>
          </a:xfrm>
          <a:prstGeom prst="rect">
            <a:avLst/>
          </a:prstGeom>
          <a:solidFill>
            <a:srgbClr val="E8873B"/>
          </a:solidFill>
          <a:ln/>
        </p:spPr>
        <p:txBody>
          <a:bodyPr/>
          <a:lstStyle/>
          <a:p>
            <a:endParaRPr lang="en-KR" sz="1600"/>
          </a:p>
        </p:txBody>
      </p:sp>
      <p:sp>
        <p:nvSpPr>
          <p:cNvPr id="18" name="Text 16"/>
          <p:cNvSpPr/>
          <p:nvPr/>
        </p:nvSpPr>
        <p:spPr>
          <a:xfrm>
            <a:off x="457200" y="415881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compounds into defensibility: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57200" y="434169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PM coordination can't work without the feedback substrate. The feedback substrate can't work without the workspace filesystem. The workspace filesystem can't work without the perception pipeline populating it. A team starting today would need to discover these interdependencies through the same 150+ decisions — or build a simpler system that can't compound.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2244</Words>
  <Application>Microsoft Macintosh PowerPoint</Application>
  <PresentationFormat>On-screen Show (16:9)</PresentationFormat>
  <Paragraphs>406</Paragraphs>
  <Slides>21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3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IR Deck - yarnnn - March 2026 v3</dc:title>
  <dc:subject>PptxGenJS Presentation</dc:subject>
  <dc:creator>Kevin Kim</dc:creator>
  <cp:lastModifiedBy>SEULKI KIM</cp:lastModifiedBy>
  <cp:revision>7</cp:revision>
  <dcterms:created xsi:type="dcterms:W3CDTF">2026-03-24T05:11:00Z</dcterms:created>
  <dcterms:modified xsi:type="dcterms:W3CDTF">2026-03-31T05:29:22Z</dcterms:modified>
</cp:coreProperties>
</file>