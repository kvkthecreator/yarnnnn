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8" r:id="rId6"/>
    <p:sldId id="260" r:id="rId7"/>
    <p:sldId id="261" r:id="rId8"/>
    <p:sldId id="262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3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7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19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46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41F31-B31D-FA1D-6B2E-DBE902BD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A64FF-F409-B76E-41E2-4D12EC31B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E5A25-5278-C9A4-2702-5624AC6BE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0B0AF-6EF0-D82B-D848-1E458B2E1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793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62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049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C117-B562-59F3-24A9-B572C295C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05EBC-4314-2268-5C83-0445F012F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3BA2C-87FF-3F68-8511-1A8389607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EBC2D-1421-B46A-63D5-8F70329D8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553" y="523620"/>
            <a:ext cx="650335" cy="6503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43824"/>
            <a:ext cx="7315200" cy="790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Hire AI Employees, </a:t>
            </a:r>
          </a:p>
          <a:p>
            <a:pPr marL="0" indent="0" algn="ctr">
              <a:buNone/>
            </a:pPr>
            <a:r>
              <a:rPr lang="en-US" sz="2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Not AI Tools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914400" y="2905799"/>
            <a:ext cx="7315200" cy="91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2026</a:t>
            </a:r>
          </a:p>
          <a:p>
            <a:pPr marL="0" indent="0" algn="ctr">
              <a:buNone/>
            </a:pPr>
            <a:endParaRPr lang="en-US" sz="1400" dirty="0">
              <a:solidFill>
                <a:srgbClr val="999999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Persistent, Autonomous Agents for Dummies.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employees that work while you sleep. </a:t>
            </a: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EA9B0D2-D303-4136-3B31-F93B82EBB271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75332A-BC05-D4D4-5035-BE45A960C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769" y="1344571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AI-Agent Wave is here and the industry is bifurcating.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OpenClaw: 307K GitHub fastest growth in history.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shipped Cowork. Cursor +1 million daily users.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demand for AI that does real work.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every product is either Localized, Session-scoped, User-present, Stateless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658350"/>
            <a:ext cx="13716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640080" y="3040379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like the big players will take over everything,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every tech innovation cycle looks that way, until it doesn't.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7719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didn't become Salesforce.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didn't become Shopify.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didn't become Datadog.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Landscape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5984" y="3484107"/>
            <a:ext cx="1118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</a:p>
          <a:p>
            <a:pPr marL="0" indent="0" algn="ctr">
              <a:buNone/>
            </a:pPr>
            <a:r>
              <a:rPr lang="en-US" sz="1100" dirty="0"/>
              <a:t>“Localized”</a:t>
            </a:r>
          </a:p>
        </p:txBody>
      </p:sp>
      <p:sp>
        <p:nvSpPr>
          <p:cNvPr id="6" name="Text 4"/>
          <p:cNvSpPr/>
          <p:nvPr/>
        </p:nvSpPr>
        <p:spPr>
          <a:xfrm>
            <a:off x="587113" y="4180556"/>
            <a:ext cx="1754714" cy="501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Hardware setup “Mac-Mini phenomenon”.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Privacy, Scalable Issues </a:t>
            </a:r>
            <a:endParaRPr lang="en-US" sz="1000" i="1" dirty="0"/>
          </a:p>
        </p:txBody>
      </p:sp>
      <p:sp>
        <p:nvSpPr>
          <p:cNvPr id="8" name="Text 6"/>
          <p:cNvSpPr/>
          <p:nvPr/>
        </p:nvSpPr>
        <p:spPr>
          <a:xfrm>
            <a:off x="2987027" y="3489154"/>
            <a:ext cx="1118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</a:t>
            </a:r>
            <a:r>
              <a:rPr lang="en-US" sz="11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</a:t>
            </a:r>
            <a:endParaRPr lang="en-US" sz="1100" b="1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“Session Scoped”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87027" y="1698190"/>
            <a:ext cx="1118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cs typeface="Arial" pitchFamily="34" charset="-120"/>
              </a:rPr>
              <a:t>“New paradigm”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38327" y="1698190"/>
            <a:ext cx="3892190" cy="2993091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 sz="1400"/>
          </a:p>
        </p:txBody>
      </p:sp>
      <p:sp>
        <p:nvSpPr>
          <p:cNvPr id="20" name="Text 18"/>
          <p:cNvSpPr/>
          <p:nvPr/>
        </p:nvSpPr>
        <p:spPr>
          <a:xfrm>
            <a:off x="5282896" y="1845514"/>
            <a:ext cx="3506877" cy="1296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and Cowork validate massive demand for AI that does real work.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 is the only product where work compounds into cloud &amp; file system native agentic framework.</a:t>
            </a:r>
            <a:endParaRPr lang="en-US" sz="1200" b="1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F0AD67A1-D003-F767-8CCD-D3BEC8F1B570}"/>
              </a:ext>
            </a:extLst>
          </p:cNvPr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Agent Frameworks. We think we got the one</a:t>
            </a:r>
            <a:endParaRPr lang="en-US" sz="24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907496B-5CB6-8421-9C29-73B1337230BC}"/>
              </a:ext>
            </a:extLst>
          </p:cNvPr>
          <p:cNvSpPr/>
          <p:nvPr/>
        </p:nvSpPr>
        <p:spPr>
          <a:xfrm>
            <a:off x="2520697" y="4190174"/>
            <a:ext cx="2051303" cy="501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based + Container Environment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Fundamentally no persistence</a:t>
            </a:r>
            <a:endParaRPr lang="en-US" sz="1000" i="1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BF412BAE-BFB7-F084-78FE-CEB7B5714A84}"/>
              </a:ext>
            </a:extLst>
          </p:cNvPr>
          <p:cNvSpPr/>
          <p:nvPr/>
        </p:nvSpPr>
        <p:spPr>
          <a:xfrm>
            <a:off x="2520697" y="2321196"/>
            <a:ext cx="2051303" cy="501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Persistent. Autonomous. Cross-platform.</a:t>
            </a:r>
            <a:endParaRPr lang="en-US" sz="1000" dirty="0"/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BB527A06-0EF9-87BE-FC54-CE85CCAA7EA6}"/>
              </a:ext>
            </a:extLst>
          </p:cNvPr>
          <p:cNvSpPr/>
          <p:nvPr/>
        </p:nvSpPr>
        <p:spPr>
          <a:xfrm>
            <a:off x="2520699" y="2061556"/>
            <a:ext cx="0" cy="240009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3C02B6CE-BF1A-2208-E53F-8F00416403AE}"/>
              </a:ext>
            </a:extLst>
          </p:cNvPr>
          <p:cNvSpPr/>
          <p:nvPr/>
        </p:nvSpPr>
        <p:spPr>
          <a:xfrm>
            <a:off x="611004" y="3214834"/>
            <a:ext cx="3854729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B42B48A1-6793-714A-2F10-F076B4FC5A12}"/>
              </a:ext>
            </a:extLst>
          </p:cNvPr>
          <p:cNvSpPr/>
          <p:nvPr/>
        </p:nvSpPr>
        <p:spPr>
          <a:xfrm>
            <a:off x="2243974" y="1919749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900" i="1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D83989F8-216B-C2BB-77F4-BE1715200F6F}"/>
              </a:ext>
            </a:extLst>
          </p:cNvPr>
          <p:cNvSpPr/>
          <p:nvPr/>
        </p:nvSpPr>
        <p:spPr>
          <a:xfrm>
            <a:off x="275829" y="2986234"/>
            <a:ext cx="11186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</a:t>
            </a:r>
            <a:endParaRPr lang="en-US" sz="900" i="1" dirty="0"/>
          </a:p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(Knowledge)</a:t>
            </a:r>
            <a:endParaRPr lang="en-US" sz="900" i="1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92952D67-BDEE-C8A7-EB48-39A774DB2B6D}"/>
              </a:ext>
            </a:extLst>
          </p:cNvPr>
          <p:cNvSpPr/>
          <p:nvPr/>
        </p:nvSpPr>
        <p:spPr>
          <a:xfrm>
            <a:off x="704371" y="1703161"/>
            <a:ext cx="11186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</a:p>
          <a:p>
            <a:pPr marL="0" indent="0" algn="ctr">
              <a:buNone/>
            </a:pPr>
            <a:r>
              <a:rPr lang="en-US" sz="1100" dirty="0"/>
              <a:t>“Manus, Granola”</a:t>
            </a: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6409B1FC-A11D-6855-4BFE-540876CEF587}"/>
              </a:ext>
            </a:extLst>
          </p:cNvPr>
          <p:cNvSpPr/>
          <p:nvPr/>
        </p:nvSpPr>
        <p:spPr>
          <a:xfrm>
            <a:off x="498238" y="2351633"/>
            <a:ext cx="1754714" cy="501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Cloud-native, Session based.</a:t>
            </a:r>
          </a:p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Wrong architecture</a:t>
            </a:r>
            <a:endParaRPr lang="en-US" sz="10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your AI employees do that tools can’t.</a:t>
            </a:r>
            <a:endParaRPr lang="en-US" sz="2400" dirty="0"/>
          </a:p>
        </p:txBody>
      </p:sp>
      <p:sp>
        <p:nvSpPr>
          <p:cNvPr id="4" name="Item 1"/>
          <p:cNvSpPr/>
          <p:nvPr/>
        </p:nvSpPr>
        <p:spPr>
          <a:xfrm>
            <a:off x="640080" y="128016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Work autonomously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Run on schedule — nights, weekends, holidays. Recurring deliverables arrive on time, every time.</a:t>
            </a:r>
            <a:endParaRPr lang="en-US" sz="1050" dirty="0"/>
          </a:p>
        </p:txBody>
      </p:sp>
      <p:sp>
        <p:nvSpPr>
          <p:cNvPr id="5" name="Item 2"/>
          <p:cNvSpPr/>
          <p:nvPr/>
        </p:nvSpPr>
        <p:spPr>
          <a:xfrm>
            <a:off x="640080" y="174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Accumulate expertise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Every run deepens domain knowledge. Every edit teaches preferences. 90 days of tenure is irreplaceable.</a:t>
            </a:r>
            <a:endParaRPr lang="en-US" sz="1050" dirty="0"/>
          </a:p>
        </p:txBody>
      </p:sp>
      <p:sp>
        <p:nvSpPr>
          <p:cNvPr id="6" name="Item 3"/>
          <p:cNvSpPr/>
          <p:nvPr/>
        </p:nvSpPr>
        <p:spPr>
          <a:xfrm>
            <a:off x="640080" y="220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Perceive across platforms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Slack, Notion, GitHub syncing continuously. Cross-platform awareness no single tool has.</a:t>
            </a:r>
            <a:endParaRPr lang="en-US" sz="1050" dirty="0"/>
          </a:p>
        </p:txBody>
      </p:sp>
      <p:sp>
        <p:nvSpPr>
          <p:cNvPr id="7" name="Item 4"/>
          <p:cNvSpPr/>
          <p:nvPr/>
        </p:nvSpPr>
        <p:spPr>
          <a:xfrm>
            <a:off x="640080" y="266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Coordinate as a team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10-agent roster + task pipeline. Autonomous execution, not solo prompting.</a:t>
            </a:r>
            <a:endParaRPr lang="en-US" sz="1050" dirty="0"/>
          </a:p>
        </p:txBody>
      </p:sp>
      <p:sp>
        <p:nvSpPr>
          <p:cNvPr id="8" name="Item 5"/>
          <p:cNvSpPr/>
          <p:nvPr/>
        </p:nvSpPr>
        <p:spPr>
          <a:xfrm>
            <a:off x="640080" y="3120000"/>
            <a:ext cx="78638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Produce subscriber-ready content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Newsletters, reports, data products. Not chat responses — revenue-generating content.</a:t>
            </a:r>
            <a:endParaRPr lang="en-US" sz="1050" dirty="0"/>
          </a:p>
        </p:txBody>
      </p:sp>
      <p:sp>
        <p:nvSpPr>
          <p:cNvPr id="9" name="Callout Box"/>
          <p:cNvSpPr/>
          <p:nvPr/>
        </p:nvSpPr>
        <p:spPr>
          <a:xfrm>
            <a:off x="640080" y="3700000"/>
            <a:ext cx="7863840" cy="731520"/>
          </a:xfrm>
          <a:prstGeom prst="rect">
            <a:avLst/>
          </a:prstGeom>
          <a:solidFill>
            <a:srgbClr val="FDF0E4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Callout Text"/>
          <p:cNvSpPr/>
          <p:nvPr/>
        </p:nvSpPr>
        <p:spPr>
          <a:xfrm>
            <a:off x="822960" y="3780000"/>
            <a:ext cx="7498080" cy="57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employee layer. Not a better chatbot — agent that self-improves, and operates with autonomy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0D1B3-9D17-A382-4CB6-DC7D8CB91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8C2E95-4F84-44FC-03A1-62D253A144D4}"/>
              </a:ext>
            </a:extLst>
          </p:cNvPr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Employees Work</a:t>
            </a:r>
            <a:endParaRPr lang="en-US" sz="1200" b="1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5E8BF2-D28E-3540-CE21-48C12876AB28}"/>
              </a:ext>
            </a:extLst>
          </p:cNvPr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behind autonomous employees</a:t>
            </a:r>
            <a:endParaRPr lang="en-US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91CB66-4918-D942-E088-EDA72BD5177B}"/>
              </a:ext>
            </a:extLst>
          </p:cNvPr>
          <p:cNvSpPr/>
          <p:nvPr/>
        </p:nvSpPr>
        <p:spPr>
          <a:xfrm>
            <a:off x="640080" y="201168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6EE48C-7CBA-EE3B-3181-490E40ED283F}"/>
              </a:ext>
            </a:extLst>
          </p:cNvPr>
          <p:cNvSpPr txBox="1"/>
          <p:nvPr/>
        </p:nvSpPr>
        <p:spPr>
          <a:xfrm>
            <a:off x="731520" y="2103120"/>
            <a:ext cx="13258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</a:rPr>
              <a:t>Files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0B565-2561-673A-D34A-82B33C6D05FD}"/>
              </a:ext>
            </a:extLst>
          </p:cNvPr>
          <p:cNvSpPr txBox="1"/>
          <p:nvPr/>
        </p:nvSpPr>
        <p:spPr>
          <a:xfrm>
            <a:off x="731520" y="2560320"/>
            <a:ext cx="132588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dirty="0">
                <a:solidFill>
                  <a:srgbClr val="FFE8D0"/>
                </a:solidFill>
                <a:latin typeface="Arial"/>
              </a:rPr>
              <a:t>Persistent, attributed,</a:t>
            </a:r>
          </a:p>
          <a:p>
            <a:pPr algn="l"/>
            <a:r>
              <a:rPr lang="en-US" sz="1000" b="0" i="0" dirty="0">
                <a:solidFill>
                  <a:srgbClr val="FFE8D0"/>
                </a:solidFill>
                <a:latin typeface="Arial"/>
              </a:rPr>
              <a:t>Cloud-based file system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31ECB63-D7BF-C46F-1456-9172CF26EA90}"/>
              </a:ext>
            </a:extLst>
          </p:cNvPr>
          <p:cNvSpPr/>
          <p:nvPr/>
        </p:nvSpPr>
        <p:spPr>
          <a:xfrm>
            <a:off x="2531472" y="2011680"/>
            <a:ext cx="1508760" cy="14173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EE4770-C0B7-72E1-3569-FF4547B15BDB}"/>
              </a:ext>
            </a:extLst>
          </p:cNvPr>
          <p:cNvSpPr txBox="1"/>
          <p:nvPr/>
        </p:nvSpPr>
        <p:spPr>
          <a:xfrm>
            <a:off x="2622912" y="2103120"/>
            <a:ext cx="13258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</a:rPr>
              <a:t>Agent Persona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40F7D6-8049-F95C-7DEA-74797CF1B9EB}"/>
              </a:ext>
            </a:extLst>
          </p:cNvPr>
          <p:cNvSpPr txBox="1"/>
          <p:nvPr/>
        </p:nvSpPr>
        <p:spPr>
          <a:xfrm>
            <a:off x="2622912" y="2560320"/>
            <a:ext cx="132588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dirty="0">
                <a:solidFill>
                  <a:srgbClr val="FFE8D0"/>
                </a:solidFill>
                <a:latin typeface="Arial"/>
              </a:rPr>
              <a:t>Uniquely differentiated</a:t>
            </a:r>
          </a:p>
          <a:p>
            <a:pPr algn="l"/>
            <a:r>
              <a:rPr lang="en-US" sz="1000" b="0" i="0" dirty="0">
                <a:solidFill>
                  <a:srgbClr val="FFE8D0"/>
                </a:solidFill>
                <a:latin typeface="Arial"/>
              </a:rPr>
              <a:t>Persona Agent harness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72308C-7369-3B5E-F367-15CD52A45BA8}"/>
              </a:ext>
            </a:extLst>
          </p:cNvPr>
          <p:cNvSpPr/>
          <p:nvPr/>
        </p:nvSpPr>
        <p:spPr>
          <a:xfrm>
            <a:off x="4422864" y="201168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451F1A-D375-EFE9-80D2-E0AF84065542}"/>
              </a:ext>
            </a:extLst>
          </p:cNvPr>
          <p:cNvSpPr txBox="1"/>
          <p:nvPr/>
        </p:nvSpPr>
        <p:spPr>
          <a:xfrm>
            <a:off x="4514304" y="2103120"/>
            <a:ext cx="13258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</a:rPr>
              <a:t>Agent OS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7B1FBA-56FB-7404-F1C0-8F5B439E2D69}"/>
              </a:ext>
            </a:extLst>
          </p:cNvPr>
          <p:cNvSpPr txBox="1"/>
          <p:nvPr/>
        </p:nvSpPr>
        <p:spPr>
          <a:xfrm>
            <a:off x="4514304" y="2560320"/>
            <a:ext cx="1325880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dirty="0">
                <a:solidFill>
                  <a:srgbClr val="FFE8D0"/>
                </a:solidFill>
                <a:latin typeface="Arial"/>
              </a:rPr>
              <a:t>Zero-base user experience, Operating System</a:t>
            </a:r>
            <a:endParaRPr lang="en-US" sz="1000" b="0" i="0" dirty="0">
              <a:solidFill>
                <a:srgbClr val="FFE8D0"/>
              </a:solidFill>
              <a:latin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387EF1C-0838-8469-6CB5-9E02D9F0C51B}"/>
              </a:ext>
            </a:extLst>
          </p:cNvPr>
          <p:cNvSpPr/>
          <p:nvPr/>
        </p:nvSpPr>
        <p:spPr>
          <a:xfrm>
            <a:off x="6314256" y="2011680"/>
            <a:ext cx="1508760" cy="14173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C7EF25-CA20-03A1-C675-B337F11B6ACE}"/>
              </a:ext>
            </a:extLst>
          </p:cNvPr>
          <p:cNvSpPr txBox="1"/>
          <p:nvPr/>
        </p:nvSpPr>
        <p:spPr>
          <a:xfrm>
            <a:off x="6405696" y="2103120"/>
            <a:ext cx="13258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300" b="1" i="0" dirty="0">
                <a:solidFill>
                  <a:srgbClr val="FFFFFF"/>
                </a:solidFill>
                <a:latin typeface="Arial"/>
              </a:rPr>
              <a:t>True-Autonomy</a:t>
            </a:r>
            <a:endParaRPr sz="13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F069A9-A281-2A1C-6E9D-A42E7698E453}"/>
              </a:ext>
            </a:extLst>
          </p:cNvPr>
          <p:cNvSpPr txBox="1"/>
          <p:nvPr/>
        </p:nvSpPr>
        <p:spPr>
          <a:xfrm>
            <a:off x="6405696" y="2560320"/>
            <a:ext cx="13258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00" dirty="0">
                <a:solidFill>
                  <a:srgbClr val="FFE8D0"/>
                </a:solidFill>
                <a:latin typeface="Arial"/>
              </a:rPr>
              <a:t>Structurally re-defined autonomy first (built-in budgeting, pace, governance)</a:t>
            </a:r>
            <a:endParaRPr lang="en-US" sz="1000" b="0" i="0" dirty="0">
              <a:solidFill>
                <a:srgbClr val="FFE8D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1123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0" y="16459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/ Moat</a:t>
            </a: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Meet Your AI Employees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workforce. Ready on day 1.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T+0s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2940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Dump, Connect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work. Your AI employees are pre-built and ready.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6"/>
          <p:cNvSpPr/>
          <p:nvPr/>
        </p:nvSpPr>
        <p:spPr>
          <a:xfrm>
            <a:off x="260604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T+30s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11779" y="3745049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Ready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assigned to the right specialist. Context loading begins.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Text 10"/>
          <p:cNvSpPr/>
          <p:nvPr/>
        </p:nvSpPr>
        <p:spPr>
          <a:xfrm>
            <a:off x="475488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52060" y="3743485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sync deepens knowledge. Every edit refines quality. Teams coordinate.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3589020"/>
            <a:ext cx="0" cy="10058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Text 14"/>
          <p:cNvSpPr/>
          <p:nvPr/>
        </p:nvSpPr>
        <p:spPr>
          <a:xfrm>
            <a:off x="6903720" y="34975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37522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03720" y="38633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visibly improves. Content finds its audience. Switching cost crystallizes.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82499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8"/>
          <p:cNvSpPr/>
          <p:nvPr/>
        </p:nvSpPr>
        <p:spPr>
          <a:xfrm>
            <a:off x="50292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1" name="Image 0" descr="/sessions/focused-upbeat-hopper/mnt/yarnnn/docs/working_docs/assets/page_TP(chat)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97480" y="1618083"/>
            <a:ext cx="1828800" cy="1583142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65176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3" name="Image 1" descr="/sessions/focused-upbeat-hopper/mnt/yarnnn/docs/working_docs/assets/page_syste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48640" y="1618083"/>
            <a:ext cx="1828800" cy="158314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80060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5" name="Image 2" descr="/sessions/focused-upbeat-hopper/mnt/yarnnn/docs/working_docs/assets/page_deliverable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46320" y="1554090"/>
            <a:ext cx="1828800" cy="158314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949440" y="1508369"/>
            <a:ext cx="1920240" cy="1759047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  <a:effectLst>
            <a:outerShdw blurRad="38100" dist="12700" dir="16200000" algn="bl" rotWithShape="0">
              <a:srgbClr val="CCCCCC">
                <a:alpha val="30000"/>
              </a:srgbClr>
            </a:outerShdw>
          </a:effectLst>
        </p:spPr>
        <p:txBody>
          <a:bodyPr/>
          <a:lstStyle/>
          <a:p>
            <a:endParaRPr lang="en-KR"/>
          </a:p>
        </p:txBody>
      </p:sp>
      <p:pic>
        <p:nvPicPr>
          <p:cNvPr id="27" name="Image 3" descr="/sessions/focused-upbeat-hopper/mnt/yarnnn/docs/working_docs/assets/page_context(slack)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95160" y="1554090"/>
            <a:ext cx="1828800" cy="15831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Your Employees Work</a:t>
            </a:r>
            <a:endParaRPr lang="en-US" sz="1200" b="1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infrastructure behind autonomous employees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systems that work together. Each one compounds with tenure.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267" y="1828693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768267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MCP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267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 · GitHub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63578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2263578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63578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Accumulated intelligence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58889" y="1828800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3758889" y="187452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58889" y="237744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AGENT.md + TASK.md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+ memory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4200" y="1828693"/>
            <a:ext cx="1280160" cy="1051132"/>
          </a:xfrm>
          <a:prstGeom prst="rect">
            <a:avLst/>
          </a:prstGeom>
          <a:solidFill>
            <a:srgbClr val="666666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8" name="Text 16"/>
          <p:cNvSpPr/>
          <p:nvPr/>
        </p:nvSpPr>
        <p:spPr>
          <a:xfrm>
            <a:off x="5254200" y="1874413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4200" y="2377333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10-agent roster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pipeline + compose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9511" y="1805940"/>
            <a:ext cx="1280160" cy="1051132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/>
          <p:nvPr/>
        </p:nvSpPr>
        <p:spPr>
          <a:xfrm>
            <a:off x="6749511" y="1851660"/>
            <a:ext cx="1280160" cy="450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49511" y="2354580"/>
            <a:ext cx="1280160" cy="525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compose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· PPTX · XLSX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3604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tools can't replicate this: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(OpenClaw, Cowork, Claude Code)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Session-scoped. User must be present. Context resets between runs. No autonomous execution.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Memory Startups (Mem.ai, Granola)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without execution. Recall facts but don’t produce autonomous work products.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6804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AI (Notion AI, Gemini)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9547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Single-platform. No cross-platform synthesis. No cross-LLM continuity.</a:t>
            </a:r>
            <a:endParaRPr lang="en-US" sz="1000" dirty="0"/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6B762895-3766-7E59-F7D6-A2F33611841C}"/>
              </a:ext>
            </a:extLst>
          </p:cNvPr>
          <p:cNvCxnSpPr/>
          <p:nvPr/>
        </p:nvCxnSpPr>
        <p:spPr>
          <a:xfrm>
            <a:off x="502920" y="3139725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73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How Employees Onboard and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Like real employees — they learn your business, then produce. And they get better every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FFE8D0"/>
                </a:solidFill>
                <a:latin typeface="Arial"/>
              </a:rPr>
              <a:t>Connect Slack, Notion,
GitHub. Context domains
accumulate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4" y="1783080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672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39112" y="13716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39112" y="182880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System reads your work.
Extracts identity, brand,
scopes from docs + chat.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1783080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5304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13716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Task Type
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182880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Pick deliverables from
the catalog. Each has a
pre-built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8" y="1783080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2936" y="1280160"/>
            <a:ext cx="1508760" cy="14173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94376" y="13716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Pipeline
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182880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DDDDDD"/>
                </a:solidFill>
                <a:latin typeface="Arial"/>
              </a:rPr>
              <a:t>Task pipeline runs on
schedule. Compose substrate
assembles structured output.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783080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E8873B"/>
                </a:solidFill>
                <a:latin typeface="Arial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30568" y="1280160"/>
            <a:ext cx="1508760" cy="141732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22008" y="137160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Autonomous
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22008" y="1828800"/>
            <a:ext cx="1325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FFE8D0"/>
                </a:solidFill>
                <a:latin typeface="Arial"/>
              </a:rPr>
              <a:t>Output compounds weekly.
Feedback refines agents.
Quality improves with use.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2880360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02920" y="301752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What makes this an employee, not a tool: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38328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Job descriptions, not ad-hoc prompts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65760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Every task has a defined execution plan. Employees run on schedule, metered transparently. No prompting required.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338328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Transparent, editable work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65760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TASK.md + AGENT.md define everything. No hidden state. You can read and edit the same files your employees use.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38328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Tenure creates irreplaceable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3657600"/>
            <a:ext cx="26060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Tools reset every session. Employees accumulate expertise. Every run deepens knowledge. 90 days of tenure is irreplaceable.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Moat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Regression Proves the Moat.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ChatGPT + Beehiiv and content quality drops. Revenue follows. Six months of accumulated team intelligence can't be replicated.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moat mechanics: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066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7866" y="22860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cycle deepens domain knowledge. Research sharpens. Production aligns with audience. Quality compounds measurably.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066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7866" y="29718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Cross-LLM Hub: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MCP context hub: any LLM the user connects reads the same accumulated intelligence. The workspace becomes the single source of truth across tools.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0666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7866" y="3657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Regression:</a:t>
            </a: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Content revenue regresses when accumulated intelligence is lost. Domain knowledge, audience preferences, production cadence — none transfer to a new tool.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066" y="2423160"/>
            <a:ext cx="1463040" cy="1463040"/>
          </a:xfrm>
          <a:prstGeom prst="ellipse">
            <a:avLst/>
          </a:prstGeom>
          <a:solidFill>
            <a:srgbClr val="E8943B"/>
          </a:solidFill>
          <a:ln/>
        </p:spPr>
        <p:txBody>
          <a:bodyPr/>
          <a:lstStyle/>
          <a:p>
            <a:endParaRPr lang="en-KR"/>
          </a:p>
        </p:txBody>
      </p:sp>
      <p:sp>
        <p:nvSpPr>
          <p:cNvPr id="13" name="Text 11"/>
          <p:cNvSpPr/>
          <p:nvPr/>
        </p:nvSpPr>
        <p:spPr>
          <a:xfrm>
            <a:off x="6217066" y="26060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1386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15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99946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8346" y="2971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</a:t>
            </a:r>
            <a:endParaRPr lang="en-US" sz="1100" dirty="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5B16DD62-E25B-D49E-C852-B1BFA1C6DE7D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>
            <a:off x="7405786" y="2011680"/>
            <a:ext cx="91440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12BD9378-8CCC-6F5A-2B44-D8B54A898876}"/>
              </a:ext>
            </a:extLst>
          </p:cNvPr>
          <p:cNvCxnSpPr>
            <a:cxnSpLocks/>
            <a:stCxn id="15" idx="2"/>
            <a:endCxn id="16" idx="3"/>
          </p:cNvCxnSpPr>
          <p:nvPr/>
        </p:nvCxnSpPr>
        <p:spPr>
          <a:xfrm rot="5400000">
            <a:off x="7428646" y="3314700"/>
            <a:ext cx="960120" cy="82296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99156217-C786-CD09-58CD-2F6ED9430DEE}"/>
              </a:ext>
            </a:extLst>
          </p:cNvPr>
          <p:cNvCxnSpPr>
            <a:cxnSpLocks/>
            <a:stCxn id="17" idx="0"/>
            <a:endCxn id="14" idx="1"/>
          </p:cNvCxnSpPr>
          <p:nvPr/>
        </p:nvCxnSpPr>
        <p:spPr>
          <a:xfrm rot="5400000" flipH="1" flipV="1">
            <a:off x="5554126" y="2034540"/>
            <a:ext cx="960120" cy="91440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>
            <a:extLst>
              <a:ext uri="{FF2B5EF4-FFF2-40B4-BE49-F238E27FC236}">
                <a16:creationId xmlns:a16="http://schemas.microsoft.com/office/drawing/2014/main" id="{D2523D0D-0180-EBF8-BA4A-B506C0FE5CCA}"/>
              </a:ext>
            </a:extLst>
          </p:cNvPr>
          <p:cNvCxnSpPr>
            <a:cxnSpLocks/>
            <a:stCxn id="16" idx="1"/>
            <a:endCxn id="17" idx="2"/>
          </p:cNvCxnSpPr>
          <p:nvPr/>
        </p:nvCxnSpPr>
        <p:spPr>
          <a:xfrm rot="10800000">
            <a:off x="5576986" y="3246120"/>
            <a:ext cx="822960" cy="960120"/>
          </a:xfrm>
          <a:prstGeom prst="curvedConnector2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9202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 •  Market  •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with content product operators. Expanding from there.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wedge: Domain experts who direct content, AI employees who produce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$4.35B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economy + AI productivity tools (31% CAGR)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290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~5M content creators globally × $228/yr (Pro annual)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651760" cy="1188720"/>
          </a:xfrm>
          <a:prstGeom prst="rect">
            <a:avLst/>
          </a:prstGeom>
          <a:solidFill>
            <a:srgbClr val="E8943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SOM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$4.6M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E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 consultants in first 3 years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creators graduating from AI tools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Newsletters, data products, recurring content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04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904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Consultants &amp; analysts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39044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reports, market briefs, strategic content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288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63040" y="4288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&amp; ops leads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2885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Standups, project reports, cross-team synthesis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6725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46725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knowledge workers &amp;#x2014; anyone hiring AI employees instead of operating AI tools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66160" y="46725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professional with recurring work obligations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Usage-first billing. Balance is the single 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$3 signup balance included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328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All platforms + tasks unlocked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2549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~40 chat turns + 10 task runs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181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Token spend metered in USD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107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Top up anytime: $10 / $25 / $50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18872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13258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6459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Arial"/>
              </a:rPr>
              <a:t>$19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828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Arial"/>
              </a:rPr>
              <a:t>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$20/mo balance auto-refills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5328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All platforms + tasks unlocked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82549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Meaningful autonomous 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1181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$19/mo or $180/yr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107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Arial"/>
              </a:rPr>
              <a:t>·  Best value for regular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188720"/>
            <a:ext cx="2468880" cy="292608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13258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6459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TBD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828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FFE8D0"/>
                </a:solidFill>
                <a:latin typeface="Arial"/>
              </a:rPr>
              <a:t>/mo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240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Everything in Pro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5328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Team workspaces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825496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Priority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118104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Custom integrations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41071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E8D0"/>
                </a:solidFill>
                <a:latin typeface="Arial"/>
              </a:rPr>
              <a:t>·  Agent-to-agent protocol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2976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2x markup on Anthropic API rates = ~50% gross margin. No operational limits. Balance is the single gate.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572000"/>
            <a:ext cx="8229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999999"/>
                </a:solidFill>
                <a:latin typeface="Arial"/>
              </a:rPr>
              <a:t>Every LLM call metered transparently in USD. Users see exactly what they spend. You pay employees, not for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Workforce + MCP Hub (shipped) → Content Business Stack → Agent Protocol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deepens the value chain. Shipped work compounds into the next layer of capability.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743200" cy="3383280"/>
          </a:xfrm>
          <a:prstGeom prst="rect">
            <a:avLst/>
          </a:prstGeom>
          <a:solidFill>
            <a:srgbClr val="FDF0E4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Coordinated 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Work-first onboarding + task scaffolding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pipeline + compose substrate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specialist roster (6 roles)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gateway: HTML compose, PDF, PPTX, XLSX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actuation: self-correcting quality loop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filesystem + cross-agent collaboration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180+ Architecture Decision Records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0896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9184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17" name="Text 15"/>
          <p:cNvSpPr/>
          <p:nvPr/>
        </p:nvSpPr>
        <p:spPr>
          <a:xfrm>
            <a:off x="342900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6-12mo.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2900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Context Hub: cross-LLM continuity (shipped)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2900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substrate: section-scoped revision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Usage-first billing: token spend metering (shipped)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3474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 integration: content monetization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0" y="25603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KR" sz="1400"/>
          </a:p>
        </p:txBody>
      </p:sp>
      <p:sp>
        <p:nvSpPr>
          <p:cNvPr id="25" name="Text 23"/>
          <p:cNvSpPr/>
          <p:nvPr/>
        </p:nvSpPr>
        <p:spPr>
          <a:xfrm>
            <a:off x="6355080" y="16459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+12mo.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2514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protocol. Agents across systems coordinate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55080" y="2834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workspaces: multi-user shared context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5080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play: own the work context graph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(Pre) Seed -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at $5M post-money valuation.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Tech Lead (memory/ML)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GTM Lead (creator community)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12 months runway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OpenClaw: 307K stars / 60 days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one owns the content employee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682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Architecture built, need team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1783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AI tools everywhere. Content employees are greenfield.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20756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AI employees, not AI tools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Text 17"/>
          <p:cNvSpPr/>
          <p:nvPr/>
        </p:nvSpPr>
        <p:spPr>
          <a:xfrm>
            <a:off x="45720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0: Team-Building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ML engineer for content intelligence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Community builder for creator GTM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014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Seed funds → team of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Text 22"/>
          <p:cNvSpPr/>
          <p:nvPr/>
        </p:nvSpPr>
        <p:spPr>
          <a:xfrm>
            <a:off x="329184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Betting on an agent-first future: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Demand proven (307K stars). Content employee gap open.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9184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Tools create demand. Employees capture it.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017520"/>
            <a:ext cx="2651760" cy="0"/>
          </a:xfrm>
          <a:prstGeom prst="line">
            <a:avLst/>
          </a:prstGeom>
          <a:noFill/>
          <a:ln w="254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Text 26"/>
          <p:cNvSpPr/>
          <p:nvPr/>
        </p:nvSpPr>
        <p:spPr>
          <a:xfrm>
            <a:off x="6126480" y="3108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429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Persistent employees, not session-scoped tools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37216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Cloud-native by structural necessity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26480" y="40142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180+ ADRs = architectural rigor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focused-upbeat-hopper/assets/yar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4630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seulkim88@gmail.com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ADF6D-BC9A-C5D6-246F-F756DEDA7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898" y="2651760"/>
            <a:ext cx="1322462" cy="42756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(Seul Ki) Kim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CEO, KVK Labs (yarnnn)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</a:t>
            </a:r>
            <a:r>
              <a:rPr lang="en-US" sz="1000" dirty="0" err="1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www.linkedin.com</a:t>
            </a:r>
            <a:r>
              <a:rPr lang="en-US" sz="10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/in/kimseulki0727/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828800" cy="0"/>
          </a:xfrm>
          <a:prstGeom prst="line">
            <a:avLst/>
          </a:prstGeom>
          <a:noFill/>
          <a:ln w="3810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200"/>
          </a:p>
        </p:txBody>
      </p:sp>
      <p:sp>
        <p:nvSpPr>
          <p:cNvPr id="7" name="Text 5"/>
          <p:cNvSpPr/>
          <p:nvPr/>
        </p:nvSpPr>
        <p:spPr>
          <a:xfrm>
            <a:off x="640080" y="209200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B.S. Industrial and Systems Engineering, Virginia Tech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0407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years designing CRM and GTM systems in FMCG.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601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CPO positions in Korea based startups, Ran e-commerce fashion brand for 5 years,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37216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application for yarnnn, (Next.js + FastAPI + Supabase), two platform integrations,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6282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employee architecture with task execution pipeline, documented across 180+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884232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Decision Records.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14026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Targeting US market; execute GTM and team-building as priority next step.</a:t>
            </a:r>
            <a:endParaRPr lang="en-US" sz="10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57FF407-4D8F-390F-55CA-087BD5988C05}"/>
              </a:ext>
            </a:extLst>
          </p:cNvPr>
          <p:cNvSpPr/>
          <p:nvPr/>
        </p:nvSpPr>
        <p:spPr>
          <a:xfrm>
            <a:off x="41148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yarnnn.com  ·  Kevin Kim  ·  kvkthecreator@gmail.com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Value Realization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Experiences: Describe to Compound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→ Scaffold → Connect → First Value → Accumulate → Coordinate → Compound ↻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11607"/>
              </p:ext>
            </p:extLst>
          </p:nvPr>
        </p:nvGraphicFramePr>
        <p:xfrm>
          <a:off x="457200" y="1554480"/>
          <a:ext cx="8229600" cy="2880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happens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user sees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describes work, tasks scaffold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"Your content production team is ready"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T+30s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Platforms connect, sources mapped to tasks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Dashboard: "Slack connected — channels mapped"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T+90s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Scheduler dispatches first task 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deliverables appear per project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pulse cycles, agents accumulate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Deliverables arrive, improving each 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subscriber-ready content ships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quality visibly improving each cycle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agents running, feedback refining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noticeably tailored to audience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87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from content products. Switching cost crystallized.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 intelligence compounds measurably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Appendix: Architecture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Well-Funded Team Can't Shortcut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6" name="Text 4"/>
          <p:cNvSpPr/>
          <p:nvPr/>
        </p:nvSpPr>
        <p:spPr>
          <a:xfrm>
            <a:off x="59436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"Claude Code Online" — Output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capabilities model as Claude Code (SKILL.md + local tools + filesystem), but persistent, autonomous, and cloud-native — the structural requirements tools can’t satisfy. Two-filesystem architecture: capability filesystem (skills on Docker) + content filesystem (workspace per agent). Adding a new output format = adding a skill folder.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4129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9" name="Text 7"/>
          <p:cNvSpPr/>
          <p:nvPr/>
        </p:nvSpPr>
        <p:spPr>
          <a:xfrm>
            <a:off x="4892040" y="121444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Task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0705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define execution. Agents dispatched per TASK.md. Cross-agent context injection.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2" name="Text 10"/>
          <p:cNvSpPr/>
          <p:nvPr/>
        </p:nvSpPr>
        <p:spPr>
          <a:xfrm>
            <a:off x="59436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Feedback-to-Intelligence Loop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Source-agnostic feedback: user edits, system verification, and TP evaluation unified into single substrate. Feedback actuation executes workspace mutations at threshold — zero LLM cost. Self-correcting quality loop.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558610"/>
            <a:ext cx="4023360" cy="1280160"/>
          </a:xfrm>
          <a:prstGeom prst="rect">
            <a:avLst/>
          </a:prstGeom>
          <a:noFill/>
          <a:ln w="19050">
            <a:solidFill>
              <a:srgbClr val="E8873B"/>
            </a:solidFill>
            <a:prstDash val="solid"/>
          </a:ln>
        </p:spPr>
        <p:txBody>
          <a:bodyPr/>
          <a:lstStyle/>
          <a:p>
            <a:endParaRPr lang="en-KR" sz="1600"/>
          </a:p>
        </p:txBody>
      </p:sp>
      <p:sp>
        <p:nvSpPr>
          <p:cNvPr id="15" name="Text 13"/>
          <p:cNvSpPr/>
          <p:nvPr/>
        </p:nvSpPr>
        <p:spPr>
          <a:xfrm>
            <a:off x="4892040" y="263176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Charter-Driven Deterministic Execution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2437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charter files (TASK.md + DELIVERABLE.md + AGENT.md) define execution deterministically. Cadence enforcement prevents runaway loops. ~$0.03–$0.08 per task run with pre-gather optimization. 50% cost reduction via mechanical context assembly.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021650"/>
            <a:ext cx="8229600" cy="45720"/>
          </a:xfrm>
          <a:prstGeom prst="rect">
            <a:avLst/>
          </a:prstGeom>
          <a:solidFill>
            <a:srgbClr val="E8873B"/>
          </a:solidFill>
          <a:ln/>
        </p:spPr>
        <p:txBody>
          <a:bodyPr/>
          <a:lstStyle/>
          <a:p>
            <a:endParaRPr lang="en-KR" sz="1600"/>
          </a:p>
        </p:txBody>
      </p:sp>
      <p:sp>
        <p:nvSpPr>
          <p:cNvPr id="18" name="Text 16"/>
          <p:cNvSpPr/>
          <p:nvPr/>
        </p:nvSpPr>
        <p:spPr>
          <a:xfrm>
            <a:off x="457200" y="415881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compounds into defensibility: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34169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feedback actuation can't work without the workspace filesystem. The workspace filesystem can't work without the perception pipeline populating it. A team starting today would need to discover these interdependencies through the same 180+ decisions — or build a simpler system that can't compound.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Arial"/>
              </a:rPr>
              <a:t>What your employees deliver.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999999"/>
                </a:solidFill>
                <a:latin typeface="Arial"/>
              </a:rPr>
              <a:t>Content products your AI team produces. Each has a defined pipeline, cadence, and quality contract.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1732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Deliverable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1732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Pipeline (agents)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1732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999999"/>
                </a:solidFill>
                <a:latin typeface="Arial"/>
              </a:rPr>
              <a:t>Default cadence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1627632"/>
            <a:ext cx="8138160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691640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691640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Competitive Intel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9164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9164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192938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Market Research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92938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92938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16712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Industry Signal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6712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6712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242316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2478024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BUSINESS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2478024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Meeting Prep Brief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478024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CRM →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47802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271576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Stakeholder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71576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7157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Monthly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295351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Project Status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95351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→ CRM →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95351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320954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2920" y="326440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PLATFORMS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326440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Slack Recap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26440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 Bot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326440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Daily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350215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Notion Sync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50215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Notion 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50215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2920" y="375818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" y="381304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PRODUCTION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81304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Content Brief / Blog Draft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81304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Research → Content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81304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37360" y="4050792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Launch Material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05079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405079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On-demand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4306824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4361688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E8873B"/>
                </a:solidFill>
                <a:latin typeface="Arial"/>
              </a:rPr>
              <a:t>TRACKING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4361688"/>
            <a:ext cx="25603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/>
              </a:rPr>
              <a:t>GTM Tracker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36168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Marketing → Content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36168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Weekly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" y="4617720"/>
            <a:ext cx="8138160" cy="0"/>
          </a:xfrm>
          <a:prstGeom prst="line">
            <a:avLst/>
          </a:prstGeom>
          <a:ln w="1270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02920" y="4809744"/>
            <a:ext cx="8138160" cy="502920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" y="4873752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You describe the work. Your employees figure out the team, the handoffs, and the schedule. Deterministic cost, no ad-hoc prompting.</a:t>
            </a:r>
          </a:p>
        </p:txBody>
      </p:sp>
    </p:spTree>
    <p:extLst>
      <p:ext uri="{BB962C8B-B14F-4D97-AF65-F5344CB8AC3E}">
        <p14:creationId xmlns:p14="http://schemas.microsoft.com/office/powerpoint/2010/main" val="1409536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E8873B"/>
                </a:solidFill>
                <a:latin typeface="Arial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777240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>
                <a:solidFill>
                  <a:srgbClr val="1A1A1A"/>
                </a:solidFill>
                <a:latin typeface="Arial"/>
              </a:rPr>
              <a:t>Your team. Ten agents, six specialist roles.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77724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b="0" i="0" dirty="0">
                <a:solidFill>
                  <a:srgbClr val="999999"/>
                </a:solidFill>
                <a:latin typeface="Arial"/>
              </a:rPr>
              <a:t>Universal specialists assigned by work demand. Persistent memory. Learned preferences.</a:t>
            </a:r>
            <a:endParaRPr sz="1200" b="0" i="0" dirty="0">
              <a:solidFill>
                <a:srgbClr val="999999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Deep research with web search. Finds context beyond your connected platforms.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2432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Cross-references sources. Surfaces patterns and insights across platforms.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2744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Writer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Polished final output. Newsletters, reports, memos that ship as subscriber-ready content.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389116"/>
            <a:ext cx="1965960" cy="123444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30568" y="14805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8463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E8D0"/>
                </a:solidFill>
                <a:latin typeface="Arial"/>
              </a:rPr>
              <a:t>Monitors changes and signals. Tracks competitors, markets, and domain entities over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Designer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Charts, diagrams, and visual assets. Production-phase capabilities via render service.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2432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Synthesizes across agents. Composes cross-domain intelligence into unified deliverables.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2744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Platform Bots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Slack, Notion, GitHub. Temporal context from connected platforms.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2760716"/>
            <a:ext cx="1965960" cy="123444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2852156"/>
            <a:ext cx="1746504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Arial"/>
              </a:rPr>
              <a:t>Thinking Partner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217916"/>
            <a:ext cx="17465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Arial"/>
              </a:rPr>
              <a:t>Your orchestrator. Creates tasks, evaluates quality, coordinates the team.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132316"/>
            <a:ext cx="8321040" cy="782584"/>
          </a:xfrm>
          <a:prstGeom prst="rect">
            <a:avLst/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205468"/>
            <a:ext cx="1097280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 dirty="0">
                <a:solidFill>
                  <a:srgbClr val="E8873B"/>
                </a:solidFill>
                <a:latin typeface="Arial"/>
              </a:rPr>
              <a:t>T</a:t>
            </a:r>
            <a:r>
              <a:rPr lang="en-US" sz="1300" b="1" i="0" dirty="0">
                <a:solidFill>
                  <a:srgbClr val="E8873B"/>
                </a:solidFill>
                <a:latin typeface="Arial"/>
              </a:rPr>
              <a:t>hinking Partner</a:t>
            </a:r>
            <a:endParaRPr sz="1300" b="1" i="0" dirty="0">
              <a:solidFill>
                <a:srgbClr val="E8873B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91640" y="4354331"/>
            <a:ext cx="6858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Meta-cognitive agent. Back-office hygiene, workspace cleanup, and strategic judgment.</a:t>
            </a:r>
            <a:endParaRPr lang="en-US" sz="1100" b="0" i="0" dirty="0">
              <a:solidFill>
                <a:srgbClr val="666666"/>
              </a:solidFill>
              <a:latin typeface="Arial"/>
            </a:endParaRPr>
          </a:p>
          <a:p>
            <a:pPr algn="l"/>
            <a:r>
              <a:rPr sz="1100" b="0" i="0" dirty="0">
                <a:solidFill>
                  <a:srgbClr val="666666"/>
                </a:solidFill>
                <a:latin typeface="Arial"/>
              </a:rPr>
              <a:t>One per workspace.</a:t>
            </a:r>
          </a:p>
        </p:txBody>
      </p:sp>
    </p:spTree>
    <p:extLst>
      <p:ext uri="{BB962C8B-B14F-4D97-AF65-F5344CB8AC3E}">
        <p14:creationId xmlns:p14="http://schemas.microsoft.com/office/powerpoint/2010/main" val="3644371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2DC69-065C-286C-9A77-5D8D8FFB8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301D1E-9EC9-73AA-19B2-F651CF34FC55}"/>
              </a:ext>
            </a:extLst>
          </p:cNvPr>
          <p:cNvSpPr/>
          <p:nvPr/>
        </p:nvSpPr>
        <p:spPr>
          <a:xfrm>
            <a:off x="64008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87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Thesis</a:t>
            </a:r>
            <a:endParaRPr lang="en-US" sz="12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FB0A0E0F-FD68-57F1-1A27-04D2758E803F}"/>
              </a:ext>
            </a:extLst>
          </p:cNvPr>
          <p:cNvSpPr/>
          <p:nvPr/>
        </p:nvSpPr>
        <p:spPr>
          <a:xfrm>
            <a:off x="640080" y="457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build your knowledge + files, non-stop</a:t>
            </a:r>
            <a:endParaRPr lang="en-US" sz="2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BF306C-18C3-8691-C38C-E483F6DA06E3}"/>
              </a:ext>
            </a:extLst>
          </p:cNvPr>
          <p:cNvSpPr/>
          <p:nvPr/>
        </p:nvSpPr>
        <p:spPr>
          <a:xfrm>
            <a:off x="640080" y="1371600"/>
            <a:ext cx="2468880" cy="2926080"/>
          </a:xfrm>
          <a:prstGeom prst="rect">
            <a:avLst/>
          </a:prstGeom>
          <a:noFill/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4F7363-4DF8-EE71-6943-A43E158495F2}"/>
              </a:ext>
            </a:extLst>
          </p:cNvPr>
          <p:cNvSpPr txBox="1"/>
          <p:nvPr/>
        </p:nvSpPr>
        <p:spPr>
          <a:xfrm>
            <a:off x="822960" y="1508760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1" i="0" dirty="0">
                <a:solidFill>
                  <a:srgbClr val="1A1A1A"/>
                </a:solidFill>
                <a:latin typeface="Arial"/>
              </a:rPr>
              <a:t>Target Consumer</a:t>
            </a:r>
            <a:endParaRPr sz="1400" b="1" i="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5E40F1-E0E2-7EE2-9CAC-03D4EF5A38D5}"/>
              </a:ext>
            </a:extLst>
          </p:cNvPr>
          <p:cNvSpPr txBox="1"/>
          <p:nvPr/>
        </p:nvSpPr>
        <p:spPr>
          <a:xfrm>
            <a:off x="1165860" y="1935182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b="1" i="0" dirty="0">
                <a:solidFill>
                  <a:srgbClr val="FF0000"/>
                </a:solidFill>
                <a:latin typeface="Arial"/>
              </a:rPr>
              <a:t>L</a:t>
            </a:r>
            <a:r>
              <a:rPr lang="en-KR" b="1" i="0" dirty="0">
                <a:solidFill>
                  <a:srgbClr val="FF0000"/>
                </a:solidFill>
                <a:latin typeface="Arial"/>
              </a:rPr>
              <a:t>ogo/ icon</a:t>
            </a:r>
            <a:endParaRPr b="1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8A3ACAE-393C-DC8D-9981-62F3C8EE8B7F}"/>
              </a:ext>
            </a:extLst>
          </p:cNvPr>
          <p:cNvSpPr txBox="1"/>
          <p:nvPr/>
        </p:nvSpPr>
        <p:spPr>
          <a:xfrm>
            <a:off x="822960" y="2423160"/>
            <a:ext cx="2103120" cy="16927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b="0" i="0" dirty="0">
                <a:solidFill>
                  <a:srgbClr val="666666"/>
                </a:solidFill>
                <a:latin typeface="Arial"/>
              </a:rPr>
              <a:t>Demographic: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Arial"/>
              </a:rPr>
              <a:t>Solo-founders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Arial"/>
              </a:rPr>
              <a:t>&lt;50 Agency workers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rgbClr val="666666"/>
              </a:solidFill>
              <a:latin typeface="Arial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Arial"/>
              </a:rPr>
              <a:t>Psychographic: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Arial"/>
              </a:rPr>
              <a:t>Agent-aware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Arial"/>
              </a:rPr>
              <a:t>Non-technical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Arial"/>
              </a:rPr>
              <a:t>AI FOMO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666666"/>
                </a:solidFill>
                <a:latin typeface="Arial"/>
              </a:rPr>
              <a:t>Can’t set-up </a:t>
            </a:r>
            <a:r>
              <a:rPr lang="en-US" sz="1100" dirty="0" err="1">
                <a:solidFill>
                  <a:srgbClr val="666666"/>
                </a:solidFill>
                <a:latin typeface="Arial"/>
              </a:rPr>
              <a:t>openclaw</a:t>
            </a:r>
            <a:endParaRPr lang="en-US" sz="1100" dirty="0">
              <a:solidFill>
                <a:srgbClr val="666666"/>
              </a:solidFill>
              <a:latin typeface="Arial"/>
            </a:endParaRPr>
          </a:p>
          <a:p>
            <a:endParaRPr sz="1100" b="0" i="0" dirty="0">
              <a:solidFill>
                <a:srgbClr val="666666"/>
              </a:solidFill>
              <a:latin typeface="Arial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6B86990-2901-B429-E3EB-89B5705827D1}"/>
              </a:ext>
            </a:extLst>
          </p:cNvPr>
          <p:cNvSpPr/>
          <p:nvPr/>
        </p:nvSpPr>
        <p:spPr>
          <a:xfrm>
            <a:off x="3337560" y="1371600"/>
            <a:ext cx="2468880" cy="2926080"/>
          </a:xfrm>
          <a:prstGeom prst="rect">
            <a:avLst/>
          </a:prstGeom>
          <a:solidFill>
            <a:srgbClr val="E89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CE2D15-4CAE-6E76-5FFD-0BB3BFD51960}"/>
              </a:ext>
            </a:extLst>
          </p:cNvPr>
          <p:cNvSpPr txBox="1"/>
          <p:nvPr/>
        </p:nvSpPr>
        <p:spPr>
          <a:xfrm>
            <a:off x="3520440" y="1508760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1" i="0" dirty="0">
                <a:solidFill>
                  <a:srgbClr val="FFFFFF"/>
                </a:solidFill>
                <a:latin typeface="Arial"/>
              </a:rPr>
              <a:t>Problem Statement</a:t>
            </a:r>
            <a:endParaRPr sz="14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35F0CC-3727-8665-5CB3-676473FBB134}"/>
              </a:ext>
            </a:extLst>
          </p:cNvPr>
          <p:cNvSpPr txBox="1"/>
          <p:nvPr/>
        </p:nvSpPr>
        <p:spPr>
          <a:xfrm>
            <a:off x="3886200" y="1935181"/>
            <a:ext cx="13716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b="1" i="0" dirty="0">
                <a:solidFill>
                  <a:srgbClr val="FF0000"/>
                </a:solidFill>
                <a:latin typeface="Arial"/>
              </a:rPr>
              <a:t>Logo / icon</a:t>
            </a:r>
            <a:endParaRPr b="1" i="0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4D5718-EBCE-086A-2DBB-DE2BFB4D7B7B}"/>
              </a:ext>
            </a:extLst>
          </p:cNvPr>
          <p:cNvSpPr txBox="1"/>
          <p:nvPr/>
        </p:nvSpPr>
        <p:spPr>
          <a:xfrm>
            <a:off x="3520440" y="2423160"/>
            <a:ext cx="21031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100" b="0" i="0" dirty="0">
                <a:solidFill>
                  <a:srgbClr val="FFE8D0"/>
                </a:solidFill>
                <a:latin typeface="Arial"/>
              </a:rPr>
              <a:t>·  Everything in Pro</a:t>
            </a:r>
          </a:p>
        </p:txBody>
      </p:sp>
    </p:spTree>
    <p:extLst>
      <p:ext uri="{BB962C8B-B14F-4D97-AF65-F5344CB8AC3E}">
        <p14:creationId xmlns:p14="http://schemas.microsoft.com/office/powerpoint/2010/main" val="3574405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2423</Words>
  <Application>Microsoft Macintosh PowerPoint</Application>
  <PresentationFormat>On-screen Show (16:9)</PresentationFormat>
  <Paragraphs>417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Deck - yarnnn - March 2026 v3</dc:title>
  <dc:subject>PptxGenJS Presentation</dc:subject>
  <dc:creator>Kevin Kim</dc:creator>
  <cp:lastModifiedBy>SEULKI KIM</cp:lastModifiedBy>
  <cp:revision>10</cp:revision>
  <dcterms:created xsi:type="dcterms:W3CDTF">2026-03-24T05:11:00Z</dcterms:created>
  <dcterms:modified xsi:type="dcterms:W3CDTF">2026-06-18T09:59:22Z</dcterms:modified>
</cp:coreProperties>
</file>