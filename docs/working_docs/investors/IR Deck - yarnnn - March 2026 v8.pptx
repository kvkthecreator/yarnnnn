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6" r:id="rId27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110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2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8467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sessions/focused-upbeat-hopper/assets/yar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553" y="523620"/>
            <a:ext cx="650335" cy="6503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943824"/>
            <a:ext cx="7315200" cy="790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AI Employees, </a:t>
            </a:r>
          </a:p>
          <a:p>
            <a:pPr marL="0" indent="0" algn="ctr">
              <a:buNone/>
            </a:pPr>
            <a:r>
              <a:rPr lang="en-US" sz="2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Not AI Tools</a:t>
            </a:r>
            <a:endParaRPr lang="en-US" sz="2200" b="1" dirty="0"/>
          </a:p>
        </p:txBody>
      </p:sp>
      <p:sp>
        <p:nvSpPr>
          <p:cNvPr id="6" name="Text 3"/>
          <p:cNvSpPr/>
          <p:nvPr/>
        </p:nvSpPr>
        <p:spPr>
          <a:xfrm>
            <a:off x="914400" y="2905799"/>
            <a:ext cx="7315200" cy="912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2026</a:t>
            </a:r>
          </a:p>
          <a:p>
            <a:pPr marL="0" indent="0" algn="ctr">
              <a:buNone/>
            </a:pPr>
            <a:endParaRPr lang="en-US" sz="1400" dirty="0">
              <a:solidFill>
                <a:srgbClr val="999999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agents that accumulate expertise and deliver compounding work products.</a:t>
            </a:r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CEA9B0D2-D303-4136-3B31-F93B82EBB271}"/>
              </a:ext>
            </a:extLst>
          </p:cNvPr>
          <p:cNvSpPr/>
          <p:nvPr/>
        </p:nvSpPr>
        <p:spPr>
          <a:xfrm>
            <a:off x="411480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yarnnn.com  ·  Kevin Kim  ·  kvkthecreator@gmail.com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75332A-BC05-D4D4-5035-BE45A960C1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0769" y="1344571"/>
            <a:ext cx="1322462" cy="4275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industry is bifurcating.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agent wave is here. OpenClaw: 307K GitHub stars in 60 days. Claude shipped Cowork. Cursor has a million daily users. Massive demand for AI that does real work.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every product in this wave is a tool. Session-scoped. User-present. Stateless between runs. Recurring knowledge work requires something structurally different.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1371600" cy="0"/>
          </a:xfrm>
          <a:prstGeom prst="line">
            <a:avLst/>
          </a:prstGeom>
          <a:noFill/>
          <a:ln w="381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every platform cycle looks that way — until it doesn't.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didn't become Salesforce.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didn't become Shopify.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didn't become Datadog.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approaches to AI agents. Only one builds employees.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50164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15924" y="18288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307K stars. Open-source. Session-scoped — resets every time. No scheduling, no memory.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2267712"/>
            <a:ext cx="78638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Cowork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50164" y="2331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15924" y="23317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desktop agent. Powerful in-session. No persistence, no autonomy.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770632"/>
            <a:ext cx="78638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12" name="Text 10"/>
          <p:cNvSpPr/>
          <p:nvPr/>
        </p:nvSpPr>
        <p:spPr>
          <a:xfrm>
            <a:off x="64008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50164" y="2834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15924" y="28346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Cloud-native AI employees. Persistent. Autonomous. Cross-platform. Accumulates — never resets.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273552"/>
            <a:ext cx="78638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16" name="Text 14"/>
          <p:cNvSpPr/>
          <p:nvPr/>
        </p:nvSpPr>
        <p:spPr>
          <a:xfrm>
            <a:off x="640080" y="3337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50164" y="33375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15924" y="33375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reset every session. Employees accumulate over months. The gap is structural.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solidFill>
            <a:srgbClr val="FDF0E4"/>
          </a:solidFill>
          <a:ln/>
        </p:spPr>
        <p:txBody>
          <a:bodyPr/>
          <a:lstStyle/>
          <a:p>
            <a:endParaRPr lang="en-KR" sz="1400"/>
          </a:p>
        </p:txBody>
      </p:sp>
      <p:sp>
        <p:nvSpPr>
          <p:cNvPr id="20" name="Text 18"/>
          <p:cNvSpPr/>
          <p:nvPr/>
        </p:nvSpPr>
        <p:spPr>
          <a:xfrm>
            <a:off x="822960" y="40233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and Cowork validate massive demand for AI that does real work. But tools reset. yarnnn is the only product where that work compounds.</a:t>
            </a:r>
            <a:endParaRPr lang="en-US" sz="12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your AI employees do that tools can’t.</a:t>
            </a:r>
            <a:endParaRPr lang="en-US" sz="2400" dirty="0"/>
          </a:p>
        </p:txBody>
      </p:sp>
      <p:sp>
        <p:nvSpPr>
          <p:cNvPr id="4" name="Item 1"/>
          <p:cNvSpPr/>
          <p:nvPr/>
        </p:nvSpPr>
        <p:spPr>
          <a:xfrm>
            <a:off x="640080" y="1280160"/>
            <a:ext cx="78638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Work autonomously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  Run on schedule — nights, weekends, holidays. Recurring deliverables arrive on time, every time.</a:t>
            </a:r>
            <a:endParaRPr lang="en-US" sz="1050" dirty="0"/>
          </a:p>
        </p:txBody>
      </p:sp>
      <p:sp>
        <p:nvSpPr>
          <p:cNvPr id="5" name="Item 2"/>
          <p:cNvSpPr/>
          <p:nvPr/>
        </p:nvSpPr>
        <p:spPr>
          <a:xfrm>
            <a:off x="640080" y="1740000"/>
            <a:ext cx="78638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Accumulate expertise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  Every run deepens domain knowledge. Every edit teaches preferences. 90 days of tenure is irreplaceable.</a:t>
            </a:r>
            <a:endParaRPr lang="en-US" sz="1050" dirty="0"/>
          </a:p>
        </p:txBody>
      </p:sp>
      <p:sp>
        <p:nvSpPr>
          <p:cNvPr id="6" name="Item 3"/>
          <p:cNvSpPr/>
          <p:nvPr/>
        </p:nvSpPr>
        <p:spPr>
          <a:xfrm>
            <a:off x="640080" y="2200000"/>
            <a:ext cx="78638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Perceive across platforms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  Slack, Notion, GitHub syncing continuously. Cross-platform awareness no single tool has.</a:t>
            </a:r>
            <a:endParaRPr lang="en-US" sz="1050" dirty="0"/>
          </a:p>
        </p:txBody>
      </p:sp>
      <p:sp>
        <p:nvSpPr>
          <p:cNvPr id="7" name="Item 4"/>
          <p:cNvSpPr/>
          <p:nvPr/>
        </p:nvSpPr>
        <p:spPr>
          <a:xfrm>
            <a:off x="640080" y="2660000"/>
            <a:ext cx="78638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Coordinate as a team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  8 specialists + orchestrator. Multi-agent handoffs, not solo prompting.</a:t>
            </a:r>
            <a:endParaRPr lang="en-US" sz="1050" dirty="0"/>
          </a:p>
        </p:txBody>
      </p:sp>
      <p:sp>
        <p:nvSpPr>
          <p:cNvPr id="8" name="Item 5"/>
          <p:cNvSpPr/>
          <p:nvPr/>
        </p:nvSpPr>
        <p:spPr>
          <a:xfrm>
            <a:off x="640080" y="3120000"/>
            <a:ext cx="78638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Deliver real work product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  Weekly briefs, research reports, competitive intel. Not chat responses — formatted deliverables.</a:t>
            </a:r>
            <a:endParaRPr lang="en-US" sz="1050" dirty="0"/>
          </a:p>
        </p:txBody>
      </p:sp>
      <p:sp>
        <p:nvSpPr>
          <p:cNvPr id="9" name="Callout Box"/>
          <p:cNvSpPr/>
          <p:nvPr/>
        </p:nvSpPr>
        <p:spPr>
          <a:xfrm>
            <a:off x="640080" y="3700000"/>
            <a:ext cx="7863840" cy="731520"/>
          </a:xfrm>
          <a:prstGeom prst="rect">
            <a:avLst/>
          </a:prstGeom>
          <a:solidFill>
            <a:srgbClr val="FDF0E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Callout Text"/>
          <p:cNvSpPr/>
          <p:nvPr/>
        </p:nvSpPr>
        <p:spPr>
          <a:xfrm>
            <a:off x="822960" y="3780000"/>
            <a:ext cx="7498080" cy="57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employee layer. Not a better chatbot — a new category of autonomous knowledge worker.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focused-upbeat-hopper/assets/yar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9202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0" y="164592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/ Moat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Product: Meet Your AI Employees</a:t>
            </a:r>
            <a:endParaRPr lang="en-US" sz="1200" b="1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Pre-built workforce. Ready on day 1.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4975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T+0s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2940" y="3745049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Dump, Connect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8633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your work. Your AI employees are pre-built and ready.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14600" y="3589020"/>
            <a:ext cx="0" cy="100584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2606040" y="34975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T+30s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11779" y="3745049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Ready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06040" y="38633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assigned to the right specialist. Context loading begins.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3589020"/>
            <a:ext cx="0" cy="100584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4754880" y="34975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52060" y="3743485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38633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sync deepens knowledge. Every edit refines quality. Teams coordinate.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12280" y="3589020"/>
            <a:ext cx="0" cy="100584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6903720" y="34975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37522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03720" y="38633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coordination matures. Cross-phase handoffs refine. Output quality compounds.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382499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Shape 18"/>
          <p:cNvSpPr/>
          <p:nvPr/>
        </p:nvSpPr>
        <p:spPr>
          <a:xfrm>
            <a:off x="502920" y="1508369"/>
            <a:ext cx="1920240" cy="1759047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  <a:effectLst>
            <a:outerShdw blurRad="381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21" name="Image 0" descr="/sessions/focused-upbeat-hopper/mnt/yarnnn/docs/working_docs/assets/page_TP(chat)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97480" y="1618083"/>
            <a:ext cx="1828800" cy="1583142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2651760" y="1508369"/>
            <a:ext cx="1920240" cy="1759047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  <a:effectLst>
            <a:outerShdw blurRad="381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23" name="Image 1" descr="/sessions/focused-upbeat-hopper/mnt/yarnnn/docs/working_docs/assets/page_system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8640" y="1618083"/>
            <a:ext cx="1828800" cy="1583142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4800600" y="1508369"/>
            <a:ext cx="1920240" cy="1759047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  <a:effectLst>
            <a:outerShdw blurRad="381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25" name="Image 2" descr="/sessions/focused-upbeat-hopper/mnt/yarnnn/docs/working_docs/assets/page_deliverables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46320" y="1554090"/>
            <a:ext cx="1828800" cy="1583142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6949440" y="1508369"/>
            <a:ext cx="1920240" cy="1759047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  <a:effectLst>
            <a:outerShdw blurRad="381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27" name="Image 3" descr="/sessions/focused-upbeat-hopper/mnt/yarnnn/docs/working_docs/assets/page_context(slack)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995160" y="1554090"/>
            <a:ext cx="1828800" cy="15831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Your Employees Work</a:t>
            </a:r>
            <a:endParaRPr lang="en-US" sz="1200" b="1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infrastructure behind autonomous employees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systems that work together. Each one compounds with tenure.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8267" y="1828693"/>
            <a:ext cx="1280160" cy="1051132"/>
          </a:xfrm>
          <a:prstGeom prst="rect">
            <a:avLst/>
          </a:prstGeom>
          <a:solidFill>
            <a:srgbClr val="E8873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768267" y="1874413"/>
            <a:ext cx="1280160" cy="450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8267" y="2377333"/>
            <a:ext cx="1280160" cy="525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63578" y="1828693"/>
            <a:ext cx="1280160" cy="1051132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2263578" y="1874413"/>
            <a:ext cx="1280160" cy="450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63578" y="2377333"/>
            <a:ext cx="1280160" cy="525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content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+ provenance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58889" y="1828800"/>
            <a:ext cx="1280160" cy="1051132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3758889" y="1874520"/>
            <a:ext cx="1280160" cy="450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Filesystem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58889" y="2377440"/>
            <a:ext cx="1280160" cy="525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+ memory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workspaces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54200" y="1828693"/>
            <a:ext cx="1280160" cy="1051132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5254200" y="1874413"/>
            <a:ext cx="1280160" cy="450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54200" y="2377333"/>
            <a:ext cx="1280160" cy="525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types, PM dispatch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3-tier pulse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49511" y="1805940"/>
            <a:ext cx="1280160" cy="1051132"/>
          </a:xfrm>
          <a:prstGeom prst="rect">
            <a:avLst/>
          </a:prstGeom>
          <a:solidFill>
            <a:srgbClr val="E8873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6749511" y="1851660"/>
            <a:ext cx="1280160" cy="450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49511" y="2354580"/>
            <a:ext cx="1280160" cy="525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compose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· PPTX · XLSX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33604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tools can't replicate this: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36804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Tools (OpenClaw, Cowork, Claude Code)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39547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Session-scoped. User must be present. Context resets between runs. No autonomous execution.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36804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Memory Startups (Mem.ai, Granola)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83280" y="39547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without execution. Recall facts but don’t produce autonomous work products.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36804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AI (Notion AI, Gemini)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39547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Single-platform. No cross-platform synthesis. No persistent agent identity.</a:t>
            </a:r>
            <a:endParaRPr lang="en-US" sz="1000" dirty="0"/>
          </a:p>
        </p:txBody>
      </p:sp>
      <p:cxnSp>
        <p:nvCxnSpPr>
          <p:cNvPr id="24" name="Connector 23">
            <a:extLst>
              <a:ext uri="{FF2B5EF4-FFF2-40B4-BE49-F238E27FC236}">
                <a16:creationId xmlns:a16="http://schemas.microsoft.com/office/drawing/2014/main" id="{6B762895-3766-7E59-F7D6-A2F33611841C}"/>
              </a:ext>
            </a:extLst>
          </p:cNvPr>
          <p:cNvCxnSpPr/>
          <p:nvPr/>
        </p:nvCxnSpPr>
        <p:spPr>
          <a:xfrm>
            <a:off x="502920" y="3139725"/>
            <a:ext cx="81381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8873B"/>
                </a:solidFill>
                <a:latin typeface="Arial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rial"/>
              </a:rPr>
              <a:t>What your employees deliver.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99999"/>
                </a:solidFill>
                <a:latin typeface="Arial"/>
              </a:rPr>
              <a:t>13 job descriptions across 5 departments. Each is a concrete deliverable with a team of AI employees behind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99999"/>
                </a:solidFill>
                <a:latin typeface="Arial"/>
              </a:rPr>
              <a:t>Category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41732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99999"/>
                </a:solidFill>
                <a:latin typeface="Arial"/>
              </a:rPr>
              <a:t>Deliverable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41732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99999"/>
                </a:solidFill>
                <a:latin typeface="Arial"/>
              </a:rPr>
              <a:t>Pipeline (agents)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41732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99999"/>
                </a:solidFill>
                <a:latin typeface="Arial"/>
              </a:rPr>
              <a:t>Default cadence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1627632"/>
            <a:ext cx="81381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1691640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8873B"/>
                </a:solidFill>
                <a:latin typeface="Arial"/>
              </a:rPr>
              <a:t>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691640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Competitive Intel 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691640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Research →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691640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Weekly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29384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Market Research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92938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Research → 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1929384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Monthly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167128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Industry Signal Monitor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16712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Marketing → Research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16712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Weekly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2423160"/>
            <a:ext cx="8138160" cy="0"/>
          </a:xfrm>
          <a:prstGeom prst="line">
            <a:avLst/>
          </a:prstGeom>
          <a:ln w="1270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2478024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8873B"/>
                </a:solidFill>
                <a:latin typeface="Arial"/>
              </a:rPr>
              <a:t>OPERATIONS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2478024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Meeting Prep Brief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47802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CRM → Research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2478024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On-demand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2715768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Stakeholder Update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271576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Research → Content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271576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Monthly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2953512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Project Status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2953512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Slack → CRM → Content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295351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Weekly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2920" y="3209544"/>
            <a:ext cx="8138160" cy="0"/>
          </a:xfrm>
          <a:prstGeom prst="line">
            <a:avLst/>
          </a:prstGeom>
          <a:ln w="1270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02920" y="3264408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8873B"/>
                </a:solidFill>
                <a:latin typeface="Arial"/>
              </a:rPr>
              <a:t>PLATFORM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3264408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Slack Recap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326440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Slack Bot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326440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Daily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3502152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Notion Sync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3502152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Notion Bot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350215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Weekly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02920" y="3758184"/>
            <a:ext cx="8138160" cy="0"/>
          </a:xfrm>
          <a:prstGeom prst="line">
            <a:avLst/>
          </a:prstGeom>
          <a:ln w="1270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02920" y="3813048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8873B"/>
                </a:solidFill>
                <a:latin typeface="Arial"/>
              </a:rPr>
              <a:t>CONTENT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37360" y="3813048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Content Brief / Blog Draft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381304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Research → Content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381304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On-demand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37360" y="4050792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Launch Material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4050792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Marketing → Content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40507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On-demand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02920" y="4306824"/>
            <a:ext cx="8138160" cy="0"/>
          </a:xfrm>
          <a:prstGeom prst="line">
            <a:avLst/>
          </a:prstGeom>
          <a:ln w="1270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02920" y="4361688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8873B"/>
                </a:solidFill>
                <a:latin typeface="Arial"/>
              </a:rPr>
              <a:t>TRACKING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37360" y="4361688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GTM Tracker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9120" y="436168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Marketing → Content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23760" y="436168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Weekly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02920" y="4617720"/>
            <a:ext cx="8138160" cy="0"/>
          </a:xfrm>
          <a:prstGeom prst="line">
            <a:avLst/>
          </a:prstGeom>
          <a:ln w="1270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502920" y="4809744"/>
            <a:ext cx="8138160" cy="502920"/>
          </a:xfrm>
          <a:prstGeom prst="rect">
            <a:avLst/>
          </a:prstGeom>
          <a:solidFill>
            <a:srgbClr val="FD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4873752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You describe the work. Your employees figure out the team, the handoffs, and the schedule. Deterministic cost, no ad-hoc prompting.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8873B"/>
                </a:solidFill>
                <a:latin typeface="Arial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rial"/>
              </a:rPr>
              <a:t>How Employees Onboard and Grow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99999"/>
                </a:solidFill>
                <a:latin typeface="Arial"/>
              </a:rPr>
              <a:t>Like real employees — they learn your business, then produce. And they get better every week.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1508760" cy="141732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7160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28800"/>
            <a:ext cx="13258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E8D0"/>
                </a:solidFill>
                <a:latin typeface="Arial"/>
              </a:rPr>
              <a:t>Connect Slack + Notion.
Content syncs and
accumulates over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37944" y="17830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8873B"/>
                </a:solidFill>
                <a:latin typeface="Arial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1947672" y="1280160"/>
            <a:ext cx="1508760" cy="14173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39112" y="137160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Inference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9112" y="1828800"/>
            <a:ext cx="13258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  <a:latin typeface="Arial"/>
              </a:rPr>
              <a:t>System reads your work.
Extracts identity, brand,
scopes from docs + chat.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5576" y="17830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8873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75304" y="1280160"/>
            <a:ext cx="1508760" cy="14173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66744" y="137160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Task Type
Selection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6744" y="1828800"/>
            <a:ext cx="13258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  <a:latin typeface="Arial"/>
              </a:rPr>
              <a:t>Pick deliverables from
the catalog. Each has a
pre-built pipeline.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3208" y="17830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8873B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02936" y="1280160"/>
            <a:ext cx="1508760" cy="14173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94376" y="137160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Pipeline
Execution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4376" y="1828800"/>
            <a:ext cx="13258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  <a:latin typeface="Arial"/>
              </a:rPr>
              <a:t>Multi-agent pipeline runs
mechanically. Each step
hands off to the next.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17830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8873B"/>
                </a:solidFill>
                <a:latin typeface="Arial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30568" y="1280160"/>
            <a:ext cx="1508760" cy="141732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22008" y="137160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Autonomous
Delivery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1828800"/>
            <a:ext cx="13258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E8D0"/>
                </a:solidFill>
                <a:latin typeface="Arial"/>
              </a:rPr>
              <a:t>Output compounds weekly.
Feedback refines agents.
Quality improves with use.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2880360"/>
            <a:ext cx="81381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301752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What makes this an employee, not a tool: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383280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8873B"/>
                </a:solidFill>
                <a:latin typeface="Arial"/>
              </a:rPr>
              <a:t>Job descriptions, not ad-hoc prompts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657600"/>
            <a:ext cx="26060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Every task has a defined execution plan. Employees run on schedule, with handoffs. Deterministic cost. No prompting required.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3383280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8873B"/>
                </a:solidFill>
                <a:latin typeface="Arial"/>
              </a:rPr>
              <a:t>Transparent, editable work product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3657600"/>
            <a:ext cx="26060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TASK.md + AGENT.md define everything. No hidden state. You can read and edit the same files your employees use.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3383280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8873B"/>
                </a:solidFill>
                <a:latin typeface="Arial"/>
              </a:rPr>
              <a:t>Tenure creates irreplaceable value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3657600"/>
            <a:ext cx="26060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Tools reset every session. Employees accumulate expertise. Every run deepens knowledge. 90 days of tenure is irreplaceable.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Moat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Tenure Is the Moat. Switching Costs Follow.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reset. Employees accumulate. Every run deepens expertise. Every edit teaches preferences. 90 days of tenure is irreplaceable.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moat mechanics: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0666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7866" y="22860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Accumulation: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Every execution cycle deepens cross-platform understanding. AI employees don’t start from zero — they compound.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0666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7866" y="2971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Coordination: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Multi-agent handoffs refine with each cycle. Organizational intelligence compounds independently of individual agent improvement.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0666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7866" y="3657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Irreversibility: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90 days of accumulated employee intelligence — domain knowledge, learned preferences, feedback history — can’t be replicated by downloading a new tool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066" y="2423160"/>
            <a:ext cx="1463040" cy="1463040"/>
          </a:xfrm>
          <a:prstGeom prst="ellipse">
            <a:avLst/>
          </a:prstGeom>
          <a:solidFill>
            <a:srgbClr val="E8943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6217066" y="26060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1386" y="1874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1546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99946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8346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</a:t>
            </a:r>
            <a:endParaRPr lang="en-US" sz="1100" dirty="0"/>
          </a:p>
        </p:txBody>
      </p: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5B16DD62-E25B-D49E-C852-B1BFA1C6DE7D}"/>
              </a:ext>
            </a:extLst>
          </p:cNvPr>
          <p:cNvCxnSpPr>
            <a:cxnSpLocks/>
            <a:stCxn id="14" idx="3"/>
            <a:endCxn id="15" idx="0"/>
          </p:cNvCxnSpPr>
          <p:nvPr/>
        </p:nvCxnSpPr>
        <p:spPr>
          <a:xfrm>
            <a:off x="7405786" y="2011680"/>
            <a:ext cx="914400" cy="960120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12BD9378-8CCC-6F5A-2B44-D8B54A898876}"/>
              </a:ext>
            </a:extLst>
          </p:cNvPr>
          <p:cNvCxnSpPr>
            <a:cxnSpLocks/>
            <a:stCxn id="15" idx="2"/>
            <a:endCxn id="16" idx="3"/>
          </p:cNvCxnSpPr>
          <p:nvPr/>
        </p:nvCxnSpPr>
        <p:spPr>
          <a:xfrm rot="5400000">
            <a:off x="7428646" y="3314700"/>
            <a:ext cx="960120" cy="822960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99156217-C786-CD09-58CD-2F6ED9430DEE}"/>
              </a:ext>
            </a:extLst>
          </p:cNvPr>
          <p:cNvCxnSpPr>
            <a:cxnSpLocks/>
            <a:stCxn id="17" idx="0"/>
            <a:endCxn id="14" idx="1"/>
          </p:cNvCxnSpPr>
          <p:nvPr/>
        </p:nvCxnSpPr>
        <p:spPr>
          <a:xfrm rot="5400000" flipH="1" flipV="1">
            <a:off x="5554126" y="2034540"/>
            <a:ext cx="960120" cy="914400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D2523D0D-0180-EBF8-BA4A-B506C0FE5CCA}"/>
              </a:ext>
            </a:extLst>
          </p:cNvPr>
          <p:cNvCxnSpPr>
            <a:cxnSpLocks/>
            <a:stCxn id="16" idx="1"/>
            <a:endCxn id="17" idx="2"/>
          </p:cNvCxnSpPr>
          <p:nvPr/>
        </p:nvCxnSpPr>
        <p:spPr>
          <a:xfrm rot="10800000">
            <a:off x="5576986" y="3246120"/>
            <a:ext cx="822960" cy="960120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focused-upbeat-hopper/assets/yar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9202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0" y="18288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 •  Market  •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sld xmlns="http://schemas.openxmlformats.org/presentationml/2006/main" xmlns:a="http://schemas.openxmlformats.org/drawingml/2006/main" xmlns:a16="http://schemas.microsoft.com/office/drawing/2014/main" xmlns:ns2="http://schemas.microsoft.com/office/powerpoint/2010/main">
  <cSld name="Slide 12">
    <bg>
      <bgPr>
        <a:solidFill>
          <a:srgbClr val="FFFFFF"/>
        </a:solidFill>
        <a:effectLst/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ext 0"/>
          <cNvSpPr/>
          <nvPr/>
        </nvSpPr>
        <spPr>
          <a:xfrm>
            <a:off x="640080" y="274320"/>
            <a:ext cx="36576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</a:t>
            </a:r>
            <a:endParaRPr lang="en-US" sz="1200" dirty="0"/>
          </a:p>
        </txBody>
      </sp>
      <sp>
        <nvSpPr>
          <cNvPr id="3" name="Text 1"/>
          <cNvSpPr/>
          <nvPr/>
        </nvSpPr>
        <spPr>
          <a:xfrm>
            <a:off x="640080" y="594360"/>
            <a:ext cx="7772400" cy="54864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vs. Employees. Two structurally different categories.</a:t>
            </a:r>
            <a:endParaRPr lang="en-US" sz="2000" dirty="0"/>
          </a:p>
        </txBody>
      </sp>
      <sp>
        <nvSpPr>
          <cNvPr id="4" name="Text 2"/>
          <cNvSpPr/>
          <nvPr/>
        </nvSpPr>
        <spPr>
          <a:xfrm>
            <a:off x="640080" y="1143000"/>
            <a:ext cx="7772400" cy="36576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local-first wave proves demand. yarnnn is where tool users graduate when they need work to run without them.</a:t>
            </a:r>
            <a:endParaRPr lang="en-US" sz="1200" dirty="0"/>
          </a:p>
        </txBody>
      </sp>
      <graphicFrame>
        <nvGraphicFramePr>
          <cNvPr id="13" name="Table 0"/>
          <cNvGraphicFramePr>
            <a:graphicFrameLocks noGrp="1"/>
          </cNvGraphicFramePr>
          <nvPr>
            <extLst>
              <ext uri="{D42A27DB-BD31-4B8C-83A1-F6EECF244321}">
                <ns2:modId val="1495768405"/>
              </ext>
            </extLst>
          </nvPr>
        </nvGraphicFramePr>
        <xfrm>
          <a:off x="457200" y="1645920"/>
          <a:ext cx="4937760" cy="2712720"/>
        </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val="20000"/>
                    </a:ext>
                  </a:extLst>
                </a:gridCol>
                <a:gridCol w="822960">
                  <a:extLst>
                    <a:ext uri="{9D8B030D-6E8A-4147-A177-3AD203B41FA5}">
                      <a16:colId val="20001"/>
                    </a:ext>
                  </a:extLst>
                </a:gridCol>
                <a:gridCol w="822960">
                  <a:extLst>
                    <a:ext uri="{9D8B030D-6E8A-4147-A177-3AD203B41FA5}">
                      <a16:colId val="20002"/>
                    </a:ext>
                  </a:extLst>
                </a:gridCol>
                <a:gridCol w="822960">
                  <a:extLst>
                    <a:ext uri="{9D8B030D-6E8A-4147-A177-3AD203B41FA5}">
                      <a16:colId val="20003"/>
                    </a:ext>
                  </a:extLst>
                </a:gridCol>
                <a:gridCol w="822960">
                  <a:extLst>
                    <a:ext uri="{9D8B030D-6E8A-4147-A177-3AD203B41FA5}">
                      <a16:colId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yarnnn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Tools (OpenClaw, Claude Code, Cowork)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 + Memory</a:t>
                      </a:r>
                      <a:b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</a:b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/Claude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 Startups (Mem.ai, Granola)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Mem.ai, Genspark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Workspace AI (Notion, Gemini)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Notion, Slack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Persistent agent identity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Autonomous scheduled execution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Evolving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Cross-platform accumulation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Feedback compounds quality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Scheduled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Multi-agent coordination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Accumulation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Evolving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Cloud-native (runs without user)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10006"/>
                  </a:ext>
                </a:extLst>
              </a:tr>
            </a:tbl>
          </a:graphicData>
        </a:graphic>
      </graphicFrame>
      <sp>
        <nvSpPr>
          <cNvPr id="6" name="Shape 3"/>
          <cNvSpPr/>
          <nvPr/>
        </nvSpPr>
        <spPr>
          <a:xfrm>
            <a:off x="7406641" y="1714500"/>
            <a:ext cx="0" cy="292608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spPr>
        <txBody>
          <a:bodyPr/>
          <a:lstStyle/>
          <a:p>
            <a:endParaRPr lang="en-KR"/>
          </a:p>
        </txBody>
      </sp>
      <sp>
        <nvSpPr>
          <cNvPr id="7" name="Shape 4"/>
          <cNvSpPr/>
          <nvPr/>
        </nvSpPr>
        <spPr>
          <a:xfrm>
            <a:off x="5943600" y="3108960"/>
            <a:ext cx="274320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spPr>
        <txBody>
          <a:bodyPr/>
          <a:lstStyle/>
          <a:p>
            <a:endParaRPr lang="en-KR"/>
          </a:p>
        </txBody>
      </sp>
      <sp>
        <nvSpPr>
          <cNvPr id="8" name="Text 5"/>
          <cNvSpPr/>
          <nvPr/>
        </nvSpPr>
        <spPr>
          <a:xfrm>
            <a:off x="7040881" y="1531620"/>
            <a:ext cx="731520" cy="22860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</a:t>
            </a:r>
            <a:endParaRPr lang="en-US" sz="900" i="1" dirty="0"/>
          </a:p>
        </txBody>
      </sp>
      <sp>
        <nvSpPr>
          <cNvPr id="9" name="Text 6"/>
          <cNvSpPr/>
          <nvPr/>
        </nvSpPr>
        <spPr>
          <a:xfrm>
            <a:off x="8046720" y="3114941"/>
            <a:ext cx="914400" cy="45720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900" i="1" dirty="0"/>
          </a:p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Accumulation</a:t>
            </a:r>
            <a:endParaRPr lang="en-US" sz="900" i="1" dirty="0"/>
          </a:p>
        </txBody>
      </sp>
      <sp>
        <nvSpPr>
          <cNvPr id="10" name="Text 7"/>
          <cNvSpPr/>
          <nvPr/>
        </nvSpPr>
        <spPr>
          <a:xfrm>
            <a:off x="7589520" y="1838200"/>
            <a:ext cx="9144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</a:t>
            </a:r>
            <a:endParaRPr lang="en-US" sz="1100" dirty="0"/>
          </a:p>
        </txBody>
      </sp>
      <sp>
        <nvSpPr>
          <cNvPr id="11" name="Text 8"/>
          <cNvSpPr/>
          <nvPr/>
        </nvSpPr>
        <spPr>
          <a:xfrm>
            <a:off x="6217921" y="2537033"/>
            <a:ext cx="9144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+ Memory</a:t>
            </a:r>
            <a:endParaRPr lang="en-US" sz="900" dirty="0"/>
          </a:p>
        </txBody>
      </sp>
      <sp>
        <nvSpPr>
          <cNvPr id="12" name="Text 9"/>
          <cNvSpPr/>
          <nvPr/>
        </nvSpPr>
        <spPr>
          <a:xfrm>
            <a:off x="7578411" y="2468880"/>
            <a:ext cx="1371600" cy="36576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Cowork 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Genspark</a:t>
            </a:r>
            <a:endParaRPr lang="en-US" sz="900" dirty="0"/>
          </a:p>
        </txBody>
      </sp>
      <sp>
        <nvSpPr>
          <cNvPr id="5" name="Text 10"/>
          <cNvSpPr/>
          <nvPr/>
        </nvSpPr>
        <spPr>
          <a:xfrm>
            <a:off x="6217921" y="4045794"/>
            <a:ext cx="914400" cy="36576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AI (Notion, Gemini)</a:t>
            </a:r>
            <a:endParaRPr lang="en-US" sz="900" dirty="0"/>
          </a:p>
        </txBody>
      </sp>
      <sp>
        <nvSpPr>
          <cNvPr id="14" name="Text 11"/>
          <cNvSpPr/>
          <nvPr/>
        </nvSpPr>
        <spPr>
          <a:xfrm>
            <a:off x="7589520" y="4045794"/>
            <a:ext cx="914400" cy="36576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Agent-based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Startups</a:t>
            </a:r>
            <a:endParaRPr lang="en-US" sz="900" dirty="0"/>
          </a:p>
        </txBody>
      </sp>
    </spTree>
  </cSld>
  <clrMapOvr>
    <a:masterClrMapping/>
  </clrMapOvr>
</sld>
</file>

<file path=ppt/slides/slide13.xml><?xml version="1.0" encoding="utf-8"?>
<sld xmlns="http://schemas.openxmlformats.org/presentationml/2006/main" xmlns:a="http://schemas.openxmlformats.org/drawingml/2006/main">
  <cSld name="Slide 13">
    <bg>
      <bgPr>
        <a:solidFill>
          <a:srgbClr val="FFFFFF"/>
        </a:solidFill>
        <a:effectLst/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ext 0"/>
          <cNvSpPr/>
          <nvPr/>
        </nvSpPr>
        <spPr>
          <a:xfrm>
            <a:off x="640080" y="274320"/>
            <a:ext cx="36576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200" dirty="0"/>
          </a:p>
        </txBody>
      </sp>
      <sp>
        <nvSpPr>
          <cNvPr id="3" name="Text 1"/>
          <cNvSpPr/>
          <nvPr/>
        </nvSpPr>
        <spPr>
          <a:xfrm>
            <a:off x="640080" y="594360"/>
            <a:ext cx="7772400" cy="54864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with solo consultants. Expanding from there.</a:t>
            </a:r>
            <a:endParaRPr lang="en-US" sz="2000" dirty="0"/>
          </a:p>
        </txBody>
      </sp>
      <sp>
        <nvSpPr>
          <cNvPr id="4" name="Text 2"/>
          <cNvSpPr/>
          <nvPr/>
        </nvSpPr>
        <spPr>
          <a:xfrm>
            <a:off x="640080" y="1188720"/>
            <a:ext cx="73152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wedge: Solo consultants with recurring client obligations</a:t>
            </a:r>
            <a:endParaRPr lang="en-US" sz="1200" dirty="0"/>
          </a:p>
        </txBody>
      </sp>
      <sp>
        <nvSpPr>
          <cNvPr id="5" name="Shape 3"/>
          <cNvSpPr/>
          <nvPr/>
        </nvSpPr>
        <spPr>
          <a:xfrm>
            <a:off x="457200" y="164592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spPr>
        <txBody>
          <a:bodyPr/>
          <a:lstStyle/>
          <a:p>
            <a:endParaRPr lang="en-KR"/>
          </a:p>
        </txBody>
      </sp>
      <sp>
        <nvSpPr>
          <cNvPr id="6" name="Text 4"/>
          <cNvSpPr/>
          <nvPr/>
        </nvSpPr>
        <spPr>
          <a:xfrm>
            <a:off x="594360" y="1691640"/>
            <a:ext cx="2377440" cy="18288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000" dirty="0"/>
          </a:p>
        </txBody>
      </sp>
      <sp>
        <nvSpPr>
          <cNvPr id="7" name="Text 5"/>
          <cNvSpPr/>
          <nvPr/>
        </nvSpPr>
        <spPr>
          <a:xfrm>
            <a:off x="594360" y="1874520"/>
            <a:ext cx="2377440" cy="45720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$4.35B</a:t>
            </a:r>
            <a:endParaRPr lang="en-US" sz="2400" dirty="0"/>
          </a:p>
        </txBody>
      </sp>
      <sp>
        <nvSpPr>
          <cNvPr id="8" name="Text 6"/>
          <cNvSpPr/>
          <nvPr/>
        </nvSpPr>
        <spPr>
          <a:xfrm>
            <a:off x="594360" y="2331720"/>
            <a:ext cx="2377440" cy="36576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productivity tools market (31% CAGR)</a:t>
            </a:r>
            <a:endParaRPr lang="en-US" sz="800" dirty="0"/>
          </a:p>
        </txBody>
      </sp>
      <sp>
        <nvSpPr>
          <cNvPr id="9" name="Shape 7"/>
          <cNvSpPr/>
          <nvPr/>
        </nvSpPr>
        <spPr>
          <a:xfrm>
            <a:off x="3291840" y="164592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spPr>
        <txBody>
          <a:bodyPr/>
          <a:lstStyle/>
          <a:p>
            <a:endParaRPr lang="en-KR"/>
          </a:p>
        </txBody>
      </sp>
      <sp>
        <nvSpPr>
          <cNvPr id="10" name="Text 8"/>
          <cNvSpPr/>
          <nvPr/>
        </nvSpPr>
        <spPr>
          <a:xfrm>
            <a:off x="3429000" y="1691640"/>
            <a:ext cx="2377440" cy="18288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000" dirty="0"/>
          </a:p>
        </txBody>
      </sp>
      <sp>
        <nvSpPr>
          <cNvPr id="11" name="Text 9"/>
          <cNvSpPr/>
          <nvPr/>
        </nvSpPr>
        <spPr>
          <a:xfrm>
            <a:off x="3429000" y="1874520"/>
            <a:ext cx="2377440" cy="45720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$1.14B</a:t>
            </a:r>
            <a:endParaRPr lang="en-US" sz="2400" dirty="0"/>
          </a:p>
        </txBody>
      </sp>
      <sp>
        <nvSpPr>
          <cNvPr id="12" name="Text 10"/>
          <cNvSpPr/>
          <nvPr/>
        </nvSpPr>
        <spPr>
          <a:xfrm>
            <a:off x="3429000" y="2331720"/>
            <a:ext cx="2377440" cy="36576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~5M solo consultants globally × $228/yr (Pro annual)</a:t>
            </a:r>
            <a:endParaRPr lang="en-US" sz="800" dirty="0"/>
          </a:p>
        </txBody>
      </sp>
      <sp>
        <nvSpPr>
          <cNvPr id="13" name="Shape 11"/>
          <cNvSpPr/>
          <nvPr/>
        </nvSpPr>
        <spPr>
          <a:xfrm>
            <a:off x="6126480" y="1645920"/>
            <a:ext cx="2651760" cy="1188720"/>
          </a:xfrm>
          <a:prstGeom prst="rect">
            <a:avLst/>
          </a:prstGeom>
          <a:solidFill>
            <a:srgbClr val="E8943B"/>
          </a:solidFill>
          <a:ln w="12700">
            <a:solidFill>
              <a:srgbClr val="CCCCCC"/>
            </a:solidFill>
            <a:prstDash val="solid"/>
          </a:ln>
        </spPr>
        <txBody>
          <a:bodyPr/>
          <a:lstStyle/>
          <a:p>
            <a:endParaRPr lang="en-KR"/>
          </a:p>
        </txBody>
      </sp>
      <sp>
        <nvSpPr>
          <cNvPr id="14" name="Text 12"/>
          <cNvSpPr/>
          <nvPr/>
        </nvSpPr>
        <spPr>
          <a:xfrm>
            <a:off x="6263640" y="1691640"/>
            <a:ext cx="2377440" cy="18288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SOM</a:t>
            </a:r>
            <a:endParaRPr lang="en-US" sz="1000" dirty="0"/>
          </a:p>
        </txBody>
      </sp>
      <sp>
        <nvSpPr>
          <cNvPr id="15" name="Text 13"/>
          <cNvSpPr/>
          <nvPr/>
        </nvSpPr>
        <spPr>
          <a:xfrm>
            <a:off x="6263640" y="1874520"/>
            <a:ext cx="2377440" cy="45720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$4.6M</a:t>
            </a:r>
            <a:endParaRPr lang="en-US" sz="2400" dirty="0"/>
          </a:p>
        </txBody>
      </sp>
      <sp>
        <nvSpPr>
          <cNvPr id="16" name="Text 14"/>
          <cNvSpPr/>
          <nvPr/>
        </nvSpPr>
        <spPr>
          <a:xfrm>
            <a:off x="6263640" y="2331720"/>
            <a:ext cx="2377440" cy="36576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20K consultants in first 3 years</a:t>
            </a:r>
            <a:endParaRPr lang="en-US" sz="800" dirty="0"/>
          </a:p>
        </txBody>
      </sp>
      <sp>
        <nvSpPr>
          <cNvPr id="17" name="Text 15"/>
          <cNvSpPr/>
          <nvPr/>
        </nvSpPr>
        <spPr>
          <a:xfrm>
            <a:off x="640080" y="3108960"/>
            <a:ext cx="36576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path:</a:t>
            </a:r>
            <a:endParaRPr lang="en-US" sz="1400" dirty="0"/>
          </a:p>
        </txBody>
      </sp>
      <sp>
        <nvSpPr>
          <cNvPr id="18" name="Text 16"/>
          <cNvSpPr/>
          <nvPr/>
        </nvSpPr>
        <spPr>
          <a:xfrm>
            <a:off x="640080" y="3520440"/>
            <a:ext cx="73152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100" dirty="0"/>
          </a:p>
        </txBody>
      </sp>
      <sp>
        <nvSpPr>
          <cNvPr id="19" name="Text 17"/>
          <cNvSpPr/>
          <nvPr/>
        </nvSpPr>
        <spPr>
          <a:xfrm>
            <a:off x="1463040" y="3520440"/>
            <a:ext cx="201168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consultants graduating from AI tools</a:t>
            </a:r>
            <a:endParaRPr lang="en-US" sz="1200" dirty="0"/>
          </a:p>
        </txBody>
      </sp>
      <sp>
        <nvSpPr>
          <cNvPr id="20" name="Text 18"/>
          <cNvSpPr/>
          <nvPr/>
        </nvSpPr>
        <spPr>
          <a:xfrm>
            <a:off x="3566160" y="3520440"/>
            <a:ext cx="50292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reports, clear pain, willing to pay</a:t>
            </a:r>
            <a:endParaRPr lang="en-US" sz="1100" dirty="0"/>
          </a:p>
        </txBody>
      </sp>
      <sp>
        <nvSpPr>
          <cNvPr id="21" name="Text 19"/>
          <cNvSpPr/>
          <nvPr/>
        </nvSpPr>
        <spPr>
          <a:xfrm>
            <a:off x="640080" y="3904488"/>
            <a:ext cx="73152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txBody>
      </sp>
      <sp>
        <nvSpPr>
          <cNvPr id="22" name="Text 20"/>
          <cNvSpPr/>
          <nvPr/>
        </nvSpPr>
        <spPr>
          <a:xfrm>
            <a:off x="1463040" y="3904488"/>
            <a:ext cx="201168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 &amp; executives</a:t>
            </a:r>
            <a:endParaRPr lang="en-US" sz="1200" dirty="0"/>
          </a:p>
        </txBody>
      </sp>
      <sp>
        <nvSpPr>
          <cNvPr id="23" name="Text 21"/>
          <cNvSpPr/>
          <nvPr/>
        </nvSpPr>
        <spPr>
          <a:xfrm>
            <a:off x="3566160" y="3904488"/>
            <a:ext cx="50292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updates, board prep, strategic briefs</a:t>
            </a:r>
            <a:endParaRPr lang="en-US" sz="1100" dirty="0"/>
          </a:p>
        </txBody>
      </sp>
      <sp>
        <nvSpPr>
          <cNvPr id="24" name="Text 22"/>
          <cNvSpPr/>
          <nvPr/>
        </nvSpPr>
        <spPr>
          <a:xfrm>
            <a:off x="640080" y="4288536"/>
            <a:ext cx="73152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</a:t>
            </a:r>
            <a:endParaRPr lang="en-US" sz="1100" dirty="0"/>
          </a:p>
        </txBody>
      </sp>
      <sp>
        <nvSpPr>
          <cNvPr id="25" name="Text 23"/>
          <cNvSpPr/>
          <nvPr/>
        </nvSpPr>
        <spPr>
          <a:xfrm>
            <a:off x="1463040" y="4288536"/>
            <a:ext cx="201168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&amp; ops leads</a:t>
            </a:r>
            <a:endParaRPr lang="en-US" sz="1200" dirty="0"/>
          </a:p>
        </txBody>
      </sp>
      <sp>
        <nvSpPr>
          <cNvPr id="26" name="Text 24"/>
          <cNvSpPr/>
          <nvPr/>
        </nvSpPr>
        <spPr>
          <a:xfrm>
            <a:off x="3566160" y="4288536"/>
            <a:ext cx="50292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Standups, project reports, cross-team synthesis</a:t>
            </a:r>
            <a:endParaRPr lang="en-US" sz="1100" dirty="0"/>
          </a:p>
        </txBody>
      </sp>
      <sp>
        <nvSpPr>
          <cNvPr id="27" name="Text 25"/>
          <cNvSpPr/>
          <nvPr/>
        </nvSpPr>
        <spPr>
          <a:xfrm>
            <a:off x="640080" y="4672584"/>
            <a:ext cx="73152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100" dirty="0"/>
          </a:p>
        </txBody>
      </sp>
      <sp>
        <nvSpPr>
          <cNvPr id="28" name="Text 26"/>
          <cNvSpPr/>
          <nvPr/>
        </nvSpPr>
        <spPr>
          <a:xfrm>
            <a:off x="1463040" y="4672584"/>
            <a:ext cx="201168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knowledge workers &amp;#x2014; anyone hiring AI employees instead of operating AI tools</a:t>
            </a:r>
            <a:endParaRPr lang="en-US" sz="1200" dirty="0"/>
          </a:p>
        </txBody>
      </sp>
      <sp>
        <nvSpPr>
          <cNvPr id="29" name="Text 27"/>
          <cNvSpPr/>
          <nvPr/>
        </nvSpPr>
        <spPr>
          <a:xfrm>
            <a:off x="3566160" y="4672584"/>
            <a:ext cx="50292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professional with recurring work obligations</a:t>
            </a:r>
            <a:endParaRPr lang="en-US" sz="1100" dirty="0"/>
          </a:p>
        </txBody>
      </sp>
    </spTree>
  </cSld>
  <clrMapOvr>
    <a:masterClrMapping/>
  </clrMapOvr>
</sld>
</file>

<file path=ppt/slides/slide14.xml><?xml version="1.0" encoding="utf-8"?>
<sld xmlns="http://schemas.openxmlformats.org/presentationml/2006/main" xmlns:a="http://schemas.openxmlformats.org/drawingml/2006/main">
  <cSld name="Slide 14">
    <bg>
      <bgPr>
        <a:solidFill>
          <a:srgbClr val="FFFFFF"/>
        </a:solidFill>
        <a:effectLst/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extBox 1"/>
          <cNvSpPr txBox="1"/>
          <nvPr/>
        </nvSpPr>
        <spPr>
          <a:xfrm>
            <a:off x="502920" y="228600"/>
            <a:ext cx="3657600" cy="22860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8873B"/>
                </a:solidFill>
                <a:latin typeface="Arial"/>
              </a:rPr>
              <a:t>Pricing Model</a:t>
            </a:r>
          </a:p>
        </txBody>
      </sp>
      <sp>
        <nvSpPr>
          <cNvPr id="3" name="TextBox 2"/>
          <cNvSpPr txBox="1"/>
          <nvPr/>
        </nvSpPr>
        <spPr>
          <a:xfrm>
            <a:off x="502920" y="502920"/>
            <a:ext cx="7772400" cy="45720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rial"/>
              </a:rPr>
              <a:t>Two tiers. Work credits are the lever.</a:t>
            </a:r>
          </a:p>
        </txBody>
      </sp>
      <sp>
        <nvSpPr>
          <cNvPr id="4" name="Rectangle 3"/>
          <cNvSpPr/>
          <nvPr/>
        </nvSpPr>
        <spPr>
          <a:xfrm>
            <a:off x="640080" y="1188720"/>
            <a:ext cx="2468880" cy="2926080"/>
          </a:xfrm>
          <a:prstGeom prst="rect">
            <a:avLst/>
          </a:prstGeom>
          <a:noFill/>
          <a:ln w="12700">
            <a:solidFill>
              <a:srgbClr val="CCCCCC"/>
            </a:solidFill>
          </a:ln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pPr algn="ctr"/>
          </a:p>
        </txBody>
      </sp>
      <sp>
        <nvSpPr>
          <cNvPr id="5" name="TextBox 4"/>
          <cNvSpPr txBox="1"/>
          <nvPr/>
        </nvSpPr>
        <spPr>
          <a:xfrm>
            <a:off x="822960" y="1325880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Free</a:t>
            </a:r>
          </a:p>
        </txBody>
      </sp>
      <sp>
        <nvSpPr>
          <cNvPr id="6" name="TextBox 5"/>
          <cNvSpPr txBox="1"/>
          <nvPr/>
        </nvSpPr>
        <spPr>
          <a:xfrm>
            <a:off x="822960" y="1645920"/>
            <a:ext cx="1371600" cy="45720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Arial"/>
              </a:rPr>
              <a:t>$0</a:t>
            </a:r>
          </a:p>
        </txBody>
      </sp>
      <sp>
        <nvSpPr>
          <cNvPr id="7" name="TextBox 6"/>
          <cNvSpPr txBox="1"/>
          <nvPr/>
        </nvSpPr>
        <spPr>
          <a:xfrm>
            <a:off x="2011680" y="1828800"/>
            <a:ext cx="731520" cy="22860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Arial"/>
              </a:rPr>
              <a:t>/mo</a:t>
            </a:r>
          </a:p>
        </txBody>
      </sp>
      <sp>
        <nvSpPr>
          <cNvPr id="8" name="TextBox 7"/>
          <cNvSpPr txBox="1"/>
          <nvPr/>
        </nvSpPr>
        <spPr>
          <a:xfrm>
            <a:off x="822960" y="2240280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2 active tasks</a:t>
            </a:r>
          </a:p>
        </txBody>
      </sp>
      <sp>
        <nvSpPr>
          <cNvPr id="9" name="TextBox 8"/>
          <cNvSpPr txBox="1"/>
          <nvPr/>
        </nvSpPr>
        <spPr>
          <a:xfrm>
            <a:off x="822960" y="2532888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20 work credits / month</a:t>
            </a:r>
          </a:p>
        </txBody>
      </sp>
      <sp>
        <nvSpPr>
          <cNvPr id="10" name="TextBox 9"/>
          <cNvSpPr txBox="1"/>
          <nvPr/>
        </nvSpPr>
        <spPr>
          <a:xfrm>
            <a:off x="822960" y="2825496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150 chat messages / month</a:t>
            </a:r>
          </a:p>
        </txBody>
      </sp>
      <sp>
        <nvSpPr>
          <cNvPr id="11" name="TextBox 10"/>
          <cNvSpPr txBox="1"/>
          <nvPr/>
        </nvSpPr>
        <spPr>
          <a:xfrm>
            <a:off x="822960" y="3118104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5 Slack / 10 Notion sources</a:t>
            </a:r>
          </a:p>
        </txBody>
      </sp>
      <sp>
        <nvSpPr>
          <cNvPr id="12" name="TextBox 11"/>
          <cNvSpPr txBox="1"/>
          <nvPr/>
        </nvSpPr>
        <spPr>
          <a:xfrm>
            <a:off x="822960" y="3410712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Daily sync</a:t>
            </a:r>
          </a:p>
        </txBody>
      </sp>
      <sp>
        <nvSpPr>
          <cNvPr id="13" name="Rectangle 12"/>
          <cNvSpPr/>
          <nvPr/>
        </nvSpPr>
        <spPr>
          <a:xfrm>
            <a:off x="3337560" y="1188720"/>
            <a:ext cx="2468880" cy="2926080"/>
          </a:xfrm>
          <a:prstGeom prst="rect">
            <a:avLst/>
          </a:prstGeom>
          <a:noFill/>
          <a:ln w="12700">
            <a:solidFill>
              <a:srgbClr val="CCCCCC"/>
            </a:solidFill>
          </a:ln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pPr algn="ctr"/>
          </a:p>
        </txBody>
      </sp>
      <sp>
        <nvSpPr>
          <cNvPr id="14" name="TextBox 13"/>
          <cNvSpPr txBox="1"/>
          <nvPr/>
        </nvSpPr>
        <spPr>
          <a:xfrm>
            <a:off x="3520440" y="1325880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Pro</a:t>
            </a:r>
          </a:p>
        </txBody>
      </sp>
      <sp>
        <nvSpPr>
          <cNvPr id="15" name="TextBox 14"/>
          <cNvSpPr txBox="1"/>
          <nvPr/>
        </nvSpPr>
        <spPr>
          <a:xfrm>
            <a:off x="3520440" y="1645920"/>
            <a:ext cx="1371600" cy="45720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Arial"/>
              </a:rPr>
              <a:t>$19</a:t>
            </a:r>
          </a:p>
        </txBody>
      </sp>
      <sp>
        <nvSpPr>
          <cNvPr id="16" name="TextBox 15"/>
          <cNvSpPr txBox="1"/>
          <nvPr/>
        </nvSpPr>
        <spPr>
          <a:xfrm>
            <a:off x="4709160" y="1828800"/>
            <a:ext cx="731520" cy="22860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Arial"/>
              </a:rPr>
              <a:t>/mo</a:t>
            </a:r>
          </a:p>
        </txBody>
      </sp>
      <sp>
        <nvSpPr>
          <cNvPr id="17" name="TextBox 16"/>
          <cNvSpPr txBox="1"/>
          <nvPr/>
        </nvSpPr>
        <spPr>
          <a:xfrm>
            <a:off x="3520440" y="2240280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10 active tasks</a:t>
            </a:r>
          </a:p>
        </txBody>
      </sp>
      <sp>
        <nvSpPr>
          <cNvPr id="18" name="TextBox 17"/>
          <cNvSpPr txBox="1"/>
          <nvPr/>
        </nvSpPr>
        <spPr>
          <a:xfrm>
            <a:off x="3520440" y="2532888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500 work credits / month</a:t>
            </a:r>
          </a:p>
        </txBody>
      </sp>
      <sp>
        <nvSpPr>
          <cNvPr id="19" name="TextBox 18"/>
          <cNvSpPr txBox="1"/>
          <nvPr/>
        </nvSpPr>
        <spPr>
          <a:xfrm>
            <a:off x="3520440" y="2825496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Unlimited chat messages</a:t>
            </a:r>
          </a:p>
        </txBody>
      </sp>
      <sp>
        <nvSpPr>
          <cNvPr id="20" name="TextBox 19"/>
          <cNvSpPr txBox="1"/>
          <nvPr/>
        </nvSpPr>
        <spPr>
          <a:xfrm>
            <a:off x="3520440" y="3118104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Unlimited sources</a:t>
            </a:r>
          </a:p>
        </txBody>
      </sp>
      <sp>
        <nvSpPr>
          <cNvPr id="21" name="TextBox 20"/>
          <cNvSpPr txBox="1"/>
          <nvPr/>
        </nvSpPr>
        <spPr>
          <a:xfrm>
            <a:off x="3520440" y="3410712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Hourly sync</a:t>
            </a:r>
          </a:p>
        </txBody>
      </sp>
      <sp>
        <nvSpPr>
          <cNvPr id="22" name="Rectangle 21"/>
          <cNvSpPr/>
          <nvPr/>
        </nvSpPr>
        <spPr>
          <a:xfrm>
            <a:off x="6035040" y="1188720"/>
            <a:ext cx="2468880" cy="2926080"/>
          </a:xfrm>
          <a:prstGeom prst="rect">
            <a:avLst/>
          </a:prstGeom>
          <a:solidFill>
            <a:srgbClr val="E8943B"/>
          </a:solidFill>
          <a:ln>
            <a:noFill/>
          </a:ln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pPr algn="ctr"/>
          </a:p>
        </txBody>
      </sp>
      <sp>
        <nvSpPr>
          <cNvPr id="23" name="TextBox 22"/>
          <cNvSpPr txBox="1"/>
          <nvPr/>
        </nvSpPr>
        <spPr>
          <a:xfrm>
            <a:off x="6217920" y="1325880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Enterprise</a:t>
            </a:r>
          </a:p>
        </txBody>
      </sp>
      <sp>
        <nvSpPr>
          <cNvPr id="24" name="TextBox 23"/>
          <cNvSpPr txBox="1"/>
          <nvPr/>
        </nvSpPr>
        <spPr>
          <a:xfrm>
            <a:off x="6217920" y="1645920"/>
            <a:ext cx="1371600" cy="45720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TBD</a:t>
            </a:r>
          </a:p>
        </txBody>
      </sp>
      <sp>
        <nvSpPr>
          <cNvPr id="25" name="TextBox 24"/>
          <cNvSpPr txBox="1"/>
          <nvPr/>
        </nvSpPr>
        <spPr>
          <a:xfrm>
            <a:off x="7406640" y="1828800"/>
            <a:ext cx="731520" cy="22860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FFE8D0"/>
                </a:solidFill>
                <a:latin typeface="Arial"/>
              </a:rPr>
              <a:t>/mo</a:t>
            </a:r>
          </a:p>
        </txBody>
      </sp>
      <sp>
        <nvSpPr>
          <cNvPr id="26" name="TextBox 25"/>
          <cNvSpPr txBox="1"/>
          <nvPr/>
        </nvSpPr>
        <spPr>
          <a:xfrm>
            <a:off x="6217920" y="2240280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E8D0"/>
                </a:solidFill>
                <a:latin typeface="Arial"/>
              </a:rPr>
              <a:t>·  Everything in Pro</a:t>
            </a:r>
          </a:p>
        </txBody>
      </sp>
      <sp>
        <nvSpPr>
          <cNvPr id="27" name="TextBox 26"/>
          <cNvSpPr txBox="1"/>
          <nvPr/>
        </nvSpPr>
        <spPr>
          <a:xfrm>
            <a:off x="6217920" y="2532888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E8D0"/>
                </a:solidFill>
                <a:latin typeface="Arial"/>
              </a:rPr>
              <a:t>·  Team workspaces</a:t>
            </a:r>
          </a:p>
        </txBody>
      </sp>
      <sp>
        <nvSpPr>
          <cNvPr id="28" name="TextBox 27"/>
          <cNvSpPr txBox="1"/>
          <nvPr/>
        </nvSpPr>
        <spPr>
          <a:xfrm>
            <a:off x="6217920" y="2825496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E8D0"/>
                </a:solidFill>
                <a:latin typeface="Arial"/>
              </a:rPr>
              <a:t>·  Priority support</a:t>
            </a:r>
          </a:p>
        </txBody>
      </sp>
      <sp>
        <nvSpPr>
          <cNvPr id="29" name="TextBox 28"/>
          <cNvSpPr txBox="1"/>
          <nvPr/>
        </nvSpPr>
        <spPr>
          <a:xfrm>
            <a:off x="6217920" y="3118104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E8D0"/>
                </a:solidFill>
                <a:latin typeface="Arial"/>
              </a:rPr>
              <a:t>·  Custom integrations</a:t>
            </a:r>
          </a:p>
        </txBody>
      </sp>
      <sp>
        <nvSpPr>
          <cNvPr id="30" name="TextBox 29"/>
          <cNvSpPr txBox="1"/>
          <nvPr/>
        </nvSpPr>
        <spPr>
          <a:xfrm>
            <a:off x="6217920" y="3410712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E8D0"/>
                </a:solidFill>
                <a:latin typeface="Arial"/>
              </a:rPr>
              <a:t>·  Agent-to-agent protocol</a:t>
            </a:r>
          </a:p>
        </txBody>
      </sp>
      <sp>
        <nvSpPr>
          <cNvPr id="31" name="TextBox 30"/>
          <cNvSpPr txBox="1"/>
          <nvPr/>
        </nvSpPr>
        <spPr>
          <a:xfrm>
            <a:off x="502920" y="4297680"/>
            <a:ext cx="8229600" cy="22860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  <a:latin typeface="Arial"/>
              </a:rPr>
              <a:t>Credits: task run = 3 credits, render/export = 1 credit. Multi-step pipelines cost 3 credits per step.</a:t>
            </a:r>
          </a:p>
        </txBody>
      </sp>
      <sp>
        <nvSpPr>
          <cNvPr id="32" name="TextBox 31"/>
          <cNvSpPr txBox="1"/>
          <nvPr/>
        </nvSpPr>
        <spPr>
          <a:xfrm>
            <a:off x="502920" y="4572000"/>
            <a:ext cx="8229600" cy="18288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  <a:latin typeface="Arial"/>
              </a:rPr>
              <a:t>You pay employees. The subscription model is self-evident: $19/month for a team that works while you sleep.</a:t>
            </a:r>
          </a:p>
        </txBody>
      </sp>
    </spTree>
  </cSld>
  <clrMapOvr>
    <a:masterClrMapping/>
  </clrMapOvr>
</sld>
</file>

<file path=ppt/slides/slide15.xml><?xml version="1.0" encoding="utf-8"?>
<sld xmlns="http://schemas.openxmlformats.org/presentationml/2006/main" xmlns:a="http://schemas.openxmlformats.org/drawingml/2006/main">
  <cSld name="Slide 15">
    <bg>
      <bgPr>
        <a:solidFill>
          <a:srgbClr val="F9F9F9"/>
        </a:solidFill>
        <a:effectLst/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ext 0"/>
          <cNvSpPr/>
          <nvPr/>
        </nvSpPr>
        <spPr>
          <a:xfrm>
            <a:off x="640080" y="274320"/>
            <a:ext cx="36576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Roadmap</a:t>
            </a:r>
            <a:endParaRPr lang="en-US" sz="1200" dirty="0"/>
          </a:p>
        </txBody>
      </sp>
      <sp>
        <nvSpPr>
          <cNvPr id="3" name="Text 1"/>
          <cNvSpPr/>
          <nvPr/>
        </nvSpPr>
        <spPr>
          <a:xfrm>
            <a:off x="640080" y="594360"/>
            <a:ext cx="7772400" cy="54864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Employee Workforce (shipped) → Cross-Platform Intelligence → Agent Protocol</a:t>
            </a:r>
            <a:endParaRPr lang="en-US" sz="2000" dirty="0"/>
          </a:p>
        </txBody>
      </sp>
      <sp>
        <nvSpPr>
          <cNvPr id="4" name="Text 2"/>
          <cNvSpPr/>
          <nvPr/>
        </nvSpPr>
        <spPr>
          <a:xfrm>
            <a:off x="640080" y="1143000"/>
            <a:ext cx="77724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phase deepens the value chain. Shipped work compounds into the next layer of capability.</a:t>
            </a:r>
            <a:endParaRPr lang="en-US" sz="1050" dirty="0"/>
          </a:p>
        </txBody>
      </sp>
      <sp>
        <nvSpPr>
          <cNvPr id="5" name="Shape 3"/>
          <cNvSpPr/>
          <nvPr/>
        </nvSpPr>
        <spPr>
          <a:xfrm>
            <a:off x="365760" y="1554480"/>
            <a:ext cx="2743200" cy="3383280"/>
          </a:xfrm>
          <a:prstGeom prst="rect">
            <a:avLst/>
          </a:prstGeom>
          <a:solidFill>
            <a:srgbClr val="FDF0E4"/>
          </a:solidFill>
          <a:ln w="12700">
            <a:solidFill>
              <a:srgbClr val="CCCCCC"/>
            </a:solidFill>
            <a:prstDash val="solid"/>
          </a:ln>
        </spPr>
        <txBody>
          <a:bodyPr/>
          <a:lstStyle/>
          <a:p>
            <a:endParaRPr lang="en-KR" sz="1400"/>
          </a:p>
        </txBody>
      </sp>
      <sp>
        <nvSpPr>
          <cNvPr id="6" name="Text 4"/>
          <cNvSpPr/>
          <nvPr/>
        </nvSpPr>
        <spPr>
          <a:xfrm>
            <a:off x="502920" y="1645920"/>
            <a:ext cx="2468880" cy="18288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✓</a:t>
            </a:r>
            <a:endParaRPr lang="en-US" sz="900" dirty="0"/>
          </a:p>
        </txBody>
      </sp>
      <sp>
        <nvSpPr>
          <cNvPr id="7" name="Text 5"/>
          <cNvSpPr/>
          <nvPr/>
        </nvSpPr>
        <spPr>
          <a:xfrm>
            <a:off x="502920" y="1874520"/>
            <a:ext cx="2468880" cy="54864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Coordinated Agent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</a:t>
            </a:r>
            <a:endParaRPr lang="en-US" sz="1600" dirty="0"/>
          </a:p>
        </txBody>
      </sp>
      <sp>
        <nvSpPr>
          <cNvPr id="8" name="Text 6"/>
          <cNvSpPr/>
          <nvPr/>
        </nvSpPr>
        <spPr>
          <a:xfrm>
            <a:off x="502920" y="251460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Work-first onboarding + project scaffolding</a:t>
            </a:r>
            <a:endParaRPr lang="en-US" sz="800" dirty="0"/>
          </a:p>
        </txBody>
      </sp>
      <sp>
        <nvSpPr>
          <cNvPr id="9" name="Text 7"/>
          <cNvSpPr/>
          <nvPr/>
        </nvSpPr>
        <spPr>
          <a:xfrm>
            <a:off x="502920" y="283464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phase dispatch + quality gating</a:t>
            </a:r>
            <a:endParaRPr lang="en-US" sz="800" dirty="0"/>
          </a:p>
        </txBody>
      </sp>
      <sp>
        <nvSpPr>
          <cNvPr id="10" name="Text 8"/>
          <cNvSpPr/>
          <nvPr/>
        </nvSpPr>
        <spPr>
          <a:xfrm>
            <a:off x="502920" y="315468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agent types (three-registry)</a:t>
            </a:r>
            <a:endParaRPr lang="en-US" sz="800" dirty="0"/>
          </a:p>
        </txBody>
      </sp>
      <sp>
        <nvSpPr>
          <cNvPr id="11" name="Text 9"/>
          <cNvSpPr/>
          <nvPr/>
        </nvSpPr>
        <spPr>
          <a:xfrm>
            <a:off x="502920" y="347472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gateway: HTML compose, PDF, PPTX, XLSX</a:t>
            </a:r>
            <a:endParaRPr lang="en-US" sz="800" dirty="0"/>
          </a:p>
        </txBody>
      </sp>
      <sp>
        <nvSpPr>
          <cNvPr id="12" name="Text 10"/>
          <cNvSpPr/>
          <nvPr/>
        </nvSpPr>
        <spPr>
          <a:xfrm>
            <a:off x="502920" y="379476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substrate: edit distillation + self-reflection</a:t>
            </a:r>
            <a:endParaRPr lang="en-US" sz="800" dirty="0"/>
          </a:p>
        </txBody>
      </sp>
      <sp>
        <nvSpPr>
          <cNvPr id="13" name="Text 11"/>
          <cNvSpPr/>
          <nvPr/>
        </nvSpPr>
        <spPr>
          <a:xfrm>
            <a:off x="502920" y="411480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filesystem + cross-agent collaboration</a:t>
            </a:r>
            <a:endParaRPr lang="en-US" sz="800" dirty="0"/>
          </a:p>
        </txBody>
      </sp>
      <sp>
        <nvSpPr>
          <cNvPr id="14" name="Text 12"/>
          <cNvSpPr/>
          <nvPr/>
        </nvSpPr>
        <spPr>
          <a:xfrm>
            <a:off x="502920" y="443484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150+ Architecture Decision Records</a:t>
            </a:r>
            <a:endParaRPr lang="en-US" sz="800" dirty="0"/>
          </a:p>
        </txBody>
      </sp>
      <sp>
        <nvSpPr>
          <cNvPr id="15" name="Text 13"/>
          <cNvSpPr/>
          <nvPr/>
        </nvSpPr>
        <spPr>
          <a:xfrm>
            <a:off x="3108960" y="2560320"/>
            <a:ext cx="182880" cy="36576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</a:t>
            </a:r>
            <a:endParaRPr lang="en-US" sz="1600" dirty="0"/>
          </a:p>
        </txBody>
      </sp>
      <sp>
        <nvSpPr>
          <cNvPr id="16" name="Shape 14"/>
          <cNvSpPr/>
          <nvPr/>
        </nvSpPr>
        <spPr>
          <a:xfrm>
            <a:off x="3291840" y="155448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spPr>
        <txBody>
          <a:bodyPr/>
          <a:lstStyle/>
          <a:p>
            <a:endParaRPr lang="en-KR" sz="1400"/>
          </a:p>
        </txBody>
      </sp>
      <sp>
        <nvSpPr>
          <cNvPr id="17" name="Text 15"/>
          <cNvSpPr/>
          <nvPr/>
        </nvSpPr>
        <spPr>
          <a:xfrm>
            <a:off x="3429000" y="1645920"/>
            <a:ext cx="2468880" cy="18288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6-12mo.</a:t>
            </a:r>
            <a:endParaRPr lang="en-US" sz="900" dirty="0"/>
          </a:p>
        </txBody>
      </sp>
      <sp>
        <nvSpPr>
          <cNvPr id="18" name="Text 16"/>
          <cNvSpPr/>
          <nvPr/>
        </nvSpPr>
        <spPr>
          <a:xfrm>
            <a:off x="3429000" y="1874520"/>
            <a:ext cx="2468880" cy="54864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600" dirty="0"/>
          </a:p>
        </txBody>
      </sp>
      <sp>
        <nvSpPr>
          <cNvPr id="19" name="Text 17"/>
          <cNvSpPr/>
          <nvPr/>
        </nvSpPr>
        <spPr>
          <a:xfrm>
            <a:off x="3429000" y="251460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Projects: multi-agent assembled deliverables</a:t>
            </a:r>
            <a:endParaRPr lang="en-US" sz="800" dirty="0"/>
          </a:p>
        </txBody>
      </sp>
      <sp>
        <nvSpPr>
          <cNvPr id="20" name="Text 18"/>
          <cNvSpPr/>
          <nvPr/>
        </nvSpPr>
        <spPr>
          <a:xfrm>
            <a:off x="3429000" y="283464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Composer-driven assembly from contributions</a:t>
            </a:r>
            <a:endParaRPr lang="en-US" sz="800" dirty="0"/>
          </a:p>
        </txBody>
      </sp>
      <sp>
        <nvSpPr>
          <cNvPr id="21" name="Text 19"/>
          <cNvSpPr/>
          <nvPr/>
        </nvSpPr>
        <spPr>
          <a:xfrm>
            <a:off x="3429000" y="315468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Deeper platform coverage: 365, Google Drive</a:t>
            </a:r>
            <a:endParaRPr lang="en-US" sz="800" dirty="0"/>
          </a:p>
        </txBody>
      </sp>
      <sp>
        <nvSpPr>
          <cNvPr id="22" name="Text 20"/>
          <cNvSpPr/>
          <nvPr/>
        </nvSpPr>
        <spPr>
          <a:xfrm>
            <a:off x="3429000" y="347472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HTML-native compose as output pipeline</a:t>
            </a:r>
            <a:endParaRPr lang="en-US" sz="800" dirty="0"/>
          </a:p>
        </txBody>
      </sp>
      <sp>
        <nvSpPr>
          <cNvPr id="23" name="Text 21"/>
          <cNvSpPr/>
          <nvPr/>
        </nvSpPr>
        <spPr>
          <a:xfrm>
            <a:off x="6035040" y="2560320"/>
            <a:ext cx="182880" cy="36576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</a:t>
            </a:r>
            <a:endParaRPr lang="en-US" sz="1600" dirty="0"/>
          </a:p>
        </txBody>
      </sp>
      <sp>
        <nvSpPr>
          <cNvPr id="24" name="Shape 22"/>
          <cNvSpPr/>
          <nvPr/>
        </nvSpPr>
        <spPr>
          <a:xfrm>
            <a:off x="6217920" y="155448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spPr>
        <txBody>
          <a:bodyPr/>
          <a:lstStyle/>
          <a:p>
            <a:endParaRPr lang="en-KR" sz="1400"/>
          </a:p>
        </txBody>
      </sp>
      <sp>
        <nvSpPr>
          <cNvPr id="25" name="Text 23"/>
          <cNvSpPr/>
          <nvPr/>
        </nvSpPr>
        <spPr>
          <a:xfrm>
            <a:off x="6355080" y="1645920"/>
            <a:ext cx="2468880" cy="18288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+12mo.</a:t>
            </a:r>
            <a:endParaRPr lang="en-US" sz="900" dirty="0"/>
          </a:p>
        </txBody>
      </sp>
      <sp>
        <nvSpPr>
          <cNvPr id="26" name="Text 24"/>
          <cNvSpPr/>
          <nvPr/>
        </nvSpPr>
        <spPr>
          <a:xfrm>
            <a:off x="6355080" y="1874520"/>
            <a:ext cx="2468880" cy="54864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Agent-to-Agent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</a:t>
            </a:r>
            <a:endParaRPr lang="en-US" sz="1600" dirty="0"/>
          </a:p>
        </txBody>
      </sp>
      <sp>
        <nvSpPr>
          <cNvPr id="27" name="Text 25"/>
          <cNvSpPr/>
          <nvPr/>
        </nvSpPr>
        <spPr>
          <a:xfrm>
            <a:off x="6355080" y="251460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protocol interop. External agents consume yarnnn context</a:t>
            </a:r>
            <a:endParaRPr lang="en-US" sz="800" dirty="0"/>
          </a:p>
        </txBody>
      </sp>
      <sp>
        <nvSpPr>
          <cNvPr id="28" name="Text 26"/>
          <cNvSpPr/>
          <nvPr/>
        </nvSpPr>
        <spPr>
          <a:xfrm>
            <a:off x="6355080" y="283464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Agent-to-agent coordination across systems</a:t>
            </a:r>
            <a:endParaRPr lang="en-US" sz="800" dirty="0"/>
          </a:p>
        </txBody>
      </sp>
      <sp>
        <nvSpPr>
          <cNvPr id="29" name="Text 27"/>
          <cNvSpPr/>
          <nvPr/>
        </nvSpPr>
        <spPr>
          <a:xfrm>
            <a:off x="6355080" y="315468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play: own the work context graph</a:t>
            </a:r>
            <a:endParaRPr lang="en-US" sz="800" dirty="0"/>
          </a:p>
        </txBody>
      </sp>
    </spTree>
  </cSld>
  <clrMapOvr>
    <a:masterClrMapping/>
  </clrMapOvr>
</sld>
</file>

<file path=ppt/slides/slide16.xml><?xml version="1.0" encoding="utf-8"?>
<sld xmlns="http://schemas.openxmlformats.org/presentationml/2006/main" xmlns:a="http://schemas.openxmlformats.org/drawingml/2006/main">
  <cSld name="Slide 16">
    <bg>
      <bgPr>
        <a:solidFill>
          <a:srgbClr val="FFFFFF"/>
        </a:solidFill>
        <a:effectLst/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ext 0"/>
          <cNvSpPr/>
          <nvPr/>
        </nvSpPr>
        <spPr>
          <a:xfrm>
            <a:off x="640080" y="274320"/>
            <a:ext cx="36576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(Pre) Seed - The Ask</a:t>
            </a:r>
            <a:endParaRPr lang="en-US" sz="1200" dirty="0"/>
          </a:p>
        </txBody>
      </sp>
      <sp>
        <nvSpPr>
          <cNvPr id="3" name="Text 1"/>
          <cNvSpPr/>
          <nvPr/>
        </nvSpPr>
        <spPr>
          <a:xfrm>
            <a:off x="640080" y="594360"/>
            <a:ext cx="7772400" cy="54864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$500K at $5M post-money valuation.</a:t>
            </a:r>
            <a:endParaRPr lang="en-US" sz="2000" dirty="0"/>
          </a:p>
        </txBody>
      </sp>
      <sp>
        <nvSpPr>
          <cNvPr id="4" name="Shape 2"/>
          <cNvSpPr/>
          <nvPr/>
        </nvSpPr>
        <spPr>
          <a:xfrm>
            <a:off x="457200" y="137160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spPr>
        <txBody>
          <a:bodyPr/>
          <a:lstStyle/>
          <a:p>
            <a:endParaRPr lang="en-KR"/>
          </a:p>
        </txBody>
      </sp>
      <sp>
        <nvSpPr>
          <cNvPr id="5" name="Text 3"/>
          <cNvSpPr/>
          <nvPr/>
        </nvSpPr>
        <spPr>
          <a:xfrm>
            <a:off x="457200" y="1463040"/>
            <a:ext cx="265176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funds:</a:t>
            </a:r>
            <a:endParaRPr lang="en-US" sz="1200" dirty="0"/>
          </a:p>
        </txBody>
      </sp>
      <sp>
        <nvSpPr>
          <cNvPr id="6" name="Text 4"/>
          <cNvSpPr/>
          <nvPr/>
        </nvSpPr>
        <spPr>
          <a:xfrm>
            <a:off x="457200" y="1783080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Tech Lead (memory/ML)</a:t>
            </a:r>
            <a:endParaRPr lang="en-US" sz="1000" dirty="0"/>
          </a:p>
        </txBody>
      </sp>
      <sp>
        <nvSpPr>
          <cNvPr id="7" name="Text 5"/>
          <cNvSpPr/>
          <nvPr/>
        </nvSpPr>
        <spPr>
          <a:xfrm>
            <a:off x="457200" y="2075688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GTM Lead (creator community)</a:t>
            </a:r>
            <a:endParaRPr lang="en-US" sz="1000" dirty="0"/>
          </a:p>
        </txBody>
      </sp>
      <sp>
        <nvSpPr>
          <cNvPr id="8" name="Text 6"/>
          <cNvSpPr/>
          <nvPr/>
        </nvSpPr>
        <spPr>
          <a:xfrm>
            <a:off x="457200" y="2368296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12 months runway</a:t>
            </a:r>
            <a:endParaRPr lang="en-US" sz="1000" dirty="0"/>
          </a:p>
        </txBody>
      </sp>
      <sp>
        <nvSpPr>
          <cNvPr id="9" name="Shape 7"/>
          <cNvSpPr/>
          <nvPr/>
        </nvSpPr>
        <spPr>
          <a:xfrm>
            <a:off x="3291840" y="137160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spPr>
        <txBody>
          <a:bodyPr/>
          <a:lstStyle/>
          <a:p>
            <a:endParaRPr lang="en-KR"/>
          </a:p>
        </txBody>
      </sp>
      <sp>
        <nvSpPr>
          <cNvPr id="10" name="Text 8"/>
          <cNvSpPr/>
          <nvPr/>
        </nvSpPr>
        <spPr>
          <a:xfrm>
            <a:off x="3291840" y="1463040"/>
            <a:ext cx="265176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now:</a:t>
            </a:r>
            <a:endParaRPr lang="en-US" sz="1200" dirty="0"/>
          </a:p>
        </txBody>
      </sp>
      <sp>
        <nvSpPr>
          <cNvPr id="11" name="Text 9"/>
          <cNvSpPr/>
          <nvPr/>
        </nvSpPr>
        <spPr>
          <a:xfrm>
            <a:off x="3291840" y="1783080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OpenClaw: 307K stars / 60 days</a:t>
            </a:r>
            <a:endParaRPr lang="en-US" sz="1000" dirty="0"/>
          </a:p>
        </txBody>
      </sp>
      <sp>
        <nvSpPr>
          <cNvPr id="12" name="Text 10"/>
          <cNvSpPr/>
          <nvPr/>
        </nvSpPr>
        <spPr>
          <a:xfrm>
            <a:off x="3291840" y="2075688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No one owns the employee layer</a:t>
            </a:r>
            <a:endParaRPr lang="en-US" sz="1000" dirty="0"/>
          </a:p>
        </txBody>
      </sp>
      <sp>
        <nvSpPr>
          <cNvPr id="13" name="Text 11"/>
          <cNvSpPr/>
          <nvPr/>
        </nvSpPr>
        <spPr>
          <a:xfrm>
            <a:off x="3291840" y="2368296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Architecture built, need team</a:t>
            </a:r>
            <a:endParaRPr lang="en-US" sz="1000" dirty="0"/>
          </a:p>
        </txBody>
      </sp>
      <sp>
        <nvSpPr>
          <cNvPr id="14" name="Shape 12"/>
          <cNvSpPr/>
          <nvPr/>
        </nvSpPr>
        <spPr>
          <a:xfrm>
            <a:off x="6126480" y="137160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spPr>
        <txBody>
          <a:bodyPr/>
          <a:lstStyle/>
          <a:p>
            <a:endParaRPr lang="en-KR"/>
          </a:p>
        </txBody>
      </sp>
      <sp>
        <nvSpPr>
          <cNvPr id="15" name="Text 13"/>
          <cNvSpPr/>
          <nvPr/>
        </nvSpPr>
        <spPr>
          <a:xfrm>
            <a:off x="6126480" y="1463040"/>
            <a:ext cx="265176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Positioning:</a:t>
            </a:r>
            <a:endParaRPr lang="en-US" sz="1200" dirty="0"/>
          </a:p>
        </txBody>
      </sp>
      <sp>
        <nvSpPr>
          <cNvPr id="16" name="Text 14"/>
          <cNvSpPr/>
          <nvPr/>
        </nvSpPr>
        <spPr>
          <a:xfrm>
            <a:off x="6126480" y="1783080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Tools are everywhere. Employees are greenfield.</a:t>
            </a:r>
            <a:endParaRPr lang="en-US" sz="1000" dirty="0"/>
          </a:p>
        </txBody>
      </sp>
      <sp>
        <nvSpPr>
          <cNvPr id="17" name="Text 15"/>
          <cNvSpPr/>
          <nvPr/>
        </nvSpPr>
        <spPr>
          <a:xfrm>
            <a:off x="6126480" y="2075688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AI employees, not AI tools</a:t>
            </a:r>
            <a:endParaRPr lang="en-US" sz="1000" dirty="0"/>
          </a:p>
        </txBody>
      </sp>
      <sp>
        <nvSpPr>
          <cNvPr id="18" name="Shape 16"/>
          <cNvSpPr/>
          <nvPr/>
        </nvSpPr>
        <spPr>
          <a:xfrm>
            <a:off x="457200" y="301752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spPr>
        <txBody>
          <a:bodyPr/>
          <a:lstStyle/>
          <a:p>
            <a:endParaRPr lang="en-KR"/>
          </a:p>
        </txBody>
      </sp>
      <sp>
        <nvSpPr>
          <cNvPr id="19" name="Text 17"/>
          <cNvSpPr/>
          <nvPr/>
        </nvSpPr>
        <spPr>
          <a:xfrm>
            <a:off x="457200" y="3108960"/>
            <a:ext cx="265176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0: Team-Building</a:t>
            </a:r>
            <a:endParaRPr lang="en-US" sz="1200" dirty="0"/>
          </a:p>
        </txBody>
      </sp>
      <sp>
        <nvSpPr>
          <cNvPr id="20" name="Text 18"/>
          <cNvSpPr/>
          <nvPr/>
        </nvSpPr>
        <spPr>
          <a:xfrm>
            <a:off x="457200" y="3429000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ML engineer for memory extraction</a:t>
            </a:r>
            <a:endParaRPr lang="en-US" sz="1000" dirty="0"/>
          </a:p>
        </txBody>
      </sp>
      <sp>
        <nvSpPr>
          <cNvPr id="21" name="Text 19"/>
          <cNvSpPr/>
          <nvPr/>
        </nvSpPr>
        <spPr>
          <a:xfrm>
            <a:off x="457200" y="3721608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Community builder for creator GTM</a:t>
            </a:r>
            <a:endParaRPr lang="en-US" sz="1000" dirty="0"/>
          </a:p>
        </txBody>
      </sp>
      <sp>
        <nvSpPr>
          <cNvPr id="22" name="Text 20"/>
          <cNvSpPr/>
          <nvPr/>
        </nvSpPr>
        <spPr>
          <a:xfrm>
            <a:off x="457200" y="4014216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Seed funds → team of 3</a:t>
            </a:r>
            <a:endParaRPr lang="en-US" sz="1000" dirty="0"/>
          </a:p>
        </txBody>
      </sp>
      <sp>
        <nvSpPr>
          <cNvPr id="23" name="Shape 21"/>
          <cNvSpPr/>
          <nvPr/>
        </nvSpPr>
        <spPr>
          <a:xfrm>
            <a:off x="3291840" y="301752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spPr>
        <txBody>
          <a:bodyPr/>
          <a:lstStyle/>
          <a:p>
            <a:endParaRPr lang="en-KR"/>
          </a:p>
        </txBody>
      </sp>
      <sp>
        <nvSpPr>
          <cNvPr id="24" name="Text 22"/>
          <cNvSpPr/>
          <nvPr/>
        </nvSpPr>
        <spPr>
          <a:xfrm>
            <a:off x="3291840" y="3108960"/>
            <a:ext cx="265176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Betting on an agent-first future:</a:t>
            </a:r>
            <a:endParaRPr lang="en-US" sz="1200" dirty="0"/>
          </a:p>
        </txBody>
      </sp>
      <sp>
        <nvSpPr>
          <cNvPr id="25" name="Text 23"/>
          <cNvSpPr/>
          <nvPr/>
        </nvSpPr>
        <spPr>
          <a:xfrm>
            <a:off x="3291840" y="3429000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Demand proven (307K stars). Employee gap open.</a:t>
            </a:r>
            <a:endParaRPr lang="en-US" sz="1000" dirty="0"/>
          </a:p>
        </txBody>
      </sp>
      <sp>
        <nvSpPr>
          <cNvPr id="26" name="Text 24"/>
          <cNvSpPr/>
          <nvPr/>
        </nvSpPr>
        <spPr>
          <a:xfrm>
            <a:off x="3291840" y="3721608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Tools create demand. Employees capture it.</a:t>
            </a:r>
            <a:endParaRPr lang="en-US" sz="1000" dirty="0"/>
          </a:p>
        </txBody>
      </sp>
      <sp>
        <nvSpPr>
          <cNvPr id="27" name="Shape 25"/>
          <cNvSpPr/>
          <nvPr/>
        </nvSpPr>
        <spPr>
          <a:xfrm>
            <a:off x="6126480" y="301752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spPr>
        <txBody>
          <a:bodyPr/>
          <a:lstStyle/>
          <a:p>
            <a:endParaRPr lang="en-KR"/>
          </a:p>
        </txBody>
      </sp>
      <sp>
        <nvSpPr>
          <cNvPr id="28" name="Text 26"/>
          <cNvSpPr/>
          <nvPr/>
        </nvSpPr>
        <spPr>
          <a:xfrm>
            <a:off x="6126480" y="3108960"/>
            <a:ext cx="265176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Differentiation:</a:t>
            </a:r>
            <a:endParaRPr lang="en-US" sz="1200" dirty="0"/>
          </a:p>
        </txBody>
      </sp>
      <sp>
        <nvSpPr>
          <cNvPr id="29" name="Text 27"/>
          <cNvSpPr/>
          <nvPr/>
        </nvSpPr>
        <spPr>
          <a:xfrm>
            <a:off x="6126480" y="3429000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Persistent employees, not session-scoped tools</a:t>
            </a:r>
            <a:endParaRPr lang="en-US" sz="1000" dirty="0"/>
          </a:p>
        </txBody>
      </sp>
      <sp>
        <nvSpPr>
          <cNvPr id="30" name="Text 28"/>
          <cNvSpPr/>
          <nvPr/>
        </nvSpPr>
        <spPr>
          <a:xfrm>
            <a:off x="6126480" y="3721608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Cloud-native by structural necessity</a:t>
            </a:r>
            <a:endParaRPr lang="en-US" sz="1000" dirty="0"/>
          </a:p>
        </txBody>
      </sp>
      <sp>
        <nvSpPr>
          <cNvPr id="31" name="Text 29"/>
          <cNvSpPr/>
          <nvPr/>
        </nvSpPr>
        <spPr>
          <a:xfrm>
            <a:off x="6126480" y="4014216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150+ ADRs = architectural rigor</a:t>
            </a:r>
            <a:endParaRPr lang="en-US" sz="1000" dirty="0"/>
          </a:p>
        </txBody>
      </sp>
    </spTree>
  </cSld>
  <clrMapOvr>
    <a:masterClrMapping/>
  </clrMapOvr>
</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focused-upbeat-hopper/assets/yar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463040"/>
            <a:ext cx="1188720" cy="11887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11480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yarnnn.com  ·  Kevin Kim  ·  seulkim88@gmail.com</a:t>
            </a: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3ADF6D-BC9A-C5D6-246F-F756DEDA7C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3898" y="2651760"/>
            <a:ext cx="1322462" cy="42756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Kevin (Seul Ki) Kim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CEO, KVK Labs (yarnnn)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</a:t>
            </a:r>
            <a:r>
              <a:rPr lang="en-US" sz="1000" dirty="0" err="1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www.linkedin.com</a:t>
            </a: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/in/kimseulki0727/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1828800" cy="0"/>
          </a:xfrm>
          <a:prstGeom prst="line">
            <a:avLst/>
          </a:prstGeom>
          <a:noFill/>
          <a:ln w="381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7" name="Text 5"/>
          <p:cNvSpPr/>
          <p:nvPr/>
        </p:nvSpPr>
        <p:spPr>
          <a:xfrm>
            <a:off x="640080" y="209200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B.S. Industrial and Systems Engineering, Virginia Tech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60407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 years designing CRM and GTM systems in FMCG.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860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CMO, CPO positions in Korea based startups, Ran e-commerce fashion brand for 5 years,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37216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application for yarnnn, (Next.js + FastAPI + Supabase), two platform integrations,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628200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AI employee architecture with task execution pipeline, documented across 150+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88423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Decision Records.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414026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Targeting US market; execute GTM and team-building as priority next step.</a:t>
            </a:r>
            <a:endParaRPr lang="en-US" sz="1000" dirty="0"/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657FF407-4D8F-390F-55CA-087BD5988C05}"/>
              </a:ext>
            </a:extLst>
          </p:cNvPr>
          <p:cNvSpPr/>
          <p:nvPr/>
        </p:nvSpPr>
        <p:spPr>
          <a:xfrm>
            <a:off x="411480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yarnnn.com  ·  Kevin Kim  ·  kvkthecreator@gmail.com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Value Realization Chain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User Experiences: Describe to Compound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→ Scaffold → Connect → First Value → Accumulate → Coordinate → Compound ↻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911607"/>
              </p:ext>
            </p:extLst>
          </p:nvPr>
        </p:nvGraphicFramePr>
        <p:xfrm>
          <a:off x="457200" y="1554480"/>
          <a:ext cx="8229600" cy="288036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happens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the user sees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T+0s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describes work, tasks scaffold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"I've set up 3 projects for your client work"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T+30s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Platforms connect, sources mapped to tasks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Dashboard: "Slack connected — channels mapped"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T+90s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Scheduler dispatches first task runs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deliverables appear per project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2-7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 pulse cycles, agents accumulate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Deliverables arrive, improving each run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Multi-agent coordination matures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collaboration visible in output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Multiple agents running, feedback refining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 noticeably tailored to preferences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 identifies cross-task opportunities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 understands work deeply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Architecture Depth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Well-Funded Team Can't Shortcut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41290"/>
            <a:ext cx="4023360" cy="1280160"/>
          </a:xfrm>
          <a:prstGeom prst="rect">
            <a:avLst/>
          </a:prstGeom>
          <a:noFill/>
          <a:ln w="1905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 sz="1600"/>
          </a:p>
        </p:txBody>
      </p:sp>
      <p:sp>
        <p:nvSpPr>
          <p:cNvPr id="6" name="Text 4"/>
          <p:cNvSpPr/>
          <p:nvPr/>
        </p:nvSpPr>
        <p:spPr>
          <a:xfrm>
            <a:off x="594360" y="121444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"Claude Code Online" — Output Gateway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50705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capabilities model as Claude Code (SKILL.md + local tools + filesystem), but persistent, autonomous, and cloud-native — the structural requirements tools can’t satisfy. Two-filesystem architecture: capability filesystem (skills on Docker) + content filesystem (workspace per agent). Adding a new output format = adding a skill folder.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1141290"/>
            <a:ext cx="4023360" cy="1280160"/>
          </a:xfrm>
          <a:prstGeom prst="rect">
            <a:avLst/>
          </a:prstGeom>
          <a:noFill/>
          <a:ln w="1905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 sz="1600"/>
          </a:p>
        </p:txBody>
      </p:sp>
      <p:sp>
        <p:nvSpPr>
          <p:cNvPr id="9" name="Text 7"/>
          <p:cNvSpPr/>
          <p:nvPr/>
        </p:nvSpPr>
        <p:spPr>
          <a:xfrm>
            <a:off x="4892040" y="121444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Task Pipeline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150705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define execution. Agents dispatched per TASK.md. Cross-agent context injection.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558610"/>
            <a:ext cx="4023360" cy="1280160"/>
          </a:xfrm>
          <a:prstGeom prst="rect">
            <a:avLst/>
          </a:prstGeom>
          <a:noFill/>
          <a:ln w="1905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 sz="1600"/>
          </a:p>
        </p:txBody>
      </p:sp>
      <p:sp>
        <p:nvSpPr>
          <p:cNvPr id="12" name="Text 10"/>
          <p:cNvSpPr/>
          <p:nvPr/>
        </p:nvSpPr>
        <p:spPr>
          <a:xfrm>
            <a:off x="594360" y="263176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Feedback-to-Intelligence Loop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92437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unified feedback rails: user edits distilled to persistent preferences, agent self-reflection after every run, PM reads contributor trajectories. Employees improve with tenure is structural, not aspirational.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2558610"/>
            <a:ext cx="4023360" cy="1280160"/>
          </a:xfrm>
          <a:prstGeom prst="rect">
            <a:avLst/>
          </a:prstGeom>
          <a:noFill/>
          <a:ln w="1905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 sz="1600"/>
          </a:p>
        </p:txBody>
      </p:sp>
      <p:sp>
        <p:nvSpPr>
          <p:cNvPr id="15" name="Text 13"/>
          <p:cNvSpPr/>
          <p:nvPr/>
        </p:nvSpPr>
        <p:spPr>
          <a:xfrm>
            <a:off x="4892040" y="263176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Charter-Driven Deterministic Execution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92437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charter files (TASK.md + DELIVERABLE.md + AGENT.md) define execution deterministically. Cadence enforcement prevents runaway loops. ~$0.06–$0.16 per task run at steady state. Predictable cost model.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4021650"/>
            <a:ext cx="8229600" cy="45720"/>
          </a:xfrm>
          <a:prstGeom prst="rect">
            <a:avLst/>
          </a:prstGeom>
          <a:solidFill>
            <a:srgbClr val="E8873B"/>
          </a:solidFill>
          <a:ln/>
        </p:spPr>
        <p:txBody>
          <a:bodyPr/>
          <a:lstStyle/>
          <a:p>
            <a:endParaRPr lang="en-KR" sz="1600"/>
          </a:p>
        </p:txBody>
      </p:sp>
      <p:sp>
        <p:nvSpPr>
          <p:cNvPr id="18" name="Text 16"/>
          <p:cNvSpPr/>
          <p:nvPr/>
        </p:nvSpPr>
        <p:spPr>
          <a:xfrm>
            <a:off x="457200" y="415881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compounds into defensibility: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34169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PM coordination can't work without the feedback substrate. The feedback substrate can't work without the workspace filesystem. The workspace filesystem can't work without the perception pipeline populating it. A team starting today would need to discover these interdependencies through the same 150+ decisions — or build a simpler system that can't compound.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 dirty="0">
                <a:solidFill>
                  <a:srgbClr val="E8873B"/>
                </a:solidFill>
                <a:latin typeface="Arial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77724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 dirty="0">
                <a:solidFill>
                  <a:srgbClr val="1A1A1A"/>
                </a:solidFill>
                <a:latin typeface="Arial"/>
              </a:rPr>
              <a:t>Your team. Eight specialists, each with a role.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77724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 b="0" i="0" dirty="0">
                <a:solidFill>
                  <a:srgbClr val="999999"/>
                </a:solidFill>
                <a:latin typeface="Arial"/>
              </a:rPr>
              <a:t>Persistent identities. Individual memory. Learned preferences. Team collaboration.</a:t>
            </a:r>
            <a:endParaRPr sz="1200" b="0" i="0" dirty="0">
              <a:solidFill>
                <a:srgbClr val="999999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1480" y="1389116"/>
            <a:ext cx="1965960" cy="123444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1208" y="14805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Briefer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18463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E8D0"/>
                </a:solidFill>
                <a:latin typeface="Arial"/>
              </a:rPr>
              <a:t>Recurring digests from platform activity. Your daily pulse on what happened.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1389116"/>
            <a:ext cx="1965960" cy="123444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24328" y="14805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4328" y="18463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E8D0"/>
                </a:solidFill>
                <a:latin typeface="Arial"/>
              </a:rPr>
              <a:t>Watches for changes and patterns. Alerts on what matters, ignores what doesn't.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1389116"/>
            <a:ext cx="1965960" cy="123444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27448" y="14805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Researcher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18463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E8D0"/>
                </a:solidFill>
                <a:latin typeface="Arial"/>
              </a:rPr>
              <a:t>Deep dives with web search. Finds context beyond your connected platforms.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0840" y="1389116"/>
            <a:ext cx="1965960" cy="123444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30568" y="14805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Analyst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18463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E8D0"/>
                </a:solidFill>
                <a:latin typeface="Arial"/>
              </a:rPr>
              <a:t>Cross-references sources. Surfaces patterns humans miss across platforms.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760716"/>
            <a:ext cx="1965960" cy="123444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1208" y="28521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Drafter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32179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Produces first drafts from briefs. Turns PM instructions into starting points.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14600" y="2760716"/>
            <a:ext cx="1965960" cy="123444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24328" y="28521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Writer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24328" y="32179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Polished final output. Blog posts, reports, memos that ship as-is.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17720" y="2760716"/>
            <a:ext cx="1965960" cy="123444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27448" y="28521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Planner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8" y="32179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Roadmaps, strategies, structured plans. Turns goals into actionable sequences.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0840" y="2760716"/>
            <a:ext cx="1965960" cy="123444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30568" y="28521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Scout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2179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Tracks competitors and market signals. Watches the outside while you work inside.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132316"/>
            <a:ext cx="8321040" cy="782584"/>
          </a:xfrm>
          <a:prstGeom prst="rect">
            <a:avLst/>
          </a:prstGeom>
          <a:solidFill>
            <a:srgbClr val="FD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4205468"/>
            <a:ext cx="1097280" cy="6001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dirty="0">
                <a:solidFill>
                  <a:srgbClr val="E8873B"/>
                </a:solidFill>
                <a:latin typeface="Arial"/>
              </a:rPr>
              <a:t>P</a:t>
            </a:r>
            <a:r>
              <a:rPr lang="en-US" sz="1300" b="1" i="0" dirty="0">
                <a:solidFill>
                  <a:srgbClr val="E8873B"/>
                </a:solidFill>
                <a:latin typeface="Arial"/>
              </a:rPr>
              <a:t>roject Manager Agent</a:t>
            </a:r>
            <a:endParaRPr sz="1300" b="1" i="0" dirty="0">
              <a:solidFill>
                <a:srgbClr val="E8873B"/>
              </a:solidFill>
              <a:latin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91640" y="4354331"/>
            <a:ext cx="685800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 dirty="0">
                <a:solidFill>
                  <a:srgbClr val="666666"/>
                </a:solidFill>
                <a:latin typeface="Arial"/>
              </a:rPr>
              <a:t xml:space="preserve">Coordinates the team, gates quality, steers contributors. Your AI chief of staff.</a:t>
            </a:r>
            <a:endParaRPr lang="en-US" sz="1100" b="0" i="0" dirty="0">
              <a:solidFill>
                <a:srgbClr val="666666"/>
              </a:solidFill>
              <a:latin typeface="Arial"/>
            </a:endParaRPr>
          </a:p>
          <a:p>
            <a:pPr algn="l"/>
            <a:r>
              <a:rPr sz="1100" b="0" i="0" dirty="0">
                <a:solidFill>
                  <a:srgbClr val="666666"/>
                </a:solidFill>
                <a:latin typeface="Arial"/>
              </a:rPr>
              <a:t>One per project.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2143</Words>
  <Application>Microsoft Macintosh PowerPoint</Application>
  <PresentationFormat>On-screen Show (16:9)</PresentationFormat>
  <Paragraphs>390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 Deck - yarnnn - March 2026 v3</dc:title>
  <dc:subject>PptxGenJS Presentation</dc:subject>
  <dc:creator>Kevin Kim</dc:creator>
  <cp:lastModifiedBy>SEULKI KIM</cp:lastModifiedBy>
  <cp:revision>6</cp:revision>
  <dcterms:created xsi:type="dcterms:W3CDTF">2026-03-24T05:11:00Z</dcterms:created>
  <dcterms:modified xsi:type="dcterms:W3CDTF">2026-03-24T09:21:17Z</dcterms:modified>
</cp:coreProperties>
</file>